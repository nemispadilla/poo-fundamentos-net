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Presentar la temática 1 del curso: los principios avanzados complementan los fundamentos (encapsulamiento, herencia, polimorfismo). Todo el código de la presentación está en el proyecto POO-Fundamentos, módulo 10, y se puede ejecutar con ejecutar.bat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Cada concepto se explica y luego se muestra en código Java real. Los cuatro ejemplos son los del recurso de la temática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Definición del recurso. Enfatizar que estos principios son criterios de decisión, no teoría suelta: cada vez que se crea una clase o se elige una dependencia, se está decidiendo sobre cohesión y acoplamiento.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primero el contraejemplo. Preguntar: si cambia el servidor de correo, ¿por qué habría que tocar la clase Factura? Ese es el olor de baja cohesión.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1 del recurso. En el proyecto: ejecutar.bat 10, sección 1. Se ve la factura calculada y guardada en RepositorioFacturasEnMemoria. Pregunta: ¿qué pruebas unitarias se pueden escribir aquí que eran imposibles en FacturaBajaCohesion?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2 del recurso: en una aplicación web, autenticación no debe depender directamente de la BD sino de una interfaz. La flecha va hacia la interfaz; las implementaciones "cuelgan" de ella. Esto es inversión de dependencias.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código: el atributo es de tipo interfaz; el constructor recibe la implementación. En la demo (ejecutar.bat 10, sección 2) se autentica a la misma usuaria contra SQL y contra Mongo con la misma clase. Nota: en la diapositiva del recurso el repositorio tiene buscarPorCredenciales(usuario, clave); aquí el repositorio solo devuelve el hash y el servicio compara, variante más cohesiva. Buen debate.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3 del recurso: un Logger con interfaz estándar sirve en escritorio, web y móvil sin modificaciones. En el proyecto existen LoggerConsola y LoggerMemoria; LoggerArchivo queda como ejercicio.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en la demo (sección 3) el historial capturado por LoggerMemoria: las mismas llamadas del servicio, ahora guardadas en una lista en vez de imprimirse. Ese es el efecto de programar contra la interfaz.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SOLID no está enunciado en el syllabus, pero encapsula los tres conceptos. Cada letra se señala en el código que ya vieron. La columna derecha (ámbar) es la evidencia en 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Recordar la regla: quien detecta el problema lanza; quien sabe qué hacer captura. Nunca un catch vacío. Conectar con el módulo 8 del proyecto (checked vs unchecked).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4 del recurso. Cinco pagos: dos aprobados, tres rechazados por motivos distintos. El programa nunca se cae. El usuario recibe un mensaje claro; el log guarda el detalle técnico. Preguntar: ¿por qué procesar() devuelve un String y no relanza?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práctica. El taller reutiliza exactamente el mecanismo visto: interfaz + inyección por constructor. Los módulos 1 a 9 del proyecto sirven de repaso de fundamentos si algún estudiante lo necesita.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Conclusión del recurso: estos principios son el paso natural hacia el diseño profesional de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Referencias tomadas del recurso oficial de la temática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640080"/>
            <a:ext cx="4572000" cy="320040"/>
          </a:xfrm>
          <a:prstGeom prst="rect">
            <a:avLst/>
          </a:prstGeom>
          <a:noFill/>
          <a:ln/>
        </p:spPr>
        <p:txBody>
          <a:bodyPr wrap="square" lIns="0" tIns="0" rIns="0" bIns="0" rtlCol="0" anchor="ctr"/>
          <a:lstStyle/>
          <a:p>
            <a:pPr indent="0" marL="0">
              <a:buNone/>
            </a:pPr>
            <a:r>
              <a:rPr lang="en-US" sz="1300" b="1" spc="300" kern="0" dirty="0">
                <a:solidFill>
                  <a:srgbClr val="F0A500"/>
                </a:solidFill>
                <a:latin typeface="Calibri" pitchFamily="34" charset="0"/>
                <a:ea typeface="Calibri" pitchFamily="34" charset="-122"/>
                <a:cs typeface="Calibri" pitchFamily="34" charset="-120"/>
              </a:rPr>
              <a:t>TEMÁTICA 1 · G1</a:t>
            </a:r>
            <a:endParaRPr lang="en-US" sz="1300" dirty="0"/>
          </a:p>
        </p:txBody>
      </p:sp>
      <p:sp>
        <p:nvSpPr>
          <p:cNvPr id="3" name="Text 1"/>
          <p:cNvSpPr txBox="1"/>
          <p:nvPr/>
        </p:nvSpPr>
        <p:spPr>
          <a:xfrm>
            <a:off x="548640" y="1005840"/>
            <a:ext cx="4937760" cy="173736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Principios Avanzados de Programación Orientada a Objetos</a:t>
            </a:r>
            <a:endParaRPr lang="en-US" sz="3400" dirty="0"/>
          </a:p>
        </p:txBody>
      </p:sp>
      <p:sp>
        <p:nvSpPr>
          <p:cNvPr id="4" name="Text 2"/>
          <p:cNvSpPr txBox="1"/>
          <p:nvPr/>
        </p:nvSpPr>
        <p:spPr>
          <a:xfrm>
            <a:off x="548640" y="2834640"/>
            <a:ext cx="493776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Cohesión · Acoplamiento · Reutilización · SOLID · Excepciones</a:t>
            </a:r>
            <a:endParaRPr lang="en-US" sz="1400" dirty="0"/>
          </a:p>
        </p:txBody>
      </p:sp>
      <p:sp>
        <p:nvSpPr>
          <p:cNvPr id="5" name="Text 3"/>
          <p:cNvSpPr txBox="1"/>
          <p:nvPr/>
        </p:nvSpPr>
        <p:spPr>
          <a:xfrm>
            <a:off x="548640" y="4206240"/>
            <a:ext cx="5120640" cy="274320"/>
          </a:xfrm>
          <a:prstGeom prst="rect">
            <a:avLst/>
          </a:prstGeom>
          <a:noFill/>
          <a:ln/>
        </p:spPr>
        <p:txBody>
          <a:bodyPr wrap="square" lIns="0" tIns="0" rIns="0" bIns="0" rtlCol="0" anchor="ctr"/>
          <a:lstStyle/>
          <a:p>
            <a:pPr indent="0" marL="0">
              <a:buNone/>
            </a:pPr>
            <a:r>
              <a:rPr lang="en-US" sz="1100" dirty="0">
                <a:solidFill>
                  <a:srgbClr val="A9B4C4"/>
                </a:solidFill>
                <a:latin typeface="Calibri" pitchFamily="34" charset="0"/>
                <a:ea typeface="Calibri" pitchFamily="34" charset="-122"/>
                <a:cs typeface="Calibri" pitchFamily="34" charset="-120"/>
              </a:rPr>
              <a:t>Programación Orientada a Objetos II (DIS11) · Ingeniería de Sistemas · CUN</a:t>
            </a:r>
            <a:endParaRPr lang="en-US" sz="1100" dirty="0"/>
          </a:p>
        </p:txBody>
      </p:sp>
      <p:sp>
        <p:nvSpPr>
          <p:cNvPr id="6" name="Text 4"/>
          <p:cNvSpPr txBox="1"/>
          <p:nvPr/>
        </p:nvSpPr>
        <p:spPr>
          <a:xfrm>
            <a:off x="548640" y="4480560"/>
            <a:ext cx="5120640" cy="274320"/>
          </a:xfrm>
          <a:prstGeom prst="rect">
            <a:avLst/>
          </a:prstGeom>
          <a:noFill/>
          <a:ln/>
        </p:spPr>
        <p:txBody>
          <a:bodyPr wrap="square" lIns="0" tIns="0" rIns="0" bIns="0" rtlCol="0" anchor="ctr"/>
          <a:lstStyle/>
          <a:p>
            <a:pPr indent="0" marL="0">
              <a:buNone/>
            </a:pPr>
            <a:r>
              <a:rPr lang="en-US" sz="1100" dirty="0">
                <a:solidFill>
                  <a:srgbClr val="A9B4C4"/>
                </a:solidFill>
                <a:latin typeface="Calibri" pitchFamily="34" charset="0"/>
                <a:ea typeface="Calibri" pitchFamily="34" charset="-122"/>
                <a:cs typeface="Calibri" pitchFamily="34" charset="-120"/>
              </a:rPr>
              <a:t>Con ejemplos ejecutables del proyecto POO-Fundamentos (Java 17)</a:t>
            </a:r>
            <a:endParaRPr lang="en-US" sz="1100" dirty="0"/>
          </a:p>
        </p:txBody>
      </p:sp>
      <p:sp>
        <p:nvSpPr>
          <p:cNvPr id="7" name="Shape 5"/>
          <p:cNvSpPr/>
          <p:nvPr/>
        </p:nvSpPr>
        <p:spPr>
          <a:xfrm>
            <a:off x="5623560" y="914400"/>
            <a:ext cx="3154680" cy="3291840"/>
          </a:xfrm>
          <a:prstGeom prst="roundRect">
            <a:avLst>
              <a:gd name="adj" fmla="val 2899"/>
            </a:avLst>
          </a:prstGeom>
          <a:solidFill>
            <a:srgbClr val="1E2430"/>
          </a:solidFill>
          <a:ln w="12700">
            <a:solidFill>
              <a:srgbClr val="1E2430"/>
            </a:solidFill>
            <a:prstDash val="solid"/>
          </a:ln>
          <a:effectLst>
            <a:outerShdw sx="100000" sy="100000" kx="0" ky="0" algn="bl" rotWithShape="0" blurRad="76200" dist="25400" dir="5400000">
              <a:srgbClr val="000000">
                <a:alpha val="18000"/>
              </a:srgbClr>
            </a:outerShdw>
          </a:effectLst>
        </p:spPr>
      </p:sp>
      <p:sp>
        <p:nvSpPr>
          <p:cNvPr id="8" name="Text 6"/>
          <p:cNvSpPr txBox="1"/>
          <p:nvPr/>
        </p:nvSpPr>
        <p:spPr>
          <a:xfrm>
            <a:off x="5788152" y="1051560"/>
            <a:ext cx="2825496" cy="3044952"/>
          </a:xfrm>
          <a:prstGeom prst="rect">
            <a:avLst/>
          </a:prstGeom>
          <a:noFill/>
          <a:ln/>
        </p:spPr>
        <p:txBody>
          <a:bodyPr wrap="square" lIns="0" tIns="0" rIns="0" bIns="0" rtlCol="0" anchor="t"/>
          <a:lstStyle/>
          <a:p>
            <a:pPr indent="0" marL="0">
              <a:lnSpc>
                <a:spcPct val="105000"/>
              </a:lnSpc>
              <a:buNone/>
            </a:pPr>
            <a:r>
              <a:rPr lang="en-US" sz="850" i="1" dirty="0">
                <a:solidFill>
                  <a:srgbClr val="8A94A6"/>
                </a:solidFill>
                <a:latin typeface="Courier New" pitchFamily="34" charset="0"/>
                <a:ea typeface="Courier New" pitchFamily="34" charset="-122"/>
                <a:cs typeface="Courier New" pitchFamily="34" charset="-120"/>
              </a:rPr>
              <a:t>// Depender de la abstracción,</a:t>
            </a:r>
            <a:endParaRPr lang="en-US" sz="850" dirty="0"/>
          </a:p>
          <a:p>
            <a:pPr indent="0" marL="0">
              <a:lnSpc>
                <a:spcPct val="105000"/>
              </a:lnSpc>
              <a:buNone/>
            </a:pPr>
            <a:r>
              <a:rPr lang="en-US" sz="850" i="1" dirty="0">
                <a:solidFill>
                  <a:srgbClr val="8A94A6"/>
                </a:solidFill>
                <a:latin typeface="Courier New" pitchFamily="34" charset="0"/>
                <a:ea typeface="Courier New" pitchFamily="34" charset="-122"/>
                <a:cs typeface="Courier New" pitchFamily="34" charset="-120"/>
              </a:rPr>
              <a:t>// no de la implementación</a:t>
            </a:r>
            <a:endParaRPr lang="en-US" sz="850" dirty="0"/>
          </a:p>
          <a:p>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class</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ServicioAutenticacion</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private</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final</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RepositorioUsuarios</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repo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private</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final</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Logger</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logger</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ServicioAutenticacion</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RepositorioUsuarios</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repo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Logger</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logger</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this</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repo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repo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this</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logger</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logger</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libri" pitchFamily="34" charset="0"/>
                <a:ea typeface="Calibri" pitchFamily="34" charset="-122"/>
                <a:cs typeface="Calibri" pitchFamily="34" charset="-120"/>
              </a:rPr>
              <a:t>Ruta de la sesión</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Cinco ideas, cuatro ejemplos prácticos que se pueden ejecutar</a:t>
            </a:r>
            <a:endParaRPr lang="en-US" sz="1300" dirty="0"/>
          </a:p>
        </p:txBody>
      </p:sp>
      <p:sp>
        <p:nvSpPr>
          <p:cNvPr id="4" name="Shape 2"/>
          <p:cNvSpPr/>
          <p:nvPr/>
        </p:nvSpPr>
        <p:spPr>
          <a:xfrm>
            <a:off x="457200" y="1417320"/>
            <a:ext cx="1572768" cy="2651760"/>
          </a:xfrm>
          <a:prstGeom prst="roundRect">
            <a:avLst>
              <a:gd name="adj" fmla="val 6977"/>
            </a:avLst>
          </a:prstGeom>
          <a:solidFill>
            <a:srgbClr val="F3F5F8"/>
          </a:solidFill>
          <a:ln w="9525">
            <a:solidFill>
              <a:srgbClr val="D9DEE5"/>
            </a:solidFill>
            <a:prstDash val="solid"/>
          </a:ln>
        </p:spPr>
      </p:sp>
      <p:sp>
        <p:nvSpPr>
          <p:cNvPr id="5" name="Shape 3"/>
          <p:cNvSpPr/>
          <p:nvPr/>
        </p:nvSpPr>
        <p:spPr>
          <a:xfrm>
            <a:off x="877824" y="1691640"/>
            <a:ext cx="731520" cy="731520"/>
          </a:xfrm>
          <a:prstGeom prst="ellipse">
            <a:avLst/>
          </a:prstGeom>
          <a:solidFill>
            <a:srgbClr val="F0A500"/>
          </a:solidFill>
          <a:ln w="12700">
            <a:solidFill>
              <a:srgbClr val="F0A500"/>
            </a:solidFill>
            <a:prstDash val="solid"/>
          </a:ln>
        </p:spPr>
      </p:sp>
      <p:pic>
        <p:nvPicPr>
          <p:cNvPr id="6" name="Image 0" descr="preencoded.png">    </p:cNvPr>
          <p:cNvPicPr>
            <a:picLocks noChangeAspect="1"/>
          </p:cNvPicPr>
          <p:nvPr/>
        </p:nvPicPr>
        <p:blipFill>
          <a:blip r:embed="rId1"/>
          <a:stretch>
            <a:fillRect/>
          </a:stretch>
        </p:blipFill>
        <p:spPr>
          <a:xfrm>
            <a:off x="1068019" y="1881835"/>
            <a:ext cx="351130" cy="351130"/>
          </a:xfrm>
          <a:prstGeom prst="rect">
            <a:avLst/>
          </a:prstGeom>
        </p:spPr>
      </p:pic>
      <p:sp>
        <p:nvSpPr>
          <p:cNvPr id="7" name="Text 4"/>
          <p:cNvSpPr txBox="1"/>
          <p:nvPr/>
        </p:nvSpPr>
        <p:spPr>
          <a:xfrm>
            <a:off x="594360" y="1527048"/>
            <a:ext cx="365760" cy="274320"/>
          </a:xfrm>
          <a:prstGeom prst="rect">
            <a:avLst/>
          </a:prstGeom>
          <a:noFill/>
          <a:ln/>
        </p:spPr>
        <p:txBody>
          <a:bodyPr wrap="square" lIns="0" tIns="0" rIns="0" bIns="0" rtlCol="0" anchor="ctr"/>
          <a:lstStyle/>
          <a:p>
            <a:pPr indent="0" marL="0">
              <a:buNone/>
            </a:pPr>
            <a:r>
              <a:rPr lang="en-US" sz="1200" b="1" dirty="0">
                <a:solidFill>
                  <a:srgbClr val="6B7A8C"/>
                </a:solidFill>
                <a:latin typeface="Calibri" pitchFamily="34" charset="0"/>
                <a:ea typeface="Calibri" pitchFamily="34" charset="-122"/>
                <a:cs typeface="Calibri" pitchFamily="34" charset="-120"/>
              </a:rPr>
              <a:t>1</a:t>
            </a:r>
            <a:endParaRPr lang="en-US" sz="1200" dirty="0"/>
          </a:p>
        </p:txBody>
      </p:sp>
      <p:sp>
        <p:nvSpPr>
          <p:cNvPr id="8" name="Text 5"/>
          <p:cNvSpPr txBox="1"/>
          <p:nvPr/>
        </p:nvSpPr>
        <p:spPr>
          <a:xfrm>
            <a:off x="566928" y="2606040"/>
            <a:ext cx="1353312" cy="365760"/>
          </a:xfrm>
          <a:prstGeom prst="rect">
            <a:avLst/>
          </a:prstGeom>
          <a:noFill/>
          <a:ln/>
        </p:spPr>
        <p:txBody>
          <a:bodyPr wrap="square" lIns="0" tIns="0" rIns="0" bIns="0" rtlCol="0" anchor="ctr"/>
          <a:lstStyle/>
          <a:p>
            <a:pPr algn="ctr" indent="0" marL="0">
              <a:buNone/>
            </a:pPr>
            <a:r>
              <a:rPr lang="en-US" sz="1500" b="1" dirty="0">
                <a:solidFill>
                  <a:srgbClr val="1B2A41"/>
                </a:solidFill>
                <a:latin typeface="Calibri" pitchFamily="34" charset="0"/>
                <a:ea typeface="Calibri" pitchFamily="34" charset="-122"/>
                <a:cs typeface="Calibri" pitchFamily="34" charset="-120"/>
              </a:rPr>
              <a:t>Cohesión</a:t>
            </a:r>
            <a:endParaRPr lang="en-US" sz="1500" dirty="0"/>
          </a:p>
        </p:txBody>
      </p:sp>
      <p:sp>
        <p:nvSpPr>
          <p:cNvPr id="9" name="Text 6"/>
          <p:cNvSpPr txBox="1"/>
          <p:nvPr/>
        </p:nvSpPr>
        <p:spPr>
          <a:xfrm>
            <a:off x="566928" y="3017520"/>
            <a:ext cx="1353312" cy="82296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Ejemplo: clase Factura</a:t>
            </a:r>
            <a:endParaRPr lang="en-US" sz="1150" dirty="0"/>
          </a:p>
        </p:txBody>
      </p:sp>
      <p:sp>
        <p:nvSpPr>
          <p:cNvPr id="10" name="Shape 7"/>
          <p:cNvSpPr/>
          <p:nvPr/>
        </p:nvSpPr>
        <p:spPr>
          <a:xfrm>
            <a:off x="2121408" y="1417320"/>
            <a:ext cx="1572768" cy="2651760"/>
          </a:xfrm>
          <a:prstGeom prst="roundRect">
            <a:avLst>
              <a:gd name="adj" fmla="val 6977"/>
            </a:avLst>
          </a:prstGeom>
          <a:solidFill>
            <a:srgbClr val="F3F5F8"/>
          </a:solidFill>
          <a:ln w="9525">
            <a:solidFill>
              <a:srgbClr val="D9DEE5"/>
            </a:solidFill>
            <a:prstDash val="solid"/>
          </a:ln>
        </p:spPr>
      </p:sp>
      <p:sp>
        <p:nvSpPr>
          <p:cNvPr id="11" name="Shape 8"/>
          <p:cNvSpPr/>
          <p:nvPr/>
        </p:nvSpPr>
        <p:spPr>
          <a:xfrm>
            <a:off x="2542032" y="1691640"/>
            <a:ext cx="731520" cy="731520"/>
          </a:xfrm>
          <a:prstGeom prst="ellipse">
            <a:avLst/>
          </a:prstGeom>
          <a:solidFill>
            <a:srgbClr val="F0A500"/>
          </a:solidFill>
          <a:ln w="12700">
            <a:solidFill>
              <a:srgbClr val="F0A500"/>
            </a:solidFill>
            <a:prstDash val="solid"/>
          </a:ln>
        </p:spPr>
      </p:sp>
      <p:pic>
        <p:nvPicPr>
          <p:cNvPr id="12" name="Image 1" descr="preencoded.png">    </p:cNvPr>
          <p:cNvPicPr>
            <a:picLocks noChangeAspect="1"/>
          </p:cNvPicPr>
          <p:nvPr/>
        </p:nvPicPr>
        <p:blipFill>
          <a:blip r:embed="rId2"/>
          <a:stretch>
            <a:fillRect/>
          </a:stretch>
        </p:blipFill>
        <p:spPr>
          <a:xfrm>
            <a:off x="2732227" y="1881835"/>
            <a:ext cx="351130" cy="351130"/>
          </a:xfrm>
          <a:prstGeom prst="rect">
            <a:avLst/>
          </a:prstGeom>
        </p:spPr>
      </p:pic>
      <p:sp>
        <p:nvSpPr>
          <p:cNvPr id="13" name="Text 9"/>
          <p:cNvSpPr txBox="1"/>
          <p:nvPr/>
        </p:nvSpPr>
        <p:spPr>
          <a:xfrm>
            <a:off x="2258568" y="1527048"/>
            <a:ext cx="365760" cy="274320"/>
          </a:xfrm>
          <a:prstGeom prst="rect">
            <a:avLst/>
          </a:prstGeom>
          <a:noFill/>
          <a:ln/>
        </p:spPr>
        <p:txBody>
          <a:bodyPr wrap="square" lIns="0" tIns="0" rIns="0" bIns="0" rtlCol="0" anchor="ctr"/>
          <a:lstStyle/>
          <a:p>
            <a:pPr indent="0" marL="0">
              <a:buNone/>
            </a:pPr>
            <a:r>
              <a:rPr lang="en-US" sz="1200" b="1" dirty="0">
                <a:solidFill>
                  <a:srgbClr val="6B7A8C"/>
                </a:solidFill>
                <a:latin typeface="Calibri" pitchFamily="34" charset="0"/>
                <a:ea typeface="Calibri" pitchFamily="34" charset="-122"/>
                <a:cs typeface="Calibri" pitchFamily="34" charset="-120"/>
              </a:rPr>
              <a:t>2</a:t>
            </a:r>
            <a:endParaRPr lang="en-US" sz="1200" dirty="0"/>
          </a:p>
        </p:txBody>
      </p:sp>
      <p:sp>
        <p:nvSpPr>
          <p:cNvPr id="14" name="Text 10"/>
          <p:cNvSpPr txBox="1"/>
          <p:nvPr/>
        </p:nvSpPr>
        <p:spPr>
          <a:xfrm>
            <a:off x="2231136" y="2606040"/>
            <a:ext cx="1353312" cy="365760"/>
          </a:xfrm>
          <a:prstGeom prst="rect">
            <a:avLst/>
          </a:prstGeom>
          <a:noFill/>
          <a:ln/>
        </p:spPr>
        <p:txBody>
          <a:bodyPr wrap="square" lIns="0" tIns="0" rIns="0" bIns="0" rtlCol="0" anchor="ctr"/>
          <a:lstStyle/>
          <a:p>
            <a:pPr algn="ctr" indent="0" marL="0">
              <a:buNone/>
            </a:pPr>
            <a:r>
              <a:rPr lang="en-US" sz="1500" b="1" dirty="0">
                <a:solidFill>
                  <a:srgbClr val="1B2A41"/>
                </a:solidFill>
                <a:latin typeface="Calibri" pitchFamily="34" charset="0"/>
                <a:ea typeface="Calibri" pitchFamily="34" charset="-122"/>
                <a:cs typeface="Calibri" pitchFamily="34" charset="-120"/>
              </a:rPr>
              <a:t>Acoplamiento</a:t>
            </a:r>
            <a:endParaRPr lang="en-US" sz="1500" dirty="0"/>
          </a:p>
        </p:txBody>
      </p:sp>
      <p:sp>
        <p:nvSpPr>
          <p:cNvPr id="15" name="Text 11"/>
          <p:cNvSpPr txBox="1"/>
          <p:nvPr/>
        </p:nvSpPr>
        <p:spPr>
          <a:xfrm>
            <a:off x="2231136" y="3017520"/>
            <a:ext cx="1353312" cy="82296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Ejemplo: autenticación por interfaz</a:t>
            </a:r>
            <a:endParaRPr lang="en-US" sz="1150" dirty="0"/>
          </a:p>
        </p:txBody>
      </p:sp>
      <p:sp>
        <p:nvSpPr>
          <p:cNvPr id="16" name="Shape 12"/>
          <p:cNvSpPr/>
          <p:nvPr/>
        </p:nvSpPr>
        <p:spPr>
          <a:xfrm>
            <a:off x="3785616" y="1417320"/>
            <a:ext cx="1572768" cy="2651760"/>
          </a:xfrm>
          <a:prstGeom prst="roundRect">
            <a:avLst>
              <a:gd name="adj" fmla="val 6977"/>
            </a:avLst>
          </a:prstGeom>
          <a:solidFill>
            <a:srgbClr val="F3F5F8"/>
          </a:solidFill>
          <a:ln w="9525">
            <a:solidFill>
              <a:srgbClr val="D9DEE5"/>
            </a:solidFill>
            <a:prstDash val="solid"/>
          </a:ln>
        </p:spPr>
      </p:sp>
      <p:sp>
        <p:nvSpPr>
          <p:cNvPr id="17" name="Shape 13"/>
          <p:cNvSpPr/>
          <p:nvPr/>
        </p:nvSpPr>
        <p:spPr>
          <a:xfrm>
            <a:off x="4206240" y="1691640"/>
            <a:ext cx="731520" cy="731520"/>
          </a:xfrm>
          <a:prstGeom prst="ellipse">
            <a:avLst/>
          </a:prstGeom>
          <a:solidFill>
            <a:srgbClr val="F0A500"/>
          </a:solidFill>
          <a:ln w="12700">
            <a:solidFill>
              <a:srgbClr val="F0A500"/>
            </a:solidFill>
            <a:prstDash val="solid"/>
          </a:ln>
        </p:spPr>
      </p:sp>
      <p:pic>
        <p:nvPicPr>
          <p:cNvPr id="18" name="Image 2" descr="preencoded.png">    </p:cNvPr>
          <p:cNvPicPr>
            <a:picLocks noChangeAspect="1"/>
          </p:cNvPicPr>
          <p:nvPr/>
        </p:nvPicPr>
        <p:blipFill>
          <a:blip r:embed="rId3"/>
          <a:stretch>
            <a:fillRect/>
          </a:stretch>
        </p:blipFill>
        <p:spPr>
          <a:xfrm>
            <a:off x="4396435" y="1881835"/>
            <a:ext cx="351130" cy="351130"/>
          </a:xfrm>
          <a:prstGeom prst="rect">
            <a:avLst/>
          </a:prstGeom>
        </p:spPr>
      </p:pic>
      <p:sp>
        <p:nvSpPr>
          <p:cNvPr id="19" name="Text 14"/>
          <p:cNvSpPr txBox="1"/>
          <p:nvPr/>
        </p:nvSpPr>
        <p:spPr>
          <a:xfrm>
            <a:off x="3922776" y="1527048"/>
            <a:ext cx="365760" cy="274320"/>
          </a:xfrm>
          <a:prstGeom prst="rect">
            <a:avLst/>
          </a:prstGeom>
          <a:noFill/>
          <a:ln/>
        </p:spPr>
        <p:txBody>
          <a:bodyPr wrap="square" lIns="0" tIns="0" rIns="0" bIns="0" rtlCol="0" anchor="ctr"/>
          <a:lstStyle/>
          <a:p>
            <a:pPr indent="0" marL="0">
              <a:buNone/>
            </a:pPr>
            <a:r>
              <a:rPr lang="en-US" sz="1200" b="1" dirty="0">
                <a:solidFill>
                  <a:srgbClr val="6B7A8C"/>
                </a:solidFill>
                <a:latin typeface="Calibri" pitchFamily="34" charset="0"/>
                <a:ea typeface="Calibri" pitchFamily="34" charset="-122"/>
                <a:cs typeface="Calibri" pitchFamily="34" charset="-120"/>
              </a:rPr>
              <a:t>3</a:t>
            </a:r>
            <a:endParaRPr lang="en-US" sz="1200" dirty="0"/>
          </a:p>
        </p:txBody>
      </p:sp>
      <p:sp>
        <p:nvSpPr>
          <p:cNvPr id="20" name="Text 15"/>
          <p:cNvSpPr txBox="1"/>
          <p:nvPr/>
        </p:nvSpPr>
        <p:spPr>
          <a:xfrm>
            <a:off x="3895344" y="2606040"/>
            <a:ext cx="1353312" cy="365760"/>
          </a:xfrm>
          <a:prstGeom prst="rect">
            <a:avLst/>
          </a:prstGeom>
          <a:noFill/>
          <a:ln/>
        </p:spPr>
        <p:txBody>
          <a:bodyPr wrap="square" lIns="0" tIns="0" rIns="0" bIns="0" rtlCol="0" anchor="ctr"/>
          <a:lstStyle/>
          <a:p>
            <a:pPr algn="ctr" indent="0" marL="0">
              <a:buNone/>
            </a:pPr>
            <a:r>
              <a:rPr lang="en-US" sz="1500" b="1" dirty="0">
                <a:solidFill>
                  <a:srgbClr val="1B2A41"/>
                </a:solidFill>
                <a:latin typeface="Calibri" pitchFamily="34" charset="0"/>
                <a:ea typeface="Calibri" pitchFamily="34" charset="-122"/>
                <a:cs typeface="Calibri" pitchFamily="34" charset="-120"/>
              </a:rPr>
              <a:t>Reutilización</a:t>
            </a:r>
            <a:endParaRPr lang="en-US" sz="1500" dirty="0"/>
          </a:p>
        </p:txBody>
      </p:sp>
      <p:sp>
        <p:nvSpPr>
          <p:cNvPr id="21" name="Text 16"/>
          <p:cNvSpPr txBox="1"/>
          <p:nvPr/>
        </p:nvSpPr>
        <p:spPr>
          <a:xfrm>
            <a:off x="3895344" y="3017520"/>
            <a:ext cx="1353312" cy="82296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Ejemplo: clase Logger</a:t>
            </a:r>
            <a:endParaRPr lang="en-US" sz="1150" dirty="0"/>
          </a:p>
        </p:txBody>
      </p:sp>
      <p:sp>
        <p:nvSpPr>
          <p:cNvPr id="22" name="Shape 17"/>
          <p:cNvSpPr/>
          <p:nvPr/>
        </p:nvSpPr>
        <p:spPr>
          <a:xfrm>
            <a:off x="5449824" y="1417320"/>
            <a:ext cx="1572768" cy="2651760"/>
          </a:xfrm>
          <a:prstGeom prst="roundRect">
            <a:avLst>
              <a:gd name="adj" fmla="val 6977"/>
            </a:avLst>
          </a:prstGeom>
          <a:solidFill>
            <a:srgbClr val="F3F5F8"/>
          </a:solidFill>
          <a:ln w="9525">
            <a:solidFill>
              <a:srgbClr val="D9DEE5"/>
            </a:solidFill>
            <a:prstDash val="solid"/>
          </a:ln>
        </p:spPr>
      </p:sp>
      <p:sp>
        <p:nvSpPr>
          <p:cNvPr id="23" name="Shape 18"/>
          <p:cNvSpPr/>
          <p:nvPr/>
        </p:nvSpPr>
        <p:spPr>
          <a:xfrm>
            <a:off x="5870448" y="1691640"/>
            <a:ext cx="731520" cy="731520"/>
          </a:xfrm>
          <a:prstGeom prst="ellipse">
            <a:avLst/>
          </a:prstGeom>
          <a:solidFill>
            <a:srgbClr val="F0A500"/>
          </a:solidFill>
          <a:ln w="12700">
            <a:solidFill>
              <a:srgbClr val="F0A500"/>
            </a:solidFill>
            <a:prstDash val="solid"/>
          </a:ln>
        </p:spPr>
      </p:sp>
      <p:pic>
        <p:nvPicPr>
          <p:cNvPr id="24" name="Image 3" descr="preencoded.png">    </p:cNvPr>
          <p:cNvPicPr>
            <a:picLocks noChangeAspect="1"/>
          </p:cNvPicPr>
          <p:nvPr/>
        </p:nvPicPr>
        <p:blipFill>
          <a:blip r:embed="rId4"/>
          <a:stretch>
            <a:fillRect/>
          </a:stretch>
        </p:blipFill>
        <p:spPr>
          <a:xfrm>
            <a:off x="6060643" y="1881835"/>
            <a:ext cx="351130" cy="351130"/>
          </a:xfrm>
          <a:prstGeom prst="rect">
            <a:avLst/>
          </a:prstGeom>
        </p:spPr>
      </p:pic>
      <p:sp>
        <p:nvSpPr>
          <p:cNvPr id="25" name="Text 19"/>
          <p:cNvSpPr txBox="1"/>
          <p:nvPr/>
        </p:nvSpPr>
        <p:spPr>
          <a:xfrm>
            <a:off x="5586984" y="1527048"/>
            <a:ext cx="365760" cy="274320"/>
          </a:xfrm>
          <a:prstGeom prst="rect">
            <a:avLst/>
          </a:prstGeom>
          <a:noFill/>
          <a:ln/>
        </p:spPr>
        <p:txBody>
          <a:bodyPr wrap="square" lIns="0" tIns="0" rIns="0" bIns="0" rtlCol="0" anchor="ctr"/>
          <a:lstStyle/>
          <a:p>
            <a:pPr indent="0" marL="0">
              <a:buNone/>
            </a:pPr>
            <a:r>
              <a:rPr lang="en-US" sz="1200" b="1" dirty="0">
                <a:solidFill>
                  <a:srgbClr val="6B7A8C"/>
                </a:solidFill>
                <a:latin typeface="Calibri" pitchFamily="34" charset="0"/>
                <a:ea typeface="Calibri" pitchFamily="34" charset="-122"/>
                <a:cs typeface="Calibri" pitchFamily="34" charset="-120"/>
              </a:rPr>
              <a:t>4</a:t>
            </a:r>
            <a:endParaRPr lang="en-US" sz="1200" dirty="0"/>
          </a:p>
        </p:txBody>
      </p:sp>
      <p:sp>
        <p:nvSpPr>
          <p:cNvPr id="26" name="Text 20"/>
          <p:cNvSpPr txBox="1"/>
          <p:nvPr/>
        </p:nvSpPr>
        <p:spPr>
          <a:xfrm>
            <a:off x="5559552" y="2606040"/>
            <a:ext cx="1353312" cy="365760"/>
          </a:xfrm>
          <a:prstGeom prst="rect">
            <a:avLst/>
          </a:prstGeom>
          <a:noFill/>
          <a:ln/>
        </p:spPr>
        <p:txBody>
          <a:bodyPr wrap="square" lIns="0" tIns="0" rIns="0" bIns="0" rtlCol="0" anchor="ctr"/>
          <a:lstStyle/>
          <a:p>
            <a:pPr algn="ctr" indent="0" marL="0">
              <a:buNone/>
            </a:pPr>
            <a:r>
              <a:rPr lang="en-US" sz="1500" b="1" dirty="0">
                <a:solidFill>
                  <a:srgbClr val="1B2A41"/>
                </a:solidFill>
                <a:latin typeface="Calibri" pitchFamily="34" charset="0"/>
                <a:ea typeface="Calibri" pitchFamily="34" charset="-122"/>
                <a:cs typeface="Calibri" pitchFamily="34" charset="-120"/>
              </a:rPr>
              <a:t>SOLID</a:t>
            </a:r>
            <a:endParaRPr lang="en-US" sz="1500" dirty="0"/>
          </a:p>
        </p:txBody>
      </p:sp>
      <p:sp>
        <p:nvSpPr>
          <p:cNvPr id="27" name="Text 21"/>
          <p:cNvSpPr txBox="1"/>
          <p:nvPr/>
        </p:nvSpPr>
        <p:spPr>
          <a:xfrm>
            <a:off x="5559552" y="3017520"/>
            <a:ext cx="1353312" cy="82296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Mapa sobre los ejemplos</a:t>
            </a:r>
            <a:endParaRPr lang="en-US" sz="1150" dirty="0"/>
          </a:p>
        </p:txBody>
      </p:sp>
      <p:sp>
        <p:nvSpPr>
          <p:cNvPr id="28" name="Shape 22"/>
          <p:cNvSpPr/>
          <p:nvPr/>
        </p:nvSpPr>
        <p:spPr>
          <a:xfrm>
            <a:off x="7114032" y="1417320"/>
            <a:ext cx="1572768" cy="2651760"/>
          </a:xfrm>
          <a:prstGeom prst="roundRect">
            <a:avLst>
              <a:gd name="adj" fmla="val 6977"/>
            </a:avLst>
          </a:prstGeom>
          <a:solidFill>
            <a:srgbClr val="F3F5F8"/>
          </a:solidFill>
          <a:ln w="9525">
            <a:solidFill>
              <a:srgbClr val="D9DEE5"/>
            </a:solidFill>
            <a:prstDash val="solid"/>
          </a:ln>
        </p:spPr>
      </p:sp>
      <p:sp>
        <p:nvSpPr>
          <p:cNvPr id="29" name="Shape 23"/>
          <p:cNvSpPr/>
          <p:nvPr/>
        </p:nvSpPr>
        <p:spPr>
          <a:xfrm>
            <a:off x="7534656" y="1691640"/>
            <a:ext cx="731520" cy="731520"/>
          </a:xfrm>
          <a:prstGeom prst="ellipse">
            <a:avLst/>
          </a:prstGeom>
          <a:solidFill>
            <a:srgbClr val="F0A500"/>
          </a:solidFill>
          <a:ln w="12700">
            <a:solidFill>
              <a:srgbClr val="F0A500"/>
            </a:solidFill>
            <a:prstDash val="solid"/>
          </a:ln>
        </p:spPr>
      </p:sp>
      <p:pic>
        <p:nvPicPr>
          <p:cNvPr id="30" name="Image 4" descr="preencoded.png">    </p:cNvPr>
          <p:cNvPicPr>
            <a:picLocks noChangeAspect="1"/>
          </p:cNvPicPr>
          <p:nvPr/>
        </p:nvPicPr>
        <p:blipFill>
          <a:blip r:embed="rId5"/>
          <a:stretch>
            <a:fillRect/>
          </a:stretch>
        </p:blipFill>
        <p:spPr>
          <a:xfrm>
            <a:off x="7724851" y="1881835"/>
            <a:ext cx="351130" cy="351130"/>
          </a:xfrm>
          <a:prstGeom prst="rect">
            <a:avLst/>
          </a:prstGeom>
        </p:spPr>
      </p:pic>
      <p:sp>
        <p:nvSpPr>
          <p:cNvPr id="31" name="Text 24"/>
          <p:cNvSpPr txBox="1"/>
          <p:nvPr/>
        </p:nvSpPr>
        <p:spPr>
          <a:xfrm>
            <a:off x="7251192" y="1527048"/>
            <a:ext cx="365760" cy="274320"/>
          </a:xfrm>
          <a:prstGeom prst="rect">
            <a:avLst/>
          </a:prstGeom>
          <a:noFill/>
          <a:ln/>
        </p:spPr>
        <p:txBody>
          <a:bodyPr wrap="square" lIns="0" tIns="0" rIns="0" bIns="0" rtlCol="0" anchor="ctr"/>
          <a:lstStyle/>
          <a:p>
            <a:pPr indent="0" marL="0">
              <a:buNone/>
            </a:pPr>
            <a:r>
              <a:rPr lang="en-US" sz="1200" b="1" dirty="0">
                <a:solidFill>
                  <a:srgbClr val="6B7A8C"/>
                </a:solidFill>
                <a:latin typeface="Calibri" pitchFamily="34" charset="0"/>
                <a:ea typeface="Calibri" pitchFamily="34" charset="-122"/>
                <a:cs typeface="Calibri" pitchFamily="34" charset="-120"/>
              </a:rPr>
              <a:t>5</a:t>
            </a:r>
            <a:endParaRPr lang="en-US" sz="1200" dirty="0"/>
          </a:p>
        </p:txBody>
      </p:sp>
      <p:sp>
        <p:nvSpPr>
          <p:cNvPr id="32" name="Text 25"/>
          <p:cNvSpPr txBox="1"/>
          <p:nvPr/>
        </p:nvSpPr>
        <p:spPr>
          <a:xfrm>
            <a:off x="7223760" y="2606040"/>
            <a:ext cx="1353312" cy="365760"/>
          </a:xfrm>
          <a:prstGeom prst="rect">
            <a:avLst/>
          </a:prstGeom>
          <a:noFill/>
          <a:ln/>
        </p:spPr>
        <p:txBody>
          <a:bodyPr wrap="square" lIns="0" tIns="0" rIns="0" bIns="0" rtlCol="0" anchor="ctr"/>
          <a:lstStyle/>
          <a:p>
            <a:pPr algn="ctr" indent="0" marL="0">
              <a:buNone/>
            </a:pPr>
            <a:r>
              <a:rPr lang="en-US" sz="1500" b="1" dirty="0">
                <a:solidFill>
                  <a:srgbClr val="1B2A41"/>
                </a:solidFill>
                <a:latin typeface="Calibri" pitchFamily="34" charset="0"/>
                <a:ea typeface="Calibri" pitchFamily="34" charset="-122"/>
                <a:cs typeface="Calibri" pitchFamily="34" charset="-120"/>
              </a:rPr>
              <a:t>Excepciones</a:t>
            </a:r>
            <a:endParaRPr lang="en-US" sz="1500" dirty="0"/>
          </a:p>
        </p:txBody>
      </p:sp>
      <p:sp>
        <p:nvSpPr>
          <p:cNvPr id="33" name="Text 26"/>
          <p:cNvSpPr txBox="1"/>
          <p:nvPr/>
        </p:nvSpPr>
        <p:spPr>
          <a:xfrm>
            <a:off x="7223760" y="3017520"/>
            <a:ext cx="1353312" cy="82296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Ejemplo: ProcesadorDePagos</a:t>
            </a:r>
            <a:endParaRPr lang="en-US" sz="1150" dirty="0"/>
          </a:p>
        </p:txBody>
      </p:sp>
      <p:sp>
        <p:nvSpPr>
          <p:cNvPr id="34" name="Text 27"/>
          <p:cNvSpPr txBox="1"/>
          <p:nvPr/>
        </p:nvSpPr>
        <p:spPr>
          <a:xfrm>
            <a:off x="457200" y="4297680"/>
            <a:ext cx="8229600" cy="274320"/>
          </a:xfrm>
          <a:prstGeom prst="rect">
            <a:avLst/>
          </a:prstGeom>
          <a:noFill/>
          <a:ln/>
        </p:spPr>
        <p:txBody>
          <a:bodyPr wrap="square" lIns="0" tIns="0" rIns="0" bIns="0" rtlCol="0" anchor="ctr"/>
          <a:lstStyle/>
          <a:p>
            <a:pPr indent="0" marL="0">
              <a:buNone/>
            </a:pPr>
            <a:r>
              <a:rPr lang="en-US" sz="1200" i="1" dirty="0">
                <a:solidFill>
                  <a:srgbClr val="6B7A8C"/>
                </a:solidFill>
                <a:latin typeface="Calibri" pitchFamily="34" charset="0"/>
                <a:ea typeface="Calibri" pitchFamily="34" charset="-122"/>
                <a:cs typeface="Calibri" pitchFamily="34" charset="-120"/>
              </a:rPr>
              <a:t>Cierre: taller en clase + referencias</a:t>
            </a:r>
            <a:endParaRPr lang="en-US" sz="1200" dirty="0"/>
          </a:p>
        </p:txBody>
      </p:sp>
      <p:sp>
        <p:nvSpPr>
          <p:cNvPr id="35" name="Text 28"/>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6B7A8C"/>
                </a:solidFill>
                <a:latin typeface="Calibri" pitchFamily="34" charset="0"/>
                <a:ea typeface="Calibri" pitchFamily="34" charset="-122"/>
                <a:cs typeface="Calibri" pitchFamily="34" charset="-120"/>
              </a:rPr>
              <a:t>POO II · Temática 1 · Principios avanzados de POO · CUN</a:t>
            </a:r>
            <a:endParaRPr lang="en-US" sz="900" dirty="0"/>
          </a:p>
        </p:txBody>
      </p:sp>
      <p:sp>
        <p:nvSpPr>
          <p:cNvPr id="36" name="Text 29"/>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6B7A8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libri" pitchFamily="34" charset="0"/>
                <a:ea typeface="Calibri" pitchFamily="34" charset="-122"/>
                <a:cs typeface="Calibri" pitchFamily="34" charset="-120"/>
              </a:rPr>
              <a:t>¿Qué son los principios avanzados de POO?</a:t>
            </a:r>
            <a:endParaRPr lang="en-US" sz="2800" dirty="0"/>
          </a:p>
        </p:txBody>
      </p:sp>
      <p:sp>
        <p:nvSpPr>
          <p:cNvPr id="3" name="Text 1"/>
          <p:cNvSpPr txBox="1"/>
          <p:nvPr/>
        </p:nvSpPr>
        <p:spPr>
          <a:xfrm>
            <a:off x="457200" y="1234440"/>
            <a:ext cx="4206240" cy="2011680"/>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Un conjunto de buenas prácticas y conceptos que buscan maximizar la cohesión, minimizar el acoplamiento y fomentar la reutilización de código en aplicaciones complejas.</a:t>
            </a:r>
            <a:endParaRPr lang="en-US" sz="1350" dirty="0"/>
          </a:p>
          <a:p>
            <a:pPr indent="0" marL="0">
              <a:buNone/>
            </a:pPr>
            <a:endParaRPr lang="en-US" sz="1350" dirty="0"/>
          </a:p>
          <a:p>
            <a:pPr indent="0" marL="0">
              <a:buNone/>
            </a:pPr>
            <a:r>
              <a:rPr lang="en-US" sz="1350" dirty="0">
                <a:solidFill>
                  <a:srgbClr val="1F2933"/>
                </a:solidFill>
                <a:latin typeface="Calibri" pitchFamily="34" charset="0"/>
                <a:ea typeface="Calibri" pitchFamily="34" charset="-122"/>
                <a:cs typeface="Calibri" pitchFamily="34" charset="-120"/>
              </a:rPr>
              <a:t>Complementan los fundamentos de la POO (encapsulamiento, herencia y polimorfismo) con enfoques más refinados que promueven la mantenibilidad, escalabilidad y legibilidad del software.</a:t>
            </a:r>
            <a:endParaRPr lang="en-US" sz="1350" dirty="0"/>
          </a:p>
        </p:txBody>
      </p:sp>
      <p:sp>
        <p:nvSpPr>
          <p:cNvPr id="4" name="Text 2"/>
          <p:cNvSpPr txBox="1"/>
          <p:nvPr/>
        </p:nvSpPr>
        <p:spPr>
          <a:xfrm>
            <a:off x="457200" y="3337560"/>
            <a:ext cx="4206240" cy="274320"/>
          </a:xfrm>
          <a:prstGeom prst="rect">
            <a:avLst/>
          </a:prstGeom>
          <a:noFill/>
          <a:ln/>
        </p:spPr>
        <p:txBody>
          <a:bodyPr wrap="square" lIns="0" tIns="0" rIns="0" bIns="0" rtlCol="0" anchor="ctr"/>
          <a:lstStyle/>
          <a:p>
            <a:pPr indent="0" marL="0">
              <a:buNone/>
            </a:pPr>
            <a:r>
              <a:rPr lang="en-US" sz="1050" i="1" dirty="0">
                <a:solidFill>
                  <a:srgbClr val="6B7A8C"/>
                </a:solidFill>
                <a:latin typeface="Calibri" pitchFamily="34" charset="0"/>
                <a:ea typeface="Calibri" pitchFamily="34" charset="-122"/>
                <a:cs typeface="Calibri" pitchFamily="34" charset="-120"/>
              </a:rPr>
              <a:t>Hernández &amp; Baquero (2023); Vázquez (2020)</a:t>
            </a:r>
            <a:endParaRPr lang="en-US" sz="1050" dirty="0"/>
          </a:p>
        </p:txBody>
      </p:sp>
      <p:sp>
        <p:nvSpPr>
          <p:cNvPr id="5" name="Text 3"/>
          <p:cNvSpPr txBox="1"/>
          <p:nvPr/>
        </p:nvSpPr>
        <p:spPr>
          <a:xfrm>
            <a:off x="457200" y="3703320"/>
            <a:ext cx="4206240" cy="731520"/>
          </a:xfrm>
          <a:prstGeom prst="rect">
            <a:avLst/>
          </a:prstGeom>
          <a:noFill/>
          <a:ln/>
        </p:spPr>
        <p:txBody>
          <a:bodyPr wrap="square" lIns="0" tIns="0" rIns="0" bIns="0" rtlCol="0" anchor="t"/>
          <a:lstStyle/>
          <a:p>
            <a:pPr indent="0" marL="0">
              <a:buNone/>
            </a:pPr>
            <a:r>
              <a:rPr lang="en-US" sz="1250" b="1" dirty="0">
                <a:solidFill>
                  <a:srgbClr val="1B2A41"/>
                </a:solidFill>
                <a:latin typeface="Calibri" pitchFamily="34" charset="0"/>
                <a:ea typeface="Calibri" pitchFamily="34" charset="-122"/>
                <a:cs typeface="Calibri" pitchFamily="34" charset="-120"/>
              </a:rPr>
              <a:t>No son solo métricas de calidad: son criterios que guían las decisiones de arquitectura y diseño en entornos profesionales.</a:t>
            </a:r>
            <a:endParaRPr lang="en-US" sz="1250" dirty="0"/>
          </a:p>
        </p:txBody>
      </p:sp>
      <p:sp>
        <p:nvSpPr>
          <p:cNvPr id="6" name="Shape 4"/>
          <p:cNvSpPr/>
          <p:nvPr/>
        </p:nvSpPr>
        <p:spPr>
          <a:xfrm>
            <a:off x="5029200" y="1234440"/>
            <a:ext cx="3657600" cy="914400"/>
          </a:xfrm>
          <a:prstGeom prst="roundRect">
            <a:avLst>
              <a:gd name="adj" fmla="val 12000"/>
            </a:avLst>
          </a:prstGeom>
          <a:solidFill>
            <a:srgbClr val="F3F5F8"/>
          </a:solidFill>
          <a:ln w="9525">
            <a:solidFill>
              <a:srgbClr val="D9DEE5"/>
            </a:solidFill>
            <a:prstDash val="solid"/>
          </a:ln>
        </p:spPr>
      </p:sp>
      <p:sp>
        <p:nvSpPr>
          <p:cNvPr id="7" name="Shape 5"/>
          <p:cNvSpPr/>
          <p:nvPr/>
        </p:nvSpPr>
        <p:spPr>
          <a:xfrm>
            <a:off x="5212080" y="1417320"/>
            <a:ext cx="548640" cy="548640"/>
          </a:xfrm>
          <a:prstGeom prst="ellipse">
            <a:avLst/>
          </a:prstGeom>
          <a:solidFill>
            <a:srgbClr val="1B2A41"/>
          </a:solidFill>
          <a:ln w="12700">
            <a:solidFill>
              <a:srgbClr val="1B2A41"/>
            </a:solidFill>
            <a:prstDash val="solid"/>
          </a:ln>
        </p:spPr>
      </p:sp>
      <p:pic>
        <p:nvPicPr>
          <p:cNvPr id="8" name="Image 0" descr="preencoded.png">    </p:cNvPr>
          <p:cNvPicPr>
            <a:picLocks noChangeAspect="1"/>
          </p:cNvPicPr>
          <p:nvPr/>
        </p:nvPicPr>
        <p:blipFill>
          <a:blip r:embed="rId1"/>
          <a:stretch>
            <a:fillRect/>
          </a:stretch>
        </p:blipFill>
        <p:spPr>
          <a:xfrm>
            <a:off x="5354726" y="1559966"/>
            <a:ext cx="263347" cy="263347"/>
          </a:xfrm>
          <a:prstGeom prst="rect">
            <a:avLst/>
          </a:prstGeom>
        </p:spPr>
      </p:pic>
      <p:sp>
        <p:nvSpPr>
          <p:cNvPr id="9" name="Text 6"/>
          <p:cNvSpPr txBox="1"/>
          <p:nvPr/>
        </p:nvSpPr>
        <p:spPr>
          <a:xfrm>
            <a:off x="5943600" y="1463040"/>
            <a:ext cx="2651760" cy="457200"/>
          </a:xfrm>
          <a:prstGeom prst="rect">
            <a:avLst/>
          </a:prstGeom>
          <a:noFill/>
          <a:ln/>
        </p:spPr>
        <p:txBody>
          <a:bodyPr wrap="square" lIns="0" tIns="0" rIns="0" bIns="0" rtlCol="0" anchor="ctr"/>
          <a:lstStyle/>
          <a:p>
            <a:pPr indent="0" marL="0">
              <a:buNone/>
            </a:pPr>
            <a:r>
              <a:rPr lang="en-US" sz="1800" b="1" dirty="0">
                <a:solidFill>
                  <a:srgbClr val="1B2A41"/>
                </a:solidFill>
                <a:latin typeface="Calibri" pitchFamily="34" charset="0"/>
                <a:ea typeface="Calibri" pitchFamily="34" charset="-122"/>
                <a:cs typeface="Calibri" pitchFamily="34" charset="-120"/>
              </a:rPr>
              <a:t>Maximizar </a:t>
            </a:r>
            <a:pPr indent="0" marL="0">
              <a:buNone/>
            </a:pPr>
            <a:r>
              <a:rPr lang="en-US" sz="1800" dirty="0">
                <a:solidFill>
                  <a:srgbClr val="1F2933"/>
                </a:solidFill>
                <a:latin typeface="Calibri" pitchFamily="34" charset="0"/>
                <a:ea typeface="Calibri" pitchFamily="34" charset="-122"/>
                <a:cs typeface="Calibri" pitchFamily="34" charset="-120"/>
              </a:rPr>
              <a:t>la cohesión</a:t>
            </a:r>
            <a:endParaRPr lang="en-US" sz="1800" dirty="0"/>
          </a:p>
        </p:txBody>
      </p:sp>
      <p:sp>
        <p:nvSpPr>
          <p:cNvPr id="10" name="Shape 7"/>
          <p:cNvSpPr/>
          <p:nvPr/>
        </p:nvSpPr>
        <p:spPr>
          <a:xfrm>
            <a:off x="5029200" y="2286000"/>
            <a:ext cx="3657600" cy="914400"/>
          </a:xfrm>
          <a:prstGeom prst="roundRect">
            <a:avLst>
              <a:gd name="adj" fmla="val 12000"/>
            </a:avLst>
          </a:prstGeom>
          <a:solidFill>
            <a:srgbClr val="F3F5F8"/>
          </a:solidFill>
          <a:ln w="9525">
            <a:solidFill>
              <a:srgbClr val="D9DEE5"/>
            </a:solidFill>
            <a:prstDash val="solid"/>
          </a:ln>
        </p:spPr>
      </p:sp>
      <p:sp>
        <p:nvSpPr>
          <p:cNvPr id="11" name="Shape 8"/>
          <p:cNvSpPr/>
          <p:nvPr/>
        </p:nvSpPr>
        <p:spPr>
          <a:xfrm>
            <a:off x="5212080" y="2468880"/>
            <a:ext cx="548640" cy="548640"/>
          </a:xfrm>
          <a:prstGeom prst="ellipse">
            <a:avLst/>
          </a:prstGeom>
          <a:solidFill>
            <a:srgbClr val="1B2A41"/>
          </a:solidFill>
          <a:ln w="12700">
            <a:solidFill>
              <a:srgbClr val="1B2A41"/>
            </a:solidFill>
            <a:prstDash val="solid"/>
          </a:ln>
        </p:spPr>
      </p:sp>
      <p:pic>
        <p:nvPicPr>
          <p:cNvPr id="12" name="Image 1" descr="preencoded.png">    </p:cNvPr>
          <p:cNvPicPr>
            <a:picLocks noChangeAspect="1"/>
          </p:cNvPicPr>
          <p:nvPr/>
        </p:nvPicPr>
        <p:blipFill>
          <a:blip r:embed="rId2"/>
          <a:stretch>
            <a:fillRect/>
          </a:stretch>
        </p:blipFill>
        <p:spPr>
          <a:xfrm>
            <a:off x="5354726" y="2611526"/>
            <a:ext cx="263347" cy="263347"/>
          </a:xfrm>
          <a:prstGeom prst="rect">
            <a:avLst/>
          </a:prstGeom>
        </p:spPr>
      </p:pic>
      <p:sp>
        <p:nvSpPr>
          <p:cNvPr id="13" name="Text 9"/>
          <p:cNvSpPr txBox="1"/>
          <p:nvPr/>
        </p:nvSpPr>
        <p:spPr>
          <a:xfrm>
            <a:off x="5943600" y="2514600"/>
            <a:ext cx="2651760" cy="457200"/>
          </a:xfrm>
          <a:prstGeom prst="rect">
            <a:avLst/>
          </a:prstGeom>
          <a:noFill/>
          <a:ln/>
        </p:spPr>
        <p:txBody>
          <a:bodyPr wrap="square" lIns="0" tIns="0" rIns="0" bIns="0" rtlCol="0" anchor="ctr"/>
          <a:lstStyle/>
          <a:p>
            <a:pPr indent="0" marL="0">
              <a:buNone/>
            </a:pPr>
            <a:r>
              <a:rPr lang="en-US" sz="1800" b="1" dirty="0">
                <a:solidFill>
                  <a:srgbClr val="1B2A41"/>
                </a:solidFill>
                <a:latin typeface="Calibri" pitchFamily="34" charset="0"/>
                <a:ea typeface="Calibri" pitchFamily="34" charset="-122"/>
                <a:cs typeface="Calibri" pitchFamily="34" charset="-120"/>
              </a:rPr>
              <a:t>Minimizar </a:t>
            </a:r>
            <a:pPr indent="0" marL="0">
              <a:buNone/>
            </a:pPr>
            <a:r>
              <a:rPr lang="en-US" sz="1800" dirty="0">
                <a:solidFill>
                  <a:srgbClr val="1F2933"/>
                </a:solidFill>
                <a:latin typeface="Calibri" pitchFamily="34" charset="0"/>
                <a:ea typeface="Calibri" pitchFamily="34" charset="-122"/>
                <a:cs typeface="Calibri" pitchFamily="34" charset="-120"/>
              </a:rPr>
              <a:t>el acoplamiento</a:t>
            </a:r>
            <a:endParaRPr lang="en-US" sz="1800" dirty="0"/>
          </a:p>
        </p:txBody>
      </p:sp>
      <p:sp>
        <p:nvSpPr>
          <p:cNvPr id="14" name="Shape 10"/>
          <p:cNvSpPr/>
          <p:nvPr/>
        </p:nvSpPr>
        <p:spPr>
          <a:xfrm>
            <a:off x="5029200" y="3337560"/>
            <a:ext cx="3657600" cy="914400"/>
          </a:xfrm>
          <a:prstGeom prst="roundRect">
            <a:avLst>
              <a:gd name="adj" fmla="val 12000"/>
            </a:avLst>
          </a:prstGeom>
          <a:solidFill>
            <a:srgbClr val="F3F5F8"/>
          </a:solidFill>
          <a:ln w="9525">
            <a:solidFill>
              <a:srgbClr val="D9DEE5"/>
            </a:solidFill>
            <a:prstDash val="solid"/>
          </a:ln>
        </p:spPr>
      </p:sp>
      <p:sp>
        <p:nvSpPr>
          <p:cNvPr id="15" name="Shape 11"/>
          <p:cNvSpPr/>
          <p:nvPr/>
        </p:nvSpPr>
        <p:spPr>
          <a:xfrm>
            <a:off x="5212080" y="3520440"/>
            <a:ext cx="548640" cy="548640"/>
          </a:xfrm>
          <a:prstGeom prst="ellipse">
            <a:avLst/>
          </a:prstGeom>
          <a:solidFill>
            <a:srgbClr val="1B2A41"/>
          </a:solidFill>
          <a:ln w="12700">
            <a:solidFill>
              <a:srgbClr val="1B2A41"/>
            </a:solidFill>
            <a:prstDash val="solid"/>
          </a:ln>
        </p:spPr>
      </p:sp>
      <p:pic>
        <p:nvPicPr>
          <p:cNvPr id="16" name="Image 2" descr="preencoded.png">    </p:cNvPr>
          <p:cNvPicPr>
            <a:picLocks noChangeAspect="1"/>
          </p:cNvPicPr>
          <p:nvPr/>
        </p:nvPicPr>
        <p:blipFill>
          <a:blip r:embed="rId3"/>
          <a:stretch>
            <a:fillRect/>
          </a:stretch>
        </p:blipFill>
        <p:spPr>
          <a:xfrm>
            <a:off x="5354726" y="3663086"/>
            <a:ext cx="263347" cy="263347"/>
          </a:xfrm>
          <a:prstGeom prst="rect">
            <a:avLst/>
          </a:prstGeom>
        </p:spPr>
      </p:pic>
      <p:sp>
        <p:nvSpPr>
          <p:cNvPr id="17" name="Text 12"/>
          <p:cNvSpPr txBox="1"/>
          <p:nvPr/>
        </p:nvSpPr>
        <p:spPr>
          <a:xfrm>
            <a:off x="5943600" y="3566160"/>
            <a:ext cx="2651760" cy="457200"/>
          </a:xfrm>
          <a:prstGeom prst="rect">
            <a:avLst/>
          </a:prstGeom>
          <a:noFill/>
          <a:ln/>
        </p:spPr>
        <p:txBody>
          <a:bodyPr wrap="square" lIns="0" tIns="0" rIns="0" bIns="0" rtlCol="0" anchor="ctr"/>
          <a:lstStyle/>
          <a:p>
            <a:pPr indent="0" marL="0">
              <a:buNone/>
            </a:pPr>
            <a:r>
              <a:rPr lang="en-US" sz="1800" b="1" dirty="0">
                <a:solidFill>
                  <a:srgbClr val="1B2A41"/>
                </a:solidFill>
                <a:latin typeface="Calibri" pitchFamily="34" charset="0"/>
                <a:ea typeface="Calibri" pitchFamily="34" charset="-122"/>
                <a:cs typeface="Calibri" pitchFamily="34" charset="-120"/>
              </a:rPr>
              <a:t>Fomentar </a:t>
            </a:r>
            <a:pPr indent="0" marL="0">
              <a:buNone/>
            </a:pPr>
            <a:r>
              <a:rPr lang="en-US" sz="1800" dirty="0">
                <a:solidFill>
                  <a:srgbClr val="1F2933"/>
                </a:solidFill>
                <a:latin typeface="Calibri" pitchFamily="34" charset="0"/>
                <a:ea typeface="Calibri" pitchFamily="34" charset="-122"/>
                <a:cs typeface="Calibri" pitchFamily="34" charset="-120"/>
              </a:rPr>
              <a:t>la reutilización</a:t>
            </a:r>
            <a:endParaRPr lang="en-US" sz="1800" dirty="0"/>
          </a:p>
        </p:txBody>
      </p:sp>
      <p:sp>
        <p:nvSpPr>
          <p:cNvPr id="18" name="Text 13"/>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6B7A8C"/>
                </a:solidFill>
                <a:latin typeface="Calibri" pitchFamily="34" charset="0"/>
                <a:ea typeface="Calibri" pitchFamily="34" charset="-122"/>
                <a:cs typeface="Calibri" pitchFamily="34" charset="-120"/>
              </a:rPr>
              <a:t>POO II · Temática 1 · Principios avanzados de POO · CUN</a:t>
            </a:r>
            <a:endParaRPr lang="en-US" sz="900" dirty="0"/>
          </a:p>
        </p:txBody>
      </p:sp>
      <p:sp>
        <p:nvSpPr>
          <p:cNvPr id="19" name="Text 14"/>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6B7A8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libri" pitchFamily="34" charset="0"/>
                <a:ea typeface="Calibri" pitchFamily="34" charset="-122"/>
                <a:cs typeface="Calibri" pitchFamily="34" charset="-120"/>
              </a:rPr>
              <a:t>Cohesión</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Grado en que los elementos de una clase están relacionados con la funcionalidad que ofrece</a:t>
            </a:r>
            <a:endParaRPr lang="en-US" sz="1300" dirty="0"/>
          </a:p>
        </p:txBody>
      </p:sp>
      <p:sp>
        <p:nvSpPr>
          <p:cNvPr id="4" name="Shape 2"/>
          <p:cNvSpPr/>
          <p:nvPr/>
        </p:nvSpPr>
        <p:spPr>
          <a:xfrm>
            <a:off x="457200" y="1325880"/>
            <a:ext cx="640080" cy="640080"/>
          </a:xfrm>
          <a:prstGeom prst="ellipse">
            <a:avLst/>
          </a:prstGeom>
          <a:solidFill>
            <a:srgbClr val="F0A500"/>
          </a:solidFill>
          <a:ln w="12700">
            <a:solidFill>
              <a:srgbClr val="F0A500"/>
            </a:solidFill>
            <a:prstDash val="solid"/>
          </a:ln>
        </p:spPr>
      </p:sp>
      <p:pic>
        <p:nvPicPr>
          <p:cNvPr id="5" name="Image 0" descr="preencoded.png">    </p:cNvPr>
          <p:cNvPicPr>
            <a:picLocks noChangeAspect="1"/>
          </p:cNvPicPr>
          <p:nvPr/>
        </p:nvPicPr>
        <p:blipFill>
          <a:blip r:embed="rId1"/>
          <a:stretch>
            <a:fillRect/>
          </a:stretch>
        </p:blipFill>
        <p:spPr>
          <a:xfrm>
            <a:off x="623621" y="1492301"/>
            <a:ext cx="307238" cy="307238"/>
          </a:xfrm>
          <a:prstGeom prst="rect">
            <a:avLst/>
          </a:prstGeom>
        </p:spPr>
      </p:pic>
      <p:sp>
        <p:nvSpPr>
          <p:cNvPr id="6" name="Text 3"/>
          <p:cNvSpPr txBox="1"/>
          <p:nvPr/>
        </p:nvSpPr>
        <p:spPr>
          <a:xfrm>
            <a:off x="1234440" y="1325880"/>
            <a:ext cx="3474720" cy="11887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Una clase altamente cohesionada concentra sus métodos y atributos en torno a una sola responsabilidad. Eso facilita comprenderla, probarla y modificarla.</a:t>
            </a:r>
            <a:endParaRPr lang="en-US" sz="1300" dirty="0"/>
          </a:p>
        </p:txBody>
      </p:sp>
      <p:sp>
        <p:nvSpPr>
          <p:cNvPr id="7" name="Text 4"/>
          <p:cNvSpPr txBox="1"/>
          <p:nvPr/>
        </p:nvSpPr>
        <p:spPr>
          <a:xfrm>
            <a:off x="1234440" y="2468880"/>
            <a:ext cx="3474720" cy="228600"/>
          </a:xfrm>
          <a:prstGeom prst="rect">
            <a:avLst/>
          </a:prstGeom>
          <a:noFill/>
          <a:ln/>
        </p:spPr>
        <p:txBody>
          <a:bodyPr wrap="square" lIns="0" tIns="0" rIns="0" bIns="0" rtlCol="0" anchor="ctr"/>
          <a:lstStyle/>
          <a:p>
            <a:pPr indent="0" marL="0">
              <a:buNone/>
            </a:pPr>
            <a:r>
              <a:rPr lang="en-US" sz="1050" i="1" dirty="0">
                <a:solidFill>
                  <a:srgbClr val="6B7A8C"/>
                </a:solidFill>
                <a:latin typeface="Calibri" pitchFamily="34" charset="0"/>
                <a:ea typeface="Calibri" pitchFamily="34" charset="-122"/>
                <a:cs typeface="Calibri" pitchFamily="34" charset="-120"/>
              </a:rPr>
              <a:t>Hernández &amp; Baquero (2023)</a:t>
            </a:r>
            <a:endParaRPr lang="en-US" sz="1050" dirty="0"/>
          </a:p>
        </p:txBody>
      </p:sp>
      <p:sp>
        <p:nvSpPr>
          <p:cNvPr id="8" name="Shape 5"/>
          <p:cNvSpPr/>
          <p:nvPr/>
        </p:nvSpPr>
        <p:spPr>
          <a:xfrm>
            <a:off x="457200" y="2880360"/>
            <a:ext cx="4251960" cy="1600200"/>
          </a:xfrm>
          <a:prstGeom prst="roundRect">
            <a:avLst>
              <a:gd name="adj" fmla="val 6857"/>
            </a:avLst>
          </a:prstGeom>
          <a:solidFill>
            <a:srgbClr val="F3F5F8"/>
          </a:solidFill>
          <a:ln w="9525">
            <a:solidFill>
              <a:srgbClr val="D9DEE5"/>
            </a:solidFill>
            <a:prstDash val="solid"/>
          </a:ln>
        </p:spPr>
      </p:sp>
      <p:sp>
        <p:nvSpPr>
          <p:cNvPr id="9" name="Text 6"/>
          <p:cNvSpPr txBox="1"/>
          <p:nvPr/>
        </p:nvSpPr>
        <p:spPr>
          <a:xfrm>
            <a:off x="640080" y="2971800"/>
            <a:ext cx="3931920" cy="27432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Señales de baja cohesión</a:t>
            </a:r>
            <a:endParaRPr lang="en-US" sz="1300" dirty="0"/>
          </a:p>
        </p:txBody>
      </p:sp>
      <p:sp>
        <p:nvSpPr>
          <p:cNvPr id="10" name="Text 7"/>
          <p:cNvSpPr txBox="1"/>
          <p:nvPr/>
        </p:nvSpPr>
        <p:spPr>
          <a:xfrm>
            <a:off x="640080" y="3291840"/>
            <a:ext cx="3931920" cy="11430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La clase tiene varias "razones para cambiar".</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No se puede probar el cálculo sin BD ni correo.</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El nombre necesita una "y": calcula y guarda y envía.</a:t>
            </a:r>
            <a:endParaRPr lang="en-US" sz="1200" dirty="0"/>
          </a:p>
        </p:txBody>
      </p:sp>
      <p:sp>
        <p:nvSpPr>
          <p:cNvPr id="11" name="Shape 8"/>
          <p:cNvSpPr/>
          <p:nvPr/>
        </p:nvSpPr>
        <p:spPr>
          <a:xfrm>
            <a:off x="5029200" y="1325880"/>
            <a:ext cx="3657600" cy="3154680"/>
          </a:xfrm>
          <a:prstGeom prst="roundRect">
            <a:avLst>
              <a:gd name="adj" fmla="val 2899"/>
            </a:avLst>
          </a:prstGeom>
          <a:solidFill>
            <a:srgbClr val="1E2430"/>
          </a:solidFill>
          <a:ln w="12700">
            <a:solidFill>
              <a:srgbClr val="1E2430"/>
            </a:solidFill>
            <a:prstDash val="solid"/>
          </a:ln>
          <a:effectLst>
            <a:outerShdw sx="100000" sy="100000" kx="0" ky="0" algn="bl" rotWithShape="0" blurRad="76200" dist="25400" dir="5400000">
              <a:srgbClr val="000000">
                <a:alpha val="18000"/>
              </a:srgbClr>
            </a:outerShdw>
          </a:effectLst>
        </p:spPr>
      </p:sp>
      <p:sp>
        <p:nvSpPr>
          <p:cNvPr id="12" name="Text 9"/>
          <p:cNvSpPr txBox="1"/>
          <p:nvPr/>
        </p:nvSpPr>
        <p:spPr>
          <a:xfrm>
            <a:off x="5193792" y="1399032"/>
            <a:ext cx="3328416" cy="256032"/>
          </a:xfrm>
          <a:prstGeom prst="rect">
            <a:avLst/>
          </a:prstGeom>
          <a:noFill/>
          <a:ln/>
        </p:spPr>
        <p:txBody>
          <a:bodyPr wrap="square" lIns="0" tIns="0" rIns="0" bIns="0" rtlCol="0" anchor="ctr"/>
          <a:lstStyle/>
          <a:p>
            <a:pPr indent="0" marL="0">
              <a:buNone/>
            </a:pPr>
            <a:r>
              <a:rPr lang="en-US" sz="950" dirty="0">
                <a:solidFill>
                  <a:srgbClr val="F0A500"/>
                </a:solidFill>
                <a:latin typeface="Courier New" pitchFamily="34" charset="0"/>
                <a:ea typeface="Courier New" pitchFamily="34" charset="-122"/>
                <a:cs typeface="Courier New" pitchFamily="34" charset="-120"/>
              </a:rPr>
              <a:t>modulo10_principios/FacturaBajaCohesion.java</a:t>
            </a:r>
            <a:endParaRPr lang="en-US" sz="950" dirty="0"/>
          </a:p>
        </p:txBody>
      </p:sp>
      <p:sp>
        <p:nvSpPr>
          <p:cNvPr id="13" name="Text 10"/>
          <p:cNvSpPr txBox="1"/>
          <p:nvPr/>
        </p:nvSpPr>
        <p:spPr>
          <a:xfrm>
            <a:off x="5193792" y="1691640"/>
            <a:ext cx="3328416" cy="2679192"/>
          </a:xfrm>
          <a:prstGeom prst="rect">
            <a:avLst/>
          </a:prstGeom>
          <a:noFill/>
          <a:ln/>
        </p:spPr>
        <p:txBody>
          <a:bodyPr wrap="square" lIns="0" tIns="0" rIns="0" bIns="0" rtlCol="0" anchor="t"/>
          <a:lstStyle/>
          <a:p>
            <a:pPr indent="0" marL="0">
              <a:lnSpc>
                <a:spcPct val="105000"/>
              </a:lnSpc>
              <a:buNone/>
            </a:pPr>
            <a:r>
              <a:rPr lang="en-US" sz="950" i="1" dirty="0">
                <a:solidFill>
                  <a:srgbClr val="8A94A6"/>
                </a:solidFill>
                <a:latin typeface="Courier New" pitchFamily="34" charset="0"/>
                <a:ea typeface="Courier New" pitchFamily="34" charset="-122"/>
                <a:cs typeface="Courier New" pitchFamily="34" charset="-120"/>
              </a:rPr>
              <a:t>// CONTRAEJEMPLO: hace de todo</a:t>
            </a:r>
            <a:endParaRPr lang="en-US" sz="950" dirty="0"/>
          </a:p>
          <a:p>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class</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FacturaBajaCohesion</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double</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calcularTotal</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void</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guardarEnBaseDeDatos</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void</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enviarPorCorreo</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d</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void</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escribirLog</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m</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i="1" dirty="0">
                <a:solidFill>
                  <a:srgbClr val="8A94A6"/>
                </a:solidFill>
                <a:latin typeface="Courier New" pitchFamily="34" charset="0"/>
                <a:ea typeface="Courier New" pitchFamily="34" charset="-122"/>
                <a:cs typeface="Courier New" pitchFamily="34" charset="-120"/>
              </a:rPr>
              <a:t>// cálculo + BD + correo + log</a:t>
            </a:r>
            <a:endParaRPr lang="en-US" sz="950" dirty="0"/>
          </a:p>
          <a:p>
            <a:pPr indent="0" marL="0">
              <a:lnSpc>
                <a:spcPct val="105000"/>
              </a:lnSpc>
              <a:buNone/>
            </a:pPr>
            <a:r>
              <a:rPr lang="en-US" sz="950" i="1" dirty="0">
                <a:solidFill>
                  <a:srgbClr val="8A94A6"/>
                </a:solidFill>
                <a:latin typeface="Courier New" pitchFamily="34" charset="0"/>
                <a:ea typeface="Courier New" pitchFamily="34" charset="-122"/>
                <a:cs typeface="Courier New" pitchFamily="34" charset="-120"/>
              </a:rPr>
              <a:t>// = 4 razones para modificarla</a:t>
            </a:r>
            <a:endParaRPr lang="en-US" sz="950" dirty="0"/>
          </a:p>
        </p:txBody>
      </p:sp>
      <p:sp>
        <p:nvSpPr>
          <p:cNvPr id="14" name="Text 11"/>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6B7A8C"/>
                </a:solidFill>
                <a:latin typeface="Calibri" pitchFamily="34" charset="0"/>
                <a:ea typeface="Calibri" pitchFamily="34" charset="-122"/>
                <a:cs typeface="Calibri" pitchFamily="34" charset="-120"/>
              </a:rPr>
              <a:t>POO II · Temática 1 · Principios avanzados de POO · CUN</a:t>
            </a:r>
            <a:endParaRPr lang="en-US" sz="900" dirty="0"/>
          </a:p>
        </p:txBody>
      </p:sp>
      <p:sp>
        <p:nvSpPr>
          <p:cNvPr id="15" name="Text 12"/>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6B7A8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libri" pitchFamily="34" charset="0"/>
                <a:ea typeface="Calibri" pitchFamily="34" charset="-122"/>
                <a:cs typeface="Calibri" pitchFamily="34" charset="-120"/>
              </a:rPr>
              <a:t>Ejemplo práctico 1 · Factura con cohesión alta</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Solo cálculo de totales, descuentos y resumen; la persistencia vive en otro tipo</a:t>
            </a:r>
            <a:endParaRPr lang="en-US" sz="1300" dirty="0"/>
          </a:p>
        </p:txBody>
      </p:sp>
      <p:sp>
        <p:nvSpPr>
          <p:cNvPr id="4" name="Shape 2"/>
          <p:cNvSpPr/>
          <p:nvPr/>
        </p:nvSpPr>
        <p:spPr>
          <a:xfrm>
            <a:off x="457200" y="1280160"/>
            <a:ext cx="4663440" cy="3200400"/>
          </a:xfrm>
          <a:prstGeom prst="roundRect">
            <a:avLst>
              <a:gd name="adj" fmla="val 2857"/>
            </a:avLst>
          </a:prstGeom>
          <a:solidFill>
            <a:srgbClr val="1E2430"/>
          </a:solidFill>
          <a:ln w="12700">
            <a:solidFill>
              <a:srgbClr val="1E2430"/>
            </a:solidFill>
            <a:prstDash val="solid"/>
          </a:ln>
          <a:effectLst>
            <a:outerShdw sx="100000" sy="100000" kx="0" ky="0" algn="bl" rotWithShape="0" blurRad="76200" dist="25400" dir="5400000">
              <a:srgbClr val="000000">
                <a:alpha val="18000"/>
              </a:srgbClr>
            </a:outerShdw>
          </a:effectLst>
        </p:spPr>
      </p:sp>
      <p:sp>
        <p:nvSpPr>
          <p:cNvPr id="5" name="Text 3"/>
          <p:cNvSpPr txBox="1"/>
          <p:nvPr/>
        </p:nvSpPr>
        <p:spPr>
          <a:xfrm>
            <a:off x="621792" y="1353312"/>
            <a:ext cx="4334256" cy="256032"/>
          </a:xfrm>
          <a:prstGeom prst="rect">
            <a:avLst/>
          </a:prstGeom>
          <a:noFill/>
          <a:ln/>
        </p:spPr>
        <p:txBody>
          <a:bodyPr wrap="square" lIns="0" tIns="0" rIns="0" bIns="0" rtlCol="0" anchor="ctr"/>
          <a:lstStyle/>
          <a:p>
            <a:pPr indent="0" marL="0">
              <a:buNone/>
            </a:pPr>
            <a:r>
              <a:rPr lang="en-US" sz="950" dirty="0">
                <a:solidFill>
                  <a:srgbClr val="F0A500"/>
                </a:solidFill>
                <a:latin typeface="Courier New" pitchFamily="34" charset="0"/>
                <a:ea typeface="Courier New" pitchFamily="34" charset="-122"/>
                <a:cs typeface="Courier New" pitchFamily="34" charset="-120"/>
              </a:rPr>
              <a:t>Factura.java  — una sola responsabilidad</a:t>
            </a:r>
            <a:endParaRPr lang="en-US" sz="950" dirty="0"/>
          </a:p>
        </p:txBody>
      </p:sp>
      <p:sp>
        <p:nvSpPr>
          <p:cNvPr id="6" name="Text 4"/>
          <p:cNvSpPr txBox="1"/>
          <p:nvPr/>
        </p:nvSpPr>
        <p:spPr>
          <a:xfrm>
            <a:off x="621792" y="1645920"/>
            <a:ext cx="4334256" cy="2724912"/>
          </a:xfrm>
          <a:prstGeom prst="rect">
            <a:avLst/>
          </a:prstGeom>
          <a:noFill/>
          <a:ln/>
        </p:spPr>
        <p:txBody>
          <a:bodyPr wrap="square" lIns="0" tIns="0" rIns="0" bIns="0" rtlCol="0" anchor="t"/>
          <a:lstStyle/>
          <a:p>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class</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FFCB6B"/>
                </a:solidFill>
                <a:latin typeface="Courier New" pitchFamily="34" charset="0"/>
                <a:ea typeface="Courier New" pitchFamily="34" charset="-122"/>
                <a:cs typeface="Courier New" pitchFamily="34" charset="-120"/>
              </a:rPr>
              <a:t>Factura</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private</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static</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final</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double</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FFCB6B"/>
                </a:solidFill>
                <a:latin typeface="Courier New" pitchFamily="34" charset="0"/>
                <a:ea typeface="Courier New" pitchFamily="34" charset="-122"/>
                <a:cs typeface="Courier New" pitchFamily="34" charset="-120"/>
              </a:rPr>
              <a:t>IVA</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0.19;</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private</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final</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numero</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private</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final</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cliente</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private</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final</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FFCB6B"/>
                </a:solidFill>
                <a:latin typeface="Courier New" pitchFamily="34" charset="0"/>
                <a:ea typeface="Courier New" pitchFamily="34" charset="-122"/>
                <a:cs typeface="Courier New" pitchFamily="34" charset="-120"/>
              </a:rPr>
              <a:t>List</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&lt;</a:t>
            </a:r>
            <a:pPr indent="0" marL="0">
              <a:lnSpc>
                <a:spcPct val="105000"/>
              </a:lnSpc>
              <a:buNone/>
            </a:pPr>
            <a:r>
              <a:rPr lang="en-US" sz="1000" dirty="0">
                <a:solidFill>
                  <a:srgbClr val="FFCB6B"/>
                </a:solidFill>
                <a:latin typeface="Courier New" pitchFamily="34" charset="0"/>
                <a:ea typeface="Courier New" pitchFamily="34" charset="-122"/>
                <a:cs typeface="Courier New" pitchFamily="34" charset="-120"/>
              </a:rPr>
              <a:t>LineaFactura</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&gt;</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lineas</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private</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double</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porcentajeDescuento</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double</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calcularSubtotal</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double</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calcularDescuento</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double</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calcularImpuestos</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double</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calcularTotal</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void</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aplicarDescuento</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double</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p</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generarResumenPdf</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7" name="Shape 5"/>
          <p:cNvSpPr/>
          <p:nvPr/>
        </p:nvSpPr>
        <p:spPr>
          <a:xfrm>
            <a:off x="5349240" y="1280160"/>
            <a:ext cx="3337560" cy="1783080"/>
          </a:xfrm>
          <a:prstGeom prst="roundRect">
            <a:avLst>
              <a:gd name="adj" fmla="val 5128"/>
            </a:avLst>
          </a:prstGeom>
          <a:solidFill>
            <a:srgbClr val="1E2430"/>
          </a:solidFill>
          <a:ln w="12700">
            <a:solidFill>
              <a:srgbClr val="1E2430"/>
            </a:solidFill>
            <a:prstDash val="solid"/>
          </a:ln>
          <a:effectLst>
            <a:outerShdw sx="100000" sy="100000" kx="0" ky="0" algn="bl" rotWithShape="0" blurRad="76200" dist="25400" dir="5400000">
              <a:srgbClr val="000000">
                <a:alpha val="18000"/>
              </a:srgbClr>
            </a:outerShdw>
          </a:effectLst>
        </p:spPr>
      </p:sp>
      <p:sp>
        <p:nvSpPr>
          <p:cNvPr id="8" name="Text 6"/>
          <p:cNvSpPr txBox="1"/>
          <p:nvPr/>
        </p:nvSpPr>
        <p:spPr>
          <a:xfrm>
            <a:off x="5513832" y="1353312"/>
            <a:ext cx="3008376" cy="256032"/>
          </a:xfrm>
          <a:prstGeom prst="rect">
            <a:avLst/>
          </a:prstGeom>
          <a:noFill/>
          <a:ln/>
        </p:spPr>
        <p:txBody>
          <a:bodyPr wrap="square" lIns="0" tIns="0" rIns="0" bIns="0" rtlCol="0" anchor="ctr"/>
          <a:lstStyle/>
          <a:p>
            <a:pPr indent="0" marL="0">
              <a:buNone/>
            </a:pPr>
            <a:r>
              <a:rPr lang="en-US" sz="950" dirty="0">
                <a:solidFill>
                  <a:srgbClr val="F0A500"/>
                </a:solidFill>
                <a:latin typeface="Courier New" pitchFamily="34" charset="0"/>
                <a:ea typeface="Courier New" pitchFamily="34" charset="-122"/>
                <a:cs typeface="Courier New" pitchFamily="34" charset="-120"/>
              </a:rPr>
              <a:t>RepositorioFacturas.java</a:t>
            </a:r>
            <a:endParaRPr lang="en-US" sz="950" dirty="0"/>
          </a:p>
        </p:txBody>
      </p:sp>
      <p:sp>
        <p:nvSpPr>
          <p:cNvPr id="9" name="Text 7"/>
          <p:cNvSpPr txBox="1"/>
          <p:nvPr/>
        </p:nvSpPr>
        <p:spPr>
          <a:xfrm>
            <a:off x="5513832" y="1645920"/>
            <a:ext cx="3008376" cy="1307592"/>
          </a:xfrm>
          <a:prstGeom prst="rect">
            <a:avLst/>
          </a:prstGeom>
          <a:noFill/>
          <a:ln/>
        </p:spPr>
        <p:txBody>
          <a:bodyPr wrap="square" lIns="0" tIns="0" rIns="0" bIns="0" rtlCol="0" anchor="t"/>
          <a:lstStyle/>
          <a:p>
            <a:pPr indent="0" marL="0">
              <a:lnSpc>
                <a:spcPct val="105000"/>
              </a:lnSpc>
              <a:buNone/>
            </a:pPr>
            <a:r>
              <a:rPr lang="en-US" sz="950" i="1" dirty="0">
                <a:solidFill>
                  <a:srgbClr val="8A94A6"/>
                </a:solidFill>
                <a:latin typeface="Courier New" pitchFamily="34" charset="0"/>
                <a:ea typeface="Courier New" pitchFamily="34" charset="-122"/>
                <a:cs typeface="Courier New" pitchFamily="34" charset="-120"/>
              </a:rPr>
              <a:t>// La persistencia se DELEGA</a:t>
            </a:r>
            <a:endParaRPr lang="en-US" sz="950" dirty="0"/>
          </a:p>
          <a:p>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interface</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RepositorioFacturas</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void</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guardar</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Factura</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factura</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Optional</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&lt;</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Factura</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&gt;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buscarPorNumero</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numero</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List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&lt;</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Factura</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&gt;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listar</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p:txBody>
      </p:sp>
      <p:sp>
        <p:nvSpPr>
          <p:cNvPr id="10" name="Shape 8"/>
          <p:cNvSpPr/>
          <p:nvPr/>
        </p:nvSpPr>
        <p:spPr>
          <a:xfrm>
            <a:off x="5349240" y="3200400"/>
            <a:ext cx="3337560" cy="1280160"/>
          </a:xfrm>
          <a:prstGeom prst="roundRect">
            <a:avLst>
              <a:gd name="adj" fmla="val 8571"/>
            </a:avLst>
          </a:prstGeom>
          <a:solidFill>
            <a:srgbClr val="F3F5F8"/>
          </a:solidFill>
          <a:ln w="9525">
            <a:solidFill>
              <a:srgbClr val="D9DEE5"/>
            </a:solidFill>
            <a:prstDash val="solid"/>
          </a:ln>
        </p:spPr>
      </p:sp>
      <p:sp>
        <p:nvSpPr>
          <p:cNvPr id="11" name="Shape 9"/>
          <p:cNvSpPr/>
          <p:nvPr/>
        </p:nvSpPr>
        <p:spPr>
          <a:xfrm>
            <a:off x="5486400" y="3337560"/>
            <a:ext cx="457200" cy="457200"/>
          </a:xfrm>
          <a:prstGeom prst="ellipse">
            <a:avLst/>
          </a:prstGeom>
          <a:solidFill>
            <a:srgbClr val="2E8B57"/>
          </a:solidFill>
          <a:ln w="12700">
            <a:solidFill>
              <a:srgbClr val="2E8B57"/>
            </a:solidFill>
            <a:prstDash val="solid"/>
          </a:ln>
        </p:spPr>
      </p:sp>
      <p:pic>
        <p:nvPicPr>
          <p:cNvPr id="12" name="Image 0" descr="preencoded.png">    </p:cNvPr>
          <p:cNvPicPr>
            <a:picLocks noChangeAspect="1"/>
          </p:cNvPicPr>
          <p:nvPr/>
        </p:nvPicPr>
        <p:blipFill>
          <a:blip r:embed="rId1"/>
          <a:stretch>
            <a:fillRect/>
          </a:stretch>
        </p:blipFill>
        <p:spPr>
          <a:xfrm>
            <a:off x="5605272" y="3456432"/>
            <a:ext cx="219456" cy="219456"/>
          </a:xfrm>
          <a:prstGeom prst="rect">
            <a:avLst/>
          </a:prstGeom>
        </p:spPr>
      </p:pic>
      <p:sp>
        <p:nvSpPr>
          <p:cNvPr id="13" name="Text 10"/>
          <p:cNvSpPr txBox="1"/>
          <p:nvPr/>
        </p:nvSpPr>
        <p:spPr>
          <a:xfrm>
            <a:off x="6035040" y="3310128"/>
            <a:ext cx="2560320" cy="109728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Si cambia la base de datos (SQL, archivo, nube), Factura no se toca. Se puede probar el cálculo sin ninguna infraestructura.</a:t>
            </a:r>
            <a:endParaRPr lang="en-US" sz="1150" dirty="0"/>
          </a:p>
        </p:txBody>
      </p:sp>
      <p:sp>
        <p:nvSpPr>
          <p:cNvPr id="14" name="Text 11"/>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6B7A8C"/>
                </a:solidFill>
                <a:latin typeface="Calibri" pitchFamily="34" charset="0"/>
                <a:ea typeface="Calibri" pitchFamily="34" charset="-122"/>
                <a:cs typeface="Calibri" pitchFamily="34" charset="-120"/>
              </a:rPr>
              <a:t>POO II · Temática 1 · Principios avanzados de POO · CUN</a:t>
            </a:r>
            <a:endParaRPr lang="en-US" sz="900" dirty="0"/>
          </a:p>
        </p:txBody>
      </p:sp>
      <p:sp>
        <p:nvSpPr>
          <p:cNvPr id="15" name="Text 12"/>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6B7A8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libri" pitchFamily="34" charset="0"/>
                <a:ea typeface="Calibri" pitchFamily="34" charset="-122"/>
                <a:cs typeface="Calibri" pitchFamily="34" charset="-120"/>
              </a:rPr>
              <a:t>Acoplamiento</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Dependencia entre módulos o clases: se busca que sea bajo</a:t>
            </a:r>
            <a:endParaRPr lang="en-US" sz="1300" dirty="0"/>
          </a:p>
        </p:txBody>
      </p:sp>
      <p:sp>
        <p:nvSpPr>
          <p:cNvPr id="4" name="Shape 2"/>
          <p:cNvSpPr/>
          <p:nvPr/>
        </p:nvSpPr>
        <p:spPr>
          <a:xfrm>
            <a:off x="457200" y="1325880"/>
            <a:ext cx="640080" cy="640080"/>
          </a:xfrm>
          <a:prstGeom prst="ellipse">
            <a:avLst/>
          </a:prstGeom>
          <a:solidFill>
            <a:srgbClr val="F0A500"/>
          </a:solidFill>
          <a:ln w="12700">
            <a:solidFill>
              <a:srgbClr val="F0A500"/>
            </a:solidFill>
            <a:prstDash val="solid"/>
          </a:ln>
        </p:spPr>
      </p:sp>
      <p:pic>
        <p:nvPicPr>
          <p:cNvPr id="5" name="Image 0" descr="preencoded.png">    </p:cNvPr>
          <p:cNvPicPr>
            <a:picLocks noChangeAspect="1"/>
          </p:cNvPicPr>
          <p:nvPr/>
        </p:nvPicPr>
        <p:blipFill>
          <a:blip r:embed="rId1"/>
          <a:stretch>
            <a:fillRect/>
          </a:stretch>
        </p:blipFill>
        <p:spPr>
          <a:xfrm>
            <a:off x="623621" y="1492301"/>
            <a:ext cx="307238" cy="307238"/>
          </a:xfrm>
          <a:prstGeom prst="rect">
            <a:avLst/>
          </a:prstGeom>
        </p:spPr>
      </p:pic>
      <p:sp>
        <p:nvSpPr>
          <p:cNvPr id="6" name="Text 3"/>
          <p:cNvSpPr txBox="1"/>
          <p:nvPr/>
        </p:nvSpPr>
        <p:spPr>
          <a:xfrm>
            <a:off x="1234440" y="1325880"/>
            <a:ext cx="3108960" cy="14630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Clases lo más independientes posible, para minimizar el impacto de un cambio en el resto del sistema. Un alto acoplamiento es signo de un diseño rígido y frágil.</a:t>
            </a:r>
            <a:endParaRPr lang="en-US" sz="1300" dirty="0"/>
          </a:p>
        </p:txBody>
      </p:sp>
      <p:sp>
        <p:nvSpPr>
          <p:cNvPr id="7" name="Text 4"/>
          <p:cNvSpPr txBox="1"/>
          <p:nvPr/>
        </p:nvSpPr>
        <p:spPr>
          <a:xfrm>
            <a:off x="1234440" y="2743200"/>
            <a:ext cx="3108960" cy="228600"/>
          </a:xfrm>
          <a:prstGeom prst="rect">
            <a:avLst/>
          </a:prstGeom>
          <a:noFill/>
          <a:ln/>
        </p:spPr>
        <p:txBody>
          <a:bodyPr wrap="square" lIns="0" tIns="0" rIns="0" bIns="0" rtlCol="0" anchor="ctr"/>
          <a:lstStyle/>
          <a:p>
            <a:pPr indent="0" marL="0">
              <a:buNone/>
            </a:pPr>
            <a:r>
              <a:rPr lang="en-US" sz="1050" i="1" dirty="0">
                <a:solidFill>
                  <a:srgbClr val="6B7A8C"/>
                </a:solidFill>
                <a:latin typeface="Calibri" pitchFamily="34" charset="0"/>
                <a:ea typeface="Calibri" pitchFamily="34" charset="-122"/>
                <a:cs typeface="Calibri" pitchFamily="34" charset="-120"/>
              </a:rPr>
              <a:t>Vázquez (2020)</a:t>
            </a:r>
            <a:endParaRPr lang="en-US" sz="1050" dirty="0"/>
          </a:p>
        </p:txBody>
      </p:sp>
      <p:sp>
        <p:nvSpPr>
          <p:cNvPr id="8" name="Shape 5"/>
          <p:cNvSpPr/>
          <p:nvPr/>
        </p:nvSpPr>
        <p:spPr>
          <a:xfrm>
            <a:off x="457200" y="3108960"/>
            <a:ext cx="3886200" cy="1371600"/>
          </a:xfrm>
          <a:prstGeom prst="roundRect">
            <a:avLst>
              <a:gd name="adj" fmla="val 8000"/>
            </a:avLst>
          </a:prstGeom>
          <a:solidFill>
            <a:srgbClr val="F3F5F8"/>
          </a:solidFill>
          <a:ln w="9525">
            <a:solidFill>
              <a:srgbClr val="D9DEE5"/>
            </a:solidFill>
            <a:prstDash val="solid"/>
          </a:ln>
        </p:spPr>
      </p:sp>
      <p:sp>
        <p:nvSpPr>
          <p:cNvPr id="9" name="Text 6"/>
          <p:cNvSpPr txBox="1"/>
          <p:nvPr/>
        </p:nvSpPr>
        <p:spPr>
          <a:xfrm>
            <a:off x="640080" y="3200400"/>
            <a:ext cx="3566160" cy="274320"/>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La receta</a:t>
            </a:r>
            <a:endParaRPr lang="en-US" sz="1300" dirty="0"/>
          </a:p>
        </p:txBody>
      </p:sp>
      <p:sp>
        <p:nvSpPr>
          <p:cNvPr id="10" name="Text 7"/>
          <p:cNvSpPr txBox="1"/>
          <p:nvPr/>
        </p:nvSpPr>
        <p:spPr>
          <a:xfrm>
            <a:off x="640080" y="3520440"/>
            <a:ext cx="3566160" cy="9144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3"/>
                </a:solidFill>
                <a:latin typeface="Calibri" pitchFamily="34" charset="0"/>
                <a:ea typeface="Calibri" pitchFamily="34" charset="-122"/>
                <a:cs typeface="Calibri" pitchFamily="34" charset="-120"/>
              </a:rPr>
              <a:t>Depender de una interfaz, no de la clase concreta.</a:t>
            </a:r>
            <a:endParaRPr lang="en-US" sz="1150" dirty="0"/>
          </a:p>
          <a:p>
            <a:pPr marL="342900" indent="-342900">
              <a:spcAft>
                <a:spcPts val="600"/>
              </a:spcAft>
              <a:buSzPct val="100000"/>
              <a:buChar char="■"/>
            </a:pPr>
            <a:r>
              <a:rPr lang="en-US" sz="1150" dirty="0">
                <a:solidFill>
                  <a:srgbClr val="1F2933"/>
                </a:solidFill>
                <a:latin typeface="Calibri" pitchFamily="34" charset="0"/>
                <a:ea typeface="Calibri" pitchFamily="34" charset="-122"/>
                <a:cs typeface="Calibri" pitchFamily="34" charset="-120"/>
              </a:rPr>
              <a:t>Recibir la implementación por el constructor.</a:t>
            </a:r>
            <a:endParaRPr lang="en-US" sz="1150" dirty="0"/>
          </a:p>
          <a:p>
            <a:pPr marL="342900" indent="-342900">
              <a:spcAft>
                <a:spcPts val="600"/>
              </a:spcAft>
              <a:buSzPct val="100000"/>
              <a:buChar char="■"/>
            </a:pPr>
            <a:r>
              <a:rPr lang="en-US" sz="1150" dirty="0">
                <a:solidFill>
                  <a:srgbClr val="1F2933"/>
                </a:solidFill>
                <a:latin typeface="Calibri" pitchFamily="34" charset="0"/>
                <a:ea typeface="Calibri" pitchFamily="34" charset="-122"/>
                <a:cs typeface="Calibri" pitchFamily="34" charset="-120"/>
              </a:rPr>
              <a:t>Quien arma la app decide qué implementación usar.</a:t>
            </a:r>
            <a:endParaRPr lang="en-US" sz="1150" dirty="0"/>
          </a:p>
        </p:txBody>
      </p:sp>
      <p:sp>
        <p:nvSpPr>
          <p:cNvPr id="11" name="Shape 8"/>
          <p:cNvSpPr/>
          <p:nvPr/>
        </p:nvSpPr>
        <p:spPr>
          <a:xfrm>
            <a:off x="4754880" y="1371600"/>
            <a:ext cx="3931920" cy="548640"/>
          </a:xfrm>
          <a:prstGeom prst="roundRect">
            <a:avLst>
              <a:gd name="adj" fmla="val 13333"/>
            </a:avLst>
          </a:prstGeom>
          <a:solidFill>
            <a:srgbClr val="1B2A41"/>
          </a:solidFill>
          <a:ln w="12700">
            <a:solidFill>
              <a:srgbClr val="1B2A41"/>
            </a:solidFill>
            <a:prstDash val="solid"/>
          </a:ln>
        </p:spPr>
      </p:sp>
      <p:sp>
        <p:nvSpPr>
          <p:cNvPr id="12" name="Text 9"/>
          <p:cNvSpPr txBox="1"/>
          <p:nvPr/>
        </p:nvSpPr>
        <p:spPr>
          <a:xfrm>
            <a:off x="4754880" y="1371600"/>
            <a:ext cx="39319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ServicioAutenticacion</a:t>
            </a:r>
            <a:endParaRPr lang="en-US" sz="1200" dirty="0"/>
          </a:p>
        </p:txBody>
      </p:sp>
      <p:sp>
        <p:nvSpPr>
          <p:cNvPr id="13" name="Shape 10"/>
          <p:cNvSpPr/>
          <p:nvPr/>
        </p:nvSpPr>
        <p:spPr>
          <a:xfrm>
            <a:off x="6720840" y="1920240"/>
            <a:ext cx="9144" cy="411480"/>
          </a:xfrm>
          <a:prstGeom prst="line">
            <a:avLst/>
          </a:prstGeom>
          <a:noFill/>
          <a:ln w="22225">
            <a:solidFill>
              <a:srgbClr val="1B2A41"/>
            </a:solidFill>
            <a:prstDash val="solid"/>
            <a:tailEnd type="triangle"/>
          </a:ln>
        </p:spPr>
      </p:sp>
      <p:sp>
        <p:nvSpPr>
          <p:cNvPr id="14" name="Text 11"/>
          <p:cNvSpPr txBox="1"/>
          <p:nvPr/>
        </p:nvSpPr>
        <p:spPr>
          <a:xfrm>
            <a:off x="6812280" y="1965960"/>
            <a:ext cx="1371600" cy="274320"/>
          </a:xfrm>
          <a:prstGeom prst="rect">
            <a:avLst/>
          </a:prstGeom>
          <a:noFill/>
          <a:ln/>
        </p:spPr>
        <p:txBody>
          <a:bodyPr wrap="square" lIns="0" tIns="0" rIns="0" bIns="0" rtlCol="0" anchor="ctr"/>
          <a:lstStyle/>
          <a:p>
            <a:pPr indent="0" marL="0">
              <a:buNone/>
            </a:pPr>
            <a:r>
              <a:rPr lang="en-US" sz="1000" i="1" dirty="0">
                <a:solidFill>
                  <a:srgbClr val="6B7A8C"/>
                </a:solidFill>
                <a:latin typeface="Calibri" pitchFamily="34" charset="0"/>
                <a:ea typeface="Calibri" pitchFamily="34" charset="-122"/>
                <a:cs typeface="Calibri" pitchFamily="34" charset="-120"/>
              </a:rPr>
              <a:t>depende de</a:t>
            </a:r>
            <a:endParaRPr lang="en-US" sz="1000" dirty="0"/>
          </a:p>
        </p:txBody>
      </p:sp>
      <p:sp>
        <p:nvSpPr>
          <p:cNvPr id="15" name="Shape 12"/>
          <p:cNvSpPr/>
          <p:nvPr/>
        </p:nvSpPr>
        <p:spPr>
          <a:xfrm>
            <a:off x="5257800" y="2377440"/>
            <a:ext cx="2926080" cy="548640"/>
          </a:xfrm>
          <a:prstGeom prst="roundRect">
            <a:avLst>
              <a:gd name="adj" fmla="val 13333"/>
            </a:avLst>
          </a:prstGeom>
          <a:solidFill>
            <a:srgbClr val="FFFFFF"/>
          </a:solidFill>
          <a:ln w="25400">
            <a:solidFill>
              <a:srgbClr val="F0A500"/>
            </a:solidFill>
            <a:prstDash val="dash"/>
          </a:ln>
        </p:spPr>
      </p:sp>
      <p:sp>
        <p:nvSpPr>
          <p:cNvPr id="16" name="Text 13"/>
          <p:cNvSpPr txBox="1"/>
          <p:nvPr/>
        </p:nvSpPr>
        <p:spPr>
          <a:xfrm>
            <a:off x="5257800" y="2377440"/>
            <a:ext cx="2926080" cy="548640"/>
          </a:xfrm>
          <a:prstGeom prst="rect">
            <a:avLst/>
          </a:prstGeom>
          <a:noFill/>
          <a:ln/>
        </p:spPr>
        <p:txBody>
          <a:bodyPr wrap="square" lIns="0" tIns="0" rIns="0" bIns="0" rtlCol="0" anchor="ctr"/>
          <a:lstStyle/>
          <a:p>
            <a:pPr algn="ctr" indent="0" marL="0">
              <a:buNone/>
            </a:pPr>
            <a:r>
              <a:rPr lang="en-US" sz="900" dirty="0">
                <a:solidFill>
                  <a:srgbClr val="6B7A8C"/>
                </a:solidFill>
                <a:latin typeface="Calibri" pitchFamily="34" charset="0"/>
                <a:ea typeface="Calibri" pitchFamily="34" charset="-122"/>
                <a:cs typeface="Calibri" pitchFamily="34" charset="-120"/>
              </a:rPr>
              <a:t>«interface» </a:t>
            </a:r>
            <a:pPr algn="ctr" indent="0" marL="0">
              <a:buNone/>
            </a:pPr>
            <a:r>
              <a:rPr lang="en-US" sz="1200" b="1" dirty="0">
                <a:solidFill>
                  <a:srgbClr val="1B2A41"/>
                </a:solidFill>
                <a:latin typeface="Courier New" pitchFamily="34" charset="0"/>
                <a:ea typeface="Courier New" pitchFamily="34" charset="-122"/>
                <a:cs typeface="Courier New" pitchFamily="34" charset="-120"/>
              </a:rPr>
              <a:t>RepositorioUsuarios</a:t>
            </a:r>
            <a:endParaRPr lang="en-US" sz="1200" dirty="0"/>
          </a:p>
        </p:txBody>
      </p:sp>
      <p:sp>
        <p:nvSpPr>
          <p:cNvPr id="17" name="Shape 14"/>
          <p:cNvSpPr/>
          <p:nvPr/>
        </p:nvSpPr>
        <p:spPr>
          <a:xfrm flipV="1">
            <a:off x="5669280" y="2944368"/>
            <a:ext cx="548640" cy="484632"/>
          </a:xfrm>
          <a:prstGeom prst="line">
            <a:avLst/>
          </a:prstGeom>
          <a:noFill/>
          <a:ln w="22225">
            <a:solidFill>
              <a:srgbClr val="C98700"/>
            </a:solidFill>
            <a:prstDash val="solid"/>
            <a:tailEnd type="triangle"/>
          </a:ln>
        </p:spPr>
      </p:sp>
      <p:sp>
        <p:nvSpPr>
          <p:cNvPr id="18" name="Shape 15"/>
          <p:cNvSpPr/>
          <p:nvPr/>
        </p:nvSpPr>
        <p:spPr>
          <a:xfrm flipH="1" flipV="1">
            <a:off x="7223760" y="2944368"/>
            <a:ext cx="548640" cy="484632"/>
          </a:xfrm>
          <a:prstGeom prst="line">
            <a:avLst/>
          </a:prstGeom>
          <a:noFill/>
          <a:ln w="22225">
            <a:solidFill>
              <a:srgbClr val="C98700"/>
            </a:solidFill>
            <a:prstDash val="solid"/>
            <a:tailEnd type="triangle"/>
          </a:ln>
        </p:spPr>
      </p:sp>
      <p:sp>
        <p:nvSpPr>
          <p:cNvPr id="19" name="Text 16"/>
          <p:cNvSpPr txBox="1"/>
          <p:nvPr/>
        </p:nvSpPr>
        <p:spPr>
          <a:xfrm>
            <a:off x="6172200" y="3063240"/>
            <a:ext cx="1188720" cy="274320"/>
          </a:xfrm>
          <a:prstGeom prst="rect">
            <a:avLst/>
          </a:prstGeom>
          <a:noFill/>
          <a:ln/>
        </p:spPr>
        <p:txBody>
          <a:bodyPr wrap="square" lIns="0" tIns="0" rIns="0" bIns="0" rtlCol="0" anchor="ctr"/>
          <a:lstStyle/>
          <a:p>
            <a:pPr algn="ctr" indent="0" marL="0">
              <a:buNone/>
            </a:pPr>
            <a:r>
              <a:rPr lang="en-US" sz="1000" i="1" dirty="0">
                <a:solidFill>
                  <a:srgbClr val="6B7A8C"/>
                </a:solidFill>
                <a:latin typeface="Calibri" pitchFamily="34" charset="0"/>
                <a:ea typeface="Calibri" pitchFamily="34" charset="-122"/>
                <a:cs typeface="Calibri" pitchFamily="34" charset="-120"/>
              </a:rPr>
              <a:t>implementan</a:t>
            </a:r>
            <a:endParaRPr lang="en-US" sz="1000" dirty="0"/>
          </a:p>
        </p:txBody>
      </p:sp>
      <p:sp>
        <p:nvSpPr>
          <p:cNvPr id="20" name="Shape 17"/>
          <p:cNvSpPr/>
          <p:nvPr/>
        </p:nvSpPr>
        <p:spPr>
          <a:xfrm>
            <a:off x="4754880" y="3474720"/>
            <a:ext cx="1828800" cy="548640"/>
          </a:xfrm>
          <a:prstGeom prst="roundRect">
            <a:avLst>
              <a:gd name="adj" fmla="val 13333"/>
            </a:avLst>
          </a:prstGeom>
          <a:solidFill>
            <a:srgbClr val="F3F5F8"/>
          </a:solidFill>
          <a:ln w="12700">
            <a:solidFill>
              <a:srgbClr val="D9DEE5"/>
            </a:solidFill>
            <a:prstDash val="solid"/>
          </a:ln>
        </p:spPr>
      </p:sp>
      <p:sp>
        <p:nvSpPr>
          <p:cNvPr id="21" name="Text 18"/>
          <p:cNvSpPr txBox="1"/>
          <p:nvPr/>
        </p:nvSpPr>
        <p:spPr>
          <a:xfrm>
            <a:off x="4754880" y="3474720"/>
            <a:ext cx="1828800" cy="548640"/>
          </a:xfrm>
          <a:prstGeom prst="rect">
            <a:avLst/>
          </a:prstGeom>
          <a:noFill/>
          <a:ln/>
        </p:spPr>
        <p:txBody>
          <a:bodyPr wrap="square" lIns="0" tIns="0" rIns="0" bIns="0" rtlCol="0" anchor="ctr"/>
          <a:lstStyle/>
          <a:p>
            <a:pPr algn="ctr" indent="0" marL="0">
              <a:buNone/>
            </a:pPr>
            <a:r>
              <a:rPr lang="en-US" sz="950" dirty="0">
                <a:solidFill>
                  <a:srgbClr val="1F2933"/>
                </a:solidFill>
                <a:latin typeface="Courier New" pitchFamily="34" charset="0"/>
                <a:ea typeface="Courier New" pitchFamily="34" charset="-122"/>
                <a:cs typeface="Courier New" pitchFamily="34" charset="-120"/>
              </a:rPr>
              <a:t>RepositorioUsuariosSql</a:t>
            </a:r>
            <a:endParaRPr lang="en-US" sz="950" dirty="0"/>
          </a:p>
        </p:txBody>
      </p:sp>
      <p:sp>
        <p:nvSpPr>
          <p:cNvPr id="22" name="Shape 19"/>
          <p:cNvSpPr/>
          <p:nvPr/>
        </p:nvSpPr>
        <p:spPr>
          <a:xfrm>
            <a:off x="6858000" y="3474720"/>
            <a:ext cx="1828800" cy="548640"/>
          </a:xfrm>
          <a:prstGeom prst="roundRect">
            <a:avLst>
              <a:gd name="adj" fmla="val 13333"/>
            </a:avLst>
          </a:prstGeom>
          <a:solidFill>
            <a:srgbClr val="F3F5F8"/>
          </a:solidFill>
          <a:ln w="12700">
            <a:solidFill>
              <a:srgbClr val="D9DEE5"/>
            </a:solidFill>
            <a:prstDash val="solid"/>
          </a:ln>
        </p:spPr>
      </p:sp>
      <p:sp>
        <p:nvSpPr>
          <p:cNvPr id="23" name="Text 20"/>
          <p:cNvSpPr txBox="1"/>
          <p:nvPr/>
        </p:nvSpPr>
        <p:spPr>
          <a:xfrm>
            <a:off x="6858000" y="3474720"/>
            <a:ext cx="1828800" cy="548640"/>
          </a:xfrm>
          <a:prstGeom prst="rect">
            <a:avLst/>
          </a:prstGeom>
          <a:noFill/>
          <a:ln/>
        </p:spPr>
        <p:txBody>
          <a:bodyPr wrap="square" lIns="0" tIns="0" rIns="0" bIns="0" rtlCol="0" anchor="ctr"/>
          <a:lstStyle/>
          <a:p>
            <a:pPr algn="ctr" indent="0" marL="0">
              <a:buNone/>
            </a:pPr>
            <a:r>
              <a:rPr lang="en-US" sz="950" dirty="0">
                <a:solidFill>
                  <a:srgbClr val="1F2933"/>
                </a:solidFill>
                <a:latin typeface="Courier New" pitchFamily="34" charset="0"/>
                <a:ea typeface="Courier New" pitchFamily="34" charset="-122"/>
                <a:cs typeface="Courier New" pitchFamily="34" charset="-120"/>
              </a:rPr>
              <a:t>RepositorioUsuariosMongo</a:t>
            </a:r>
            <a:endParaRPr lang="en-US" sz="950" dirty="0"/>
          </a:p>
        </p:txBody>
      </p:sp>
      <p:sp>
        <p:nvSpPr>
          <p:cNvPr id="24" name="Text 21"/>
          <p:cNvSpPr txBox="1"/>
          <p:nvPr/>
        </p:nvSpPr>
        <p:spPr>
          <a:xfrm>
            <a:off x="4754880" y="4160520"/>
            <a:ext cx="3931920" cy="320040"/>
          </a:xfrm>
          <a:prstGeom prst="rect">
            <a:avLst/>
          </a:prstGeom>
          <a:noFill/>
          <a:ln/>
        </p:spPr>
        <p:txBody>
          <a:bodyPr wrap="square" lIns="0" tIns="0" rIns="0" bIns="0" rtlCol="0" anchor="ctr"/>
          <a:lstStyle/>
          <a:p>
            <a:pPr algn="ctr" indent="0" marL="0">
              <a:buNone/>
            </a:pPr>
            <a:r>
              <a:rPr lang="en-US" sz="1100" b="1" dirty="0">
                <a:solidFill>
                  <a:srgbClr val="1B2A41"/>
                </a:solidFill>
                <a:latin typeface="Calibri" pitchFamily="34" charset="0"/>
                <a:ea typeface="Calibri" pitchFamily="34" charset="-122"/>
                <a:cs typeface="Calibri" pitchFamily="34" charset="-120"/>
              </a:rPr>
              <a:t>Cambiar de SQL a MongoDB = agregar una clase. La autenticación no se entera.</a:t>
            </a:r>
            <a:endParaRPr lang="en-US" sz="1100" dirty="0"/>
          </a:p>
        </p:txBody>
      </p:sp>
      <p:sp>
        <p:nvSpPr>
          <p:cNvPr id="25" name="Text 2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6B7A8C"/>
                </a:solidFill>
                <a:latin typeface="Calibri" pitchFamily="34" charset="0"/>
                <a:ea typeface="Calibri" pitchFamily="34" charset="-122"/>
                <a:cs typeface="Calibri" pitchFamily="34" charset="-120"/>
              </a:rPr>
              <a:t>POO II · Temática 1 · Principios avanzados de POO · CUN</a:t>
            </a:r>
            <a:endParaRPr lang="en-US" sz="900" dirty="0"/>
          </a:p>
        </p:txBody>
      </p:sp>
      <p:sp>
        <p:nvSpPr>
          <p:cNvPr id="26" name="Text 23"/>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6B7A8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libri" pitchFamily="34" charset="0"/>
                <a:ea typeface="Calibri" pitchFamily="34" charset="-122"/>
                <a:cs typeface="Calibri" pitchFamily="34" charset="-120"/>
              </a:rPr>
              <a:t>Ejemplo práctico 2 · Autenticación desacoplada</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La misma clase funciona con SQL o MongoDB sin modificar una línea</a:t>
            </a:r>
            <a:endParaRPr lang="en-US" sz="1300" dirty="0"/>
          </a:p>
        </p:txBody>
      </p:sp>
      <p:sp>
        <p:nvSpPr>
          <p:cNvPr id="4" name="Shape 2"/>
          <p:cNvSpPr/>
          <p:nvPr/>
        </p:nvSpPr>
        <p:spPr>
          <a:xfrm>
            <a:off x="457200" y="1280160"/>
            <a:ext cx="4206240" cy="1417320"/>
          </a:xfrm>
          <a:prstGeom prst="roundRect">
            <a:avLst>
              <a:gd name="adj" fmla="val 6452"/>
            </a:avLst>
          </a:prstGeom>
          <a:solidFill>
            <a:srgbClr val="1E2430"/>
          </a:solidFill>
          <a:ln w="12700">
            <a:solidFill>
              <a:srgbClr val="1E2430"/>
            </a:solidFill>
            <a:prstDash val="solid"/>
          </a:ln>
          <a:effectLst>
            <a:outerShdw sx="100000" sy="100000" kx="0" ky="0" algn="bl" rotWithShape="0" blurRad="76200" dist="25400" dir="5400000">
              <a:srgbClr val="000000">
                <a:alpha val="18000"/>
              </a:srgbClr>
            </a:outerShdw>
          </a:effectLst>
        </p:spPr>
      </p:sp>
      <p:sp>
        <p:nvSpPr>
          <p:cNvPr id="5" name="Text 3"/>
          <p:cNvSpPr txBox="1"/>
          <p:nvPr/>
        </p:nvSpPr>
        <p:spPr>
          <a:xfrm>
            <a:off x="621792" y="1353312"/>
            <a:ext cx="3877056" cy="256032"/>
          </a:xfrm>
          <a:prstGeom prst="rect">
            <a:avLst/>
          </a:prstGeom>
          <a:noFill/>
          <a:ln/>
        </p:spPr>
        <p:txBody>
          <a:bodyPr wrap="square" lIns="0" tIns="0" rIns="0" bIns="0" rtlCol="0" anchor="ctr"/>
          <a:lstStyle/>
          <a:p>
            <a:pPr indent="0" marL="0">
              <a:buNone/>
            </a:pPr>
            <a:r>
              <a:rPr lang="en-US" sz="950" dirty="0">
                <a:solidFill>
                  <a:srgbClr val="F0A500"/>
                </a:solidFill>
                <a:latin typeface="Courier New" pitchFamily="34" charset="0"/>
                <a:ea typeface="Courier New" pitchFamily="34" charset="-122"/>
                <a:cs typeface="Courier New" pitchFamily="34" charset="-120"/>
              </a:rPr>
              <a:t>RepositorioUsuarios.java — el contrato</a:t>
            </a:r>
            <a:endParaRPr lang="en-US" sz="950" dirty="0"/>
          </a:p>
        </p:txBody>
      </p:sp>
      <p:sp>
        <p:nvSpPr>
          <p:cNvPr id="6" name="Text 4"/>
          <p:cNvSpPr txBox="1"/>
          <p:nvPr/>
        </p:nvSpPr>
        <p:spPr>
          <a:xfrm>
            <a:off x="621792" y="1645920"/>
            <a:ext cx="3877056" cy="941832"/>
          </a:xfrm>
          <a:prstGeom prst="rect">
            <a:avLst/>
          </a:prstGeom>
          <a:noFill/>
          <a:ln/>
        </p:spPr>
        <p:txBody>
          <a:bodyPr wrap="square" lIns="0" tIns="0" rIns="0" bIns="0" rtlCol="0" anchor="t"/>
          <a:lstStyle/>
          <a:p>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interface</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RepositorioUsuarios</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Optional</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&lt;</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&gt;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buscarHashDeContrasena</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usuario</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tecnologia</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p:txBody>
      </p:sp>
      <p:sp>
        <p:nvSpPr>
          <p:cNvPr id="7" name="Shape 5"/>
          <p:cNvSpPr/>
          <p:nvPr/>
        </p:nvSpPr>
        <p:spPr>
          <a:xfrm>
            <a:off x="457200" y="2834640"/>
            <a:ext cx="4206240" cy="1645920"/>
          </a:xfrm>
          <a:prstGeom prst="roundRect">
            <a:avLst>
              <a:gd name="adj" fmla="val 5556"/>
            </a:avLst>
          </a:prstGeom>
          <a:solidFill>
            <a:srgbClr val="1E2430"/>
          </a:solidFill>
          <a:ln w="12700">
            <a:solidFill>
              <a:srgbClr val="1E2430"/>
            </a:solidFill>
            <a:prstDash val="solid"/>
          </a:ln>
          <a:effectLst>
            <a:outerShdw sx="100000" sy="100000" kx="0" ky="0" algn="bl" rotWithShape="0" blurRad="76200" dist="25400" dir="5400000">
              <a:srgbClr val="000000">
                <a:alpha val="18000"/>
              </a:srgbClr>
            </a:outerShdw>
          </a:effectLst>
        </p:spPr>
      </p:sp>
      <p:sp>
        <p:nvSpPr>
          <p:cNvPr id="8" name="Text 6"/>
          <p:cNvSpPr txBox="1"/>
          <p:nvPr/>
        </p:nvSpPr>
        <p:spPr>
          <a:xfrm>
            <a:off x="621792" y="2907792"/>
            <a:ext cx="3877056" cy="256032"/>
          </a:xfrm>
          <a:prstGeom prst="rect">
            <a:avLst/>
          </a:prstGeom>
          <a:noFill/>
          <a:ln/>
        </p:spPr>
        <p:txBody>
          <a:bodyPr wrap="square" lIns="0" tIns="0" rIns="0" bIns="0" rtlCol="0" anchor="ctr"/>
          <a:lstStyle/>
          <a:p>
            <a:pPr indent="0" marL="0">
              <a:buNone/>
            </a:pPr>
            <a:r>
              <a:rPr lang="en-US" sz="950" dirty="0">
                <a:solidFill>
                  <a:srgbClr val="F0A500"/>
                </a:solidFill>
                <a:latin typeface="Courier New" pitchFamily="34" charset="0"/>
                <a:ea typeface="Courier New" pitchFamily="34" charset="-122"/>
                <a:cs typeface="Courier New" pitchFamily="34" charset="-120"/>
              </a:rPr>
              <a:t>RepositorioUsuariosMongo.java — una implementación</a:t>
            </a:r>
            <a:endParaRPr lang="en-US" sz="950" dirty="0"/>
          </a:p>
        </p:txBody>
      </p:sp>
      <p:sp>
        <p:nvSpPr>
          <p:cNvPr id="9" name="Text 7"/>
          <p:cNvSpPr txBox="1"/>
          <p:nvPr/>
        </p:nvSpPr>
        <p:spPr>
          <a:xfrm>
            <a:off x="621792" y="3200400"/>
            <a:ext cx="3877056" cy="1170432"/>
          </a:xfrm>
          <a:prstGeom prst="rect">
            <a:avLst/>
          </a:prstGeom>
          <a:noFill/>
          <a:ln/>
        </p:spPr>
        <p:txBody>
          <a:bodyPr wrap="square" lIns="0" tIns="0" rIns="0" bIns="0" rtlCol="0" anchor="t"/>
          <a:lstStyle/>
          <a:p>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class</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RepositorioUsuariosMongo</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implements</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RepositorioUsuarios</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i="1" dirty="0">
                <a:solidFill>
                  <a:srgbClr val="8A94A6"/>
                </a:solidFill>
                <a:latin typeface="Courier New" pitchFamily="34" charset="0"/>
                <a:ea typeface="Courier New" pitchFamily="34" charset="-122"/>
                <a:cs typeface="Courier New" pitchFamily="34" charset="-120"/>
              </a:rPr>
              <a:t>// db.usuarios.findOne({ nombre: ... })</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Optional</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&lt;</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&gt;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buscarHashDeContrasena</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u</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tecnologia</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return</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3E88D"/>
                </a:solidFill>
                <a:latin typeface="Courier New" pitchFamily="34" charset="0"/>
                <a:ea typeface="Courier New" pitchFamily="34" charset="-122"/>
                <a:cs typeface="Courier New" pitchFamily="34" charset="-120"/>
              </a:rPr>
              <a:t>"MongoDB"</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p:txBody>
      </p:sp>
      <p:sp>
        <p:nvSpPr>
          <p:cNvPr id="10" name="Shape 8"/>
          <p:cNvSpPr/>
          <p:nvPr/>
        </p:nvSpPr>
        <p:spPr>
          <a:xfrm>
            <a:off x="4892040" y="1280160"/>
            <a:ext cx="3794760" cy="2331720"/>
          </a:xfrm>
          <a:prstGeom prst="roundRect">
            <a:avLst>
              <a:gd name="adj" fmla="val 3922"/>
            </a:avLst>
          </a:prstGeom>
          <a:solidFill>
            <a:srgbClr val="1E2430"/>
          </a:solidFill>
          <a:ln w="12700">
            <a:solidFill>
              <a:srgbClr val="1E2430"/>
            </a:solidFill>
            <a:prstDash val="solid"/>
          </a:ln>
          <a:effectLst>
            <a:outerShdw sx="100000" sy="100000" kx="0" ky="0" algn="bl" rotWithShape="0" blurRad="76200" dist="25400" dir="5400000">
              <a:srgbClr val="000000">
                <a:alpha val="18000"/>
              </a:srgbClr>
            </a:outerShdw>
          </a:effectLst>
        </p:spPr>
      </p:sp>
      <p:sp>
        <p:nvSpPr>
          <p:cNvPr id="11" name="Text 9"/>
          <p:cNvSpPr txBox="1"/>
          <p:nvPr/>
        </p:nvSpPr>
        <p:spPr>
          <a:xfrm>
            <a:off x="5056632" y="1353312"/>
            <a:ext cx="3465576" cy="256032"/>
          </a:xfrm>
          <a:prstGeom prst="rect">
            <a:avLst/>
          </a:prstGeom>
          <a:noFill/>
          <a:ln/>
        </p:spPr>
        <p:txBody>
          <a:bodyPr wrap="square" lIns="0" tIns="0" rIns="0" bIns="0" rtlCol="0" anchor="ctr"/>
          <a:lstStyle/>
          <a:p>
            <a:pPr indent="0" marL="0">
              <a:buNone/>
            </a:pPr>
            <a:r>
              <a:rPr lang="en-US" sz="950" dirty="0">
                <a:solidFill>
                  <a:srgbClr val="F0A500"/>
                </a:solidFill>
                <a:latin typeface="Courier New" pitchFamily="34" charset="0"/>
                <a:ea typeface="Courier New" pitchFamily="34" charset="-122"/>
                <a:cs typeface="Courier New" pitchFamily="34" charset="-120"/>
              </a:rPr>
              <a:t>ServicioAutenticacion.java</a:t>
            </a:r>
            <a:endParaRPr lang="en-US" sz="950" dirty="0"/>
          </a:p>
        </p:txBody>
      </p:sp>
      <p:sp>
        <p:nvSpPr>
          <p:cNvPr id="12" name="Text 10"/>
          <p:cNvSpPr txBox="1"/>
          <p:nvPr/>
        </p:nvSpPr>
        <p:spPr>
          <a:xfrm>
            <a:off x="5056632" y="1645920"/>
            <a:ext cx="3465576" cy="1856232"/>
          </a:xfrm>
          <a:prstGeom prst="rect">
            <a:avLst/>
          </a:prstGeom>
          <a:noFill/>
          <a:ln/>
        </p:spPr>
        <p:txBody>
          <a:bodyPr wrap="square" lIns="0" tIns="0" rIns="0" bIns="0" rtlCol="0" anchor="t"/>
          <a:lstStyle/>
          <a:p>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class</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ServicioAutenticacion</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private</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final</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RepositorioUsuarios</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repo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private</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final</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Logger</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logger</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i="1" dirty="0">
                <a:solidFill>
                  <a:srgbClr val="8A94A6"/>
                </a:solidFill>
                <a:latin typeface="Courier New" pitchFamily="34" charset="0"/>
                <a:ea typeface="Courier New" pitchFamily="34" charset="-122"/>
                <a:cs typeface="Courier New" pitchFamily="34" charset="-120"/>
              </a:rPr>
              <a:t>// Inyección de dependencias</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ServicioAutenticacion</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RepositorioUsuarios</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repo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Logger</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log</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this</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repo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repo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this</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logger</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log</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boolean</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autenticar</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u</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c</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Optional</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&lt;</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&gt;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hash</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repo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buscarHashDeContrasena</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u</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i="1" dirty="0">
                <a:solidFill>
                  <a:srgbClr val="8A94A6"/>
                </a:solidFill>
                <a:latin typeface="Courier New" pitchFamily="34" charset="0"/>
                <a:ea typeface="Courier New" pitchFamily="34" charset="-122"/>
                <a:cs typeface="Courier New" pitchFamily="34" charset="-120"/>
              </a:rPr>
              <a:t>// usa la interfaz, no la clase</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p:txBody>
      </p:sp>
      <p:sp>
        <p:nvSpPr>
          <p:cNvPr id="13" name="Shape 11"/>
          <p:cNvSpPr/>
          <p:nvPr/>
        </p:nvSpPr>
        <p:spPr>
          <a:xfrm>
            <a:off x="4892040" y="3703320"/>
            <a:ext cx="3794760" cy="777240"/>
          </a:xfrm>
          <a:prstGeom prst="roundRect">
            <a:avLst>
              <a:gd name="adj" fmla="val 11765"/>
            </a:avLst>
          </a:prstGeom>
          <a:solidFill>
            <a:srgbClr val="1E2430"/>
          </a:solidFill>
          <a:ln w="12700">
            <a:solidFill>
              <a:srgbClr val="1E2430"/>
            </a:solidFill>
            <a:prstDash val="solid"/>
          </a:ln>
          <a:effectLst>
            <a:outerShdw sx="100000" sy="100000" kx="0" ky="0" algn="bl" rotWithShape="0" blurRad="76200" dist="25400" dir="5400000">
              <a:srgbClr val="000000">
                <a:alpha val="18000"/>
              </a:srgbClr>
            </a:outerShdw>
          </a:effectLst>
        </p:spPr>
      </p:sp>
      <p:sp>
        <p:nvSpPr>
          <p:cNvPr id="14" name="Text 12"/>
          <p:cNvSpPr txBox="1"/>
          <p:nvPr/>
        </p:nvSpPr>
        <p:spPr>
          <a:xfrm>
            <a:off x="5056632" y="3840480"/>
            <a:ext cx="3465576" cy="530352"/>
          </a:xfrm>
          <a:prstGeom prst="rect">
            <a:avLst/>
          </a:prstGeom>
          <a:noFill/>
          <a:ln/>
        </p:spPr>
        <p:txBody>
          <a:bodyPr wrap="square" lIns="0" tIns="0" rIns="0" bIns="0" rtlCol="0" anchor="t"/>
          <a:lstStyle/>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var</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sql</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new</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RepositorioUsuariosSql</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var</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mongo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new</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RepositorioUsuariosMongo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new</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ServicioAutenticacion</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sql</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log</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i="1" dirty="0">
                <a:solidFill>
                  <a:srgbClr val="8A94A6"/>
                </a:solidFill>
                <a:latin typeface="Courier New" pitchFamily="34" charset="0"/>
                <a:ea typeface="Courier New" pitchFamily="34" charset="-122"/>
                <a:cs typeface="Courier New" pitchFamily="34" charset="-120"/>
              </a:rPr>
              <a:t>// misma</a:t>
            </a:r>
            <a:endParaRPr lang="en-US" sz="850" dirty="0"/>
          </a:p>
          <a:p>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new</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ServicioAutenticacion</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mongo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log</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i="1" dirty="0">
                <a:solidFill>
                  <a:srgbClr val="8A94A6"/>
                </a:solidFill>
                <a:latin typeface="Courier New" pitchFamily="34" charset="0"/>
                <a:ea typeface="Courier New" pitchFamily="34" charset="-122"/>
                <a:cs typeface="Courier New" pitchFamily="34" charset="-120"/>
              </a:rPr>
              <a:t>// clase</a:t>
            </a:r>
            <a:endParaRPr lang="en-US" sz="850" dirty="0"/>
          </a:p>
        </p:txBody>
      </p:sp>
      <p:sp>
        <p:nvSpPr>
          <p:cNvPr id="15" name="Text 13"/>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6B7A8C"/>
                </a:solidFill>
                <a:latin typeface="Calibri" pitchFamily="34" charset="0"/>
                <a:ea typeface="Calibri" pitchFamily="34" charset="-122"/>
                <a:cs typeface="Calibri" pitchFamily="34" charset="-120"/>
              </a:rPr>
              <a:t>POO II · Temática 1 · Principios avanzados de POO · CUN</a:t>
            </a:r>
            <a:endParaRPr lang="en-US" sz="900" dirty="0"/>
          </a:p>
        </p:txBody>
      </p:sp>
      <p:sp>
        <p:nvSpPr>
          <p:cNvPr id="16" name="Text 14"/>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6B7A8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libri" pitchFamily="34" charset="0"/>
                <a:ea typeface="Calibri" pitchFamily="34" charset="-122"/>
                <a:cs typeface="Calibri" pitchFamily="34" charset="-120"/>
              </a:rPr>
              <a:t>Reutilización de código</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Emplear componentes existentes en nuevos contextos, sin duplicar ni reescribir</a:t>
            </a:r>
            <a:endParaRPr lang="en-US" sz="1300" dirty="0"/>
          </a:p>
        </p:txBody>
      </p:sp>
      <p:sp>
        <p:nvSpPr>
          <p:cNvPr id="4" name="Shape 2"/>
          <p:cNvSpPr/>
          <p:nvPr/>
        </p:nvSpPr>
        <p:spPr>
          <a:xfrm>
            <a:off x="457200" y="1325880"/>
            <a:ext cx="640080" cy="640080"/>
          </a:xfrm>
          <a:prstGeom prst="ellipse">
            <a:avLst/>
          </a:prstGeom>
          <a:solidFill>
            <a:srgbClr val="F0A500"/>
          </a:solidFill>
          <a:ln w="12700">
            <a:solidFill>
              <a:srgbClr val="F0A500"/>
            </a:solidFill>
            <a:prstDash val="solid"/>
          </a:ln>
        </p:spPr>
      </p:sp>
      <p:pic>
        <p:nvPicPr>
          <p:cNvPr id="5" name="Image 0" descr="preencoded.png">    </p:cNvPr>
          <p:cNvPicPr>
            <a:picLocks noChangeAspect="1"/>
          </p:cNvPicPr>
          <p:nvPr/>
        </p:nvPicPr>
        <p:blipFill>
          <a:blip r:embed="rId1"/>
          <a:stretch>
            <a:fillRect/>
          </a:stretch>
        </p:blipFill>
        <p:spPr>
          <a:xfrm>
            <a:off x="623621" y="1492301"/>
            <a:ext cx="307238" cy="307238"/>
          </a:xfrm>
          <a:prstGeom prst="rect">
            <a:avLst/>
          </a:prstGeom>
        </p:spPr>
      </p:pic>
      <p:sp>
        <p:nvSpPr>
          <p:cNvPr id="6" name="Text 3"/>
          <p:cNvSpPr txBox="1"/>
          <p:nvPr/>
        </p:nvSpPr>
        <p:spPr>
          <a:xfrm>
            <a:off x="1234440" y="1325880"/>
            <a:ext cx="3200400" cy="13716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Reduce la duplicidad y los errores. En POO se logra con herencia, composición, interfaces y principios como la inversión de dependencias y la segregación de interfaces.</a:t>
            </a:r>
            <a:endParaRPr lang="en-US" sz="1300" dirty="0"/>
          </a:p>
        </p:txBody>
      </p:sp>
      <p:sp>
        <p:nvSpPr>
          <p:cNvPr id="7" name="Text 4"/>
          <p:cNvSpPr txBox="1"/>
          <p:nvPr/>
        </p:nvSpPr>
        <p:spPr>
          <a:xfrm>
            <a:off x="1234440" y="2651760"/>
            <a:ext cx="3200400" cy="228600"/>
          </a:xfrm>
          <a:prstGeom prst="rect">
            <a:avLst/>
          </a:prstGeom>
          <a:noFill/>
          <a:ln/>
        </p:spPr>
        <p:txBody>
          <a:bodyPr wrap="square" lIns="0" tIns="0" rIns="0" bIns="0" rtlCol="0" anchor="ctr"/>
          <a:lstStyle/>
          <a:p>
            <a:pPr indent="0" marL="0">
              <a:buNone/>
            </a:pPr>
            <a:r>
              <a:rPr lang="en-US" sz="1050" i="1" dirty="0">
                <a:solidFill>
                  <a:srgbClr val="6B7A8C"/>
                </a:solidFill>
                <a:latin typeface="Calibri" pitchFamily="34" charset="0"/>
                <a:ea typeface="Calibri" pitchFamily="34" charset="-122"/>
                <a:cs typeface="Calibri" pitchFamily="34" charset="-120"/>
              </a:rPr>
              <a:t>González &amp; Gallo (2021)</a:t>
            </a:r>
            <a:endParaRPr lang="en-US" sz="1050" dirty="0"/>
          </a:p>
        </p:txBody>
      </p:sp>
      <p:sp>
        <p:nvSpPr>
          <p:cNvPr id="8" name="Shape 5"/>
          <p:cNvSpPr/>
          <p:nvPr/>
        </p:nvSpPr>
        <p:spPr>
          <a:xfrm>
            <a:off x="457200" y="3017520"/>
            <a:ext cx="3977640" cy="1463040"/>
          </a:xfrm>
          <a:prstGeom prst="roundRect">
            <a:avLst>
              <a:gd name="adj" fmla="val 7500"/>
            </a:avLst>
          </a:prstGeom>
          <a:solidFill>
            <a:srgbClr val="F3F5F8"/>
          </a:solidFill>
          <a:ln w="9525">
            <a:solidFill>
              <a:srgbClr val="D9DEE5"/>
            </a:solidFill>
            <a:prstDash val="solid"/>
          </a:ln>
        </p:spPr>
      </p:sp>
      <p:sp>
        <p:nvSpPr>
          <p:cNvPr id="9" name="Text 6"/>
          <p:cNvSpPr txBox="1"/>
          <p:nvPr/>
        </p:nvSpPr>
        <p:spPr>
          <a:xfrm>
            <a:off x="640080" y="3108960"/>
            <a:ext cx="3657600" cy="274320"/>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¿Qué hace reutilizable a un Logger?</a:t>
            </a:r>
            <a:endParaRPr lang="en-US" sz="1300" dirty="0"/>
          </a:p>
        </p:txBody>
      </p:sp>
      <p:sp>
        <p:nvSpPr>
          <p:cNvPr id="10" name="Text 7"/>
          <p:cNvSpPr txBox="1"/>
          <p:nvPr/>
        </p:nvSpPr>
        <p:spPr>
          <a:xfrm>
            <a:off x="640080" y="3429000"/>
            <a:ext cx="3657600" cy="10058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3"/>
                </a:solidFill>
                <a:latin typeface="Calibri" pitchFamily="34" charset="0"/>
                <a:ea typeface="Calibri" pitchFamily="34" charset="-122"/>
                <a:cs typeface="Calibri" pitchFamily="34" charset="-120"/>
              </a:rPr>
              <a:t>Implementa una interfaz estándar y pequeña.</a:t>
            </a:r>
            <a:endParaRPr lang="en-US" sz="1150" dirty="0"/>
          </a:p>
          <a:p>
            <a:pPr marL="342900" indent="-342900">
              <a:spcAft>
                <a:spcPts val="600"/>
              </a:spcAft>
              <a:buSzPct val="100000"/>
              <a:buChar char="■"/>
            </a:pPr>
            <a:r>
              <a:rPr lang="en-US" sz="1150" dirty="0">
                <a:solidFill>
                  <a:srgbClr val="1F2933"/>
                </a:solidFill>
                <a:latin typeface="Calibri" pitchFamily="34" charset="0"/>
                <a:ea typeface="Calibri" pitchFamily="34" charset="-122"/>
                <a:cs typeface="Calibri" pitchFamily="34" charset="-120"/>
              </a:rPr>
              <a:t>No depende de la aplicación que lo usa.</a:t>
            </a:r>
            <a:endParaRPr lang="en-US" sz="1150" dirty="0"/>
          </a:p>
          <a:p>
            <a:pPr marL="342900" indent="-342900">
              <a:spcAft>
                <a:spcPts val="600"/>
              </a:spcAft>
              <a:buSzPct val="100000"/>
              <a:buChar char="■"/>
            </a:pPr>
            <a:r>
              <a:rPr lang="en-US" sz="1150" dirty="0">
                <a:solidFill>
                  <a:srgbClr val="1F2933"/>
                </a:solidFill>
                <a:latin typeface="Calibri" pitchFamily="34" charset="0"/>
                <a:ea typeface="Calibri" pitchFamily="34" charset="-122"/>
                <a:cs typeface="Calibri" pitchFamily="34" charset="-120"/>
              </a:rPr>
              <a:t>Cada destino (consola, archivo, memoria) es una clase.</a:t>
            </a:r>
            <a:endParaRPr lang="en-US" sz="1150" dirty="0"/>
          </a:p>
        </p:txBody>
      </p:sp>
      <p:sp>
        <p:nvSpPr>
          <p:cNvPr id="11" name="Text 8"/>
          <p:cNvSpPr txBox="1"/>
          <p:nvPr/>
        </p:nvSpPr>
        <p:spPr>
          <a:xfrm>
            <a:off x="6035040" y="2103120"/>
            <a:ext cx="457200" cy="228600"/>
          </a:xfrm>
          <a:prstGeom prst="rect">
            <a:avLst/>
          </a:prstGeom>
          <a:noFill/>
          <a:ln/>
        </p:spPr>
        <p:txBody>
          <a:bodyPr wrap="square" lIns="0" tIns="0" rIns="0" bIns="0" rtlCol="0" anchor="ctr"/>
          <a:lstStyle/>
          <a:p>
            <a:pPr algn="ctr" indent="0" marL="0">
              <a:buNone/>
            </a:pPr>
            <a:r>
              <a:rPr lang="en-US" sz="950" i="1" dirty="0">
                <a:solidFill>
                  <a:srgbClr val="6B7A8C"/>
                </a:solidFill>
                <a:latin typeface="Calibri" pitchFamily="34" charset="0"/>
                <a:ea typeface="Calibri" pitchFamily="34" charset="-122"/>
                <a:cs typeface="Calibri" pitchFamily="34" charset="-120"/>
              </a:rPr>
              <a:t>usan</a:t>
            </a:r>
            <a:endParaRPr lang="en-US" sz="950" dirty="0"/>
          </a:p>
        </p:txBody>
      </p:sp>
      <p:sp>
        <p:nvSpPr>
          <p:cNvPr id="12" name="Text 9"/>
          <p:cNvSpPr txBox="1"/>
          <p:nvPr/>
        </p:nvSpPr>
        <p:spPr>
          <a:xfrm>
            <a:off x="7543800" y="1325880"/>
            <a:ext cx="1143000" cy="228600"/>
          </a:xfrm>
          <a:prstGeom prst="rect">
            <a:avLst/>
          </a:prstGeom>
          <a:noFill/>
          <a:ln/>
        </p:spPr>
        <p:txBody>
          <a:bodyPr wrap="square" lIns="0" tIns="0" rIns="0" bIns="0" rtlCol="0" anchor="ctr"/>
          <a:lstStyle/>
          <a:p>
            <a:pPr algn="ctr" indent="0" marL="0">
              <a:buNone/>
            </a:pPr>
            <a:r>
              <a:rPr lang="en-US" sz="950" i="1" dirty="0">
                <a:solidFill>
                  <a:srgbClr val="6B7A8C"/>
                </a:solidFill>
                <a:latin typeface="Calibri" pitchFamily="34" charset="0"/>
                <a:ea typeface="Calibri" pitchFamily="34" charset="-122"/>
                <a:cs typeface="Calibri" pitchFamily="34" charset="-120"/>
              </a:rPr>
              <a:t>implementan</a:t>
            </a:r>
            <a:endParaRPr lang="en-US" sz="950" dirty="0"/>
          </a:p>
        </p:txBody>
      </p:sp>
      <p:sp>
        <p:nvSpPr>
          <p:cNvPr id="13" name="Shape 10"/>
          <p:cNvSpPr/>
          <p:nvPr/>
        </p:nvSpPr>
        <p:spPr>
          <a:xfrm>
            <a:off x="6263640" y="2514600"/>
            <a:ext cx="1097280" cy="640080"/>
          </a:xfrm>
          <a:prstGeom prst="roundRect">
            <a:avLst>
              <a:gd name="adj" fmla="val 11429"/>
            </a:avLst>
          </a:prstGeom>
          <a:solidFill>
            <a:srgbClr val="FFFFFF"/>
          </a:solidFill>
          <a:ln w="25400">
            <a:solidFill>
              <a:srgbClr val="F0A500"/>
            </a:solidFill>
            <a:prstDash val="dash"/>
          </a:ln>
        </p:spPr>
      </p:sp>
      <p:sp>
        <p:nvSpPr>
          <p:cNvPr id="14" name="Text 11"/>
          <p:cNvSpPr txBox="1"/>
          <p:nvPr/>
        </p:nvSpPr>
        <p:spPr>
          <a:xfrm>
            <a:off x="6263640" y="2514600"/>
            <a:ext cx="1097280" cy="640080"/>
          </a:xfrm>
          <a:prstGeom prst="rect">
            <a:avLst/>
          </a:prstGeom>
          <a:noFill/>
          <a:ln/>
        </p:spPr>
        <p:txBody>
          <a:bodyPr wrap="square" lIns="0" tIns="0" rIns="0" bIns="0" rtlCol="0" anchor="ctr"/>
          <a:lstStyle/>
          <a:p>
            <a:pPr algn="ctr" indent="0" marL="0">
              <a:buNone/>
            </a:pPr>
            <a:r>
              <a:rPr lang="en-US" sz="850" dirty="0">
                <a:solidFill>
                  <a:srgbClr val="6B7A8C"/>
                </a:solidFill>
                <a:latin typeface="Calibri" pitchFamily="34" charset="0"/>
                <a:ea typeface="Calibri" pitchFamily="34" charset="-122"/>
                <a:cs typeface="Calibri" pitchFamily="34" charset="-120"/>
              </a:rPr>
              <a:t>«interface»</a:t>
            </a:r>
            <a:endParaRPr lang="en-US" sz="1200" dirty="0"/>
          </a:p>
          <a:p>
            <a:pPr algn="ctr" indent="0" marL="0">
              <a:buNone/>
            </a:pPr>
            <a:r>
              <a:rPr lang="en-US" sz="1200" b="1" dirty="0">
                <a:solidFill>
                  <a:srgbClr val="1B2A41"/>
                </a:solidFill>
                <a:latin typeface="Courier New" pitchFamily="34" charset="0"/>
                <a:ea typeface="Courier New" pitchFamily="34" charset="-122"/>
                <a:cs typeface="Courier New" pitchFamily="34" charset="-120"/>
              </a:rPr>
              <a:t>Logger</a:t>
            </a:r>
            <a:endParaRPr lang="en-US" sz="1200" dirty="0"/>
          </a:p>
        </p:txBody>
      </p:sp>
      <p:sp>
        <p:nvSpPr>
          <p:cNvPr id="15" name="Shape 12"/>
          <p:cNvSpPr/>
          <p:nvPr/>
        </p:nvSpPr>
        <p:spPr>
          <a:xfrm>
            <a:off x="4709160" y="2148840"/>
            <a:ext cx="1325880" cy="457200"/>
          </a:xfrm>
          <a:prstGeom prst="roundRect">
            <a:avLst>
              <a:gd name="adj" fmla="val 16000"/>
            </a:avLst>
          </a:prstGeom>
          <a:solidFill>
            <a:srgbClr val="1B2A41"/>
          </a:solidFill>
          <a:ln w="12700">
            <a:solidFill>
              <a:srgbClr val="1B2A41"/>
            </a:solidFill>
            <a:prstDash val="solid"/>
          </a:ln>
        </p:spPr>
      </p:sp>
      <p:sp>
        <p:nvSpPr>
          <p:cNvPr id="16" name="Text 13"/>
          <p:cNvSpPr txBox="1"/>
          <p:nvPr/>
        </p:nvSpPr>
        <p:spPr>
          <a:xfrm>
            <a:off x="4709160" y="2148840"/>
            <a:ext cx="1325880" cy="457200"/>
          </a:xfrm>
          <a:prstGeom prst="rect">
            <a:avLst/>
          </a:prstGeom>
          <a:noFill/>
          <a:ln/>
        </p:spPr>
        <p:txBody>
          <a:bodyPr wrap="square" lIns="0" tIns="0" rIns="0" bIns="0" rtlCol="0" anchor="ctr"/>
          <a:lstStyle/>
          <a:p>
            <a:pPr algn="ctr" indent="0" marL="0">
              <a:buNone/>
            </a:pPr>
            <a:r>
              <a:rPr lang="en-US" sz="750" b="1" dirty="0">
                <a:solidFill>
                  <a:srgbClr val="FFFFFF"/>
                </a:solidFill>
                <a:latin typeface="Courier New" pitchFamily="34" charset="0"/>
                <a:ea typeface="Courier New" pitchFamily="34" charset="-122"/>
                <a:cs typeface="Courier New" pitchFamily="34" charset="-120"/>
              </a:rPr>
              <a:t>ServicioAutenticacion</a:t>
            </a:r>
            <a:endParaRPr lang="en-US" sz="750" dirty="0"/>
          </a:p>
        </p:txBody>
      </p:sp>
      <p:sp>
        <p:nvSpPr>
          <p:cNvPr id="17" name="Shape 14"/>
          <p:cNvSpPr/>
          <p:nvPr/>
        </p:nvSpPr>
        <p:spPr>
          <a:xfrm>
            <a:off x="6053328" y="2377440"/>
            <a:ext cx="182880" cy="457200"/>
          </a:xfrm>
          <a:prstGeom prst="line">
            <a:avLst/>
          </a:prstGeom>
          <a:noFill/>
          <a:ln w="22225">
            <a:solidFill>
              <a:srgbClr val="1B2A41"/>
            </a:solidFill>
            <a:prstDash val="solid"/>
            <a:tailEnd type="triangle"/>
          </a:ln>
        </p:spPr>
      </p:sp>
      <p:sp>
        <p:nvSpPr>
          <p:cNvPr id="18" name="Shape 15"/>
          <p:cNvSpPr/>
          <p:nvPr/>
        </p:nvSpPr>
        <p:spPr>
          <a:xfrm>
            <a:off x="4709160" y="3200400"/>
            <a:ext cx="1325880" cy="457200"/>
          </a:xfrm>
          <a:prstGeom prst="roundRect">
            <a:avLst>
              <a:gd name="adj" fmla="val 16000"/>
            </a:avLst>
          </a:prstGeom>
          <a:solidFill>
            <a:srgbClr val="1B2A41"/>
          </a:solidFill>
          <a:ln w="12700">
            <a:solidFill>
              <a:srgbClr val="1B2A41"/>
            </a:solidFill>
            <a:prstDash val="solid"/>
          </a:ln>
        </p:spPr>
      </p:sp>
      <p:sp>
        <p:nvSpPr>
          <p:cNvPr id="19" name="Text 16"/>
          <p:cNvSpPr txBox="1"/>
          <p:nvPr/>
        </p:nvSpPr>
        <p:spPr>
          <a:xfrm>
            <a:off x="4709160" y="3200400"/>
            <a:ext cx="1325880" cy="457200"/>
          </a:xfrm>
          <a:prstGeom prst="rect">
            <a:avLst/>
          </a:prstGeom>
          <a:noFill/>
          <a:ln/>
        </p:spPr>
        <p:txBody>
          <a:bodyPr wrap="square" lIns="0" tIns="0" rIns="0" bIns="0" rtlCol="0" anchor="ctr"/>
          <a:lstStyle/>
          <a:p>
            <a:pPr algn="ctr" indent="0" marL="0">
              <a:buNone/>
            </a:pPr>
            <a:r>
              <a:rPr lang="en-US" sz="750" b="1" dirty="0">
                <a:solidFill>
                  <a:srgbClr val="FFFFFF"/>
                </a:solidFill>
                <a:latin typeface="Courier New" pitchFamily="34" charset="0"/>
                <a:ea typeface="Courier New" pitchFamily="34" charset="-122"/>
                <a:cs typeface="Courier New" pitchFamily="34" charset="-120"/>
              </a:rPr>
              <a:t>ProcesadorDePagos</a:t>
            </a:r>
            <a:endParaRPr lang="en-US" sz="750" dirty="0"/>
          </a:p>
        </p:txBody>
      </p:sp>
      <p:sp>
        <p:nvSpPr>
          <p:cNvPr id="20" name="Shape 17"/>
          <p:cNvSpPr/>
          <p:nvPr/>
        </p:nvSpPr>
        <p:spPr>
          <a:xfrm flipV="1">
            <a:off x="6053328" y="2834640"/>
            <a:ext cx="182880" cy="594360"/>
          </a:xfrm>
          <a:prstGeom prst="line">
            <a:avLst/>
          </a:prstGeom>
          <a:noFill/>
          <a:ln w="22225">
            <a:solidFill>
              <a:srgbClr val="1B2A41"/>
            </a:solidFill>
            <a:prstDash val="solid"/>
            <a:tailEnd type="triangle"/>
          </a:ln>
        </p:spPr>
      </p:sp>
      <p:sp>
        <p:nvSpPr>
          <p:cNvPr id="21" name="Shape 18"/>
          <p:cNvSpPr/>
          <p:nvPr/>
        </p:nvSpPr>
        <p:spPr>
          <a:xfrm>
            <a:off x="7543800" y="1600200"/>
            <a:ext cx="1143000" cy="457200"/>
          </a:xfrm>
          <a:prstGeom prst="roundRect">
            <a:avLst>
              <a:gd name="adj" fmla="val 16000"/>
            </a:avLst>
          </a:prstGeom>
          <a:solidFill>
            <a:srgbClr val="F3F5F8"/>
          </a:solidFill>
          <a:ln w="12700">
            <a:solidFill>
              <a:srgbClr val="D9DEE5"/>
            </a:solidFill>
            <a:prstDash val="solid"/>
          </a:ln>
        </p:spPr>
      </p:sp>
      <p:sp>
        <p:nvSpPr>
          <p:cNvPr id="22" name="Text 19"/>
          <p:cNvSpPr txBox="1"/>
          <p:nvPr/>
        </p:nvSpPr>
        <p:spPr>
          <a:xfrm>
            <a:off x="7543800" y="1600200"/>
            <a:ext cx="1143000" cy="457200"/>
          </a:xfrm>
          <a:prstGeom prst="rect">
            <a:avLst/>
          </a:prstGeom>
          <a:noFill/>
          <a:ln/>
        </p:spPr>
        <p:txBody>
          <a:bodyPr wrap="square" lIns="0" tIns="0" rIns="0" bIns="0" rtlCol="0" anchor="ctr"/>
          <a:lstStyle/>
          <a:p>
            <a:pPr algn="ctr" indent="0" marL="0">
              <a:buNone/>
            </a:pPr>
            <a:r>
              <a:rPr lang="en-US" sz="850" dirty="0">
                <a:solidFill>
                  <a:srgbClr val="1F2933"/>
                </a:solidFill>
                <a:latin typeface="Courier New" pitchFamily="34" charset="0"/>
                <a:ea typeface="Courier New" pitchFamily="34" charset="-122"/>
                <a:cs typeface="Courier New" pitchFamily="34" charset="-120"/>
              </a:rPr>
              <a:t>LoggerConsola</a:t>
            </a:r>
            <a:endParaRPr lang="en-US" sz="850" dirty="0"/>
          </a:p>
        </p:txBody>
      </p:sp>
      <p:sp>
        <p:nvSpPr>
          <p:cNvPr id="23" name="Text 20"/>
          <p:cNvSpPr txBox="1"/>
          <p:nvPr/>
        </p:nvSpPr>
        <p:spPr>
          <a:xfrm>
            <a:off x="7543800" y="2057400"/>
            <a:ext cx="1143000" cy="201168"/>
          </a:xfrm>
          <a:prstGeom prst="rect">
            <a:avLst/>
          </a:prstGeom>
          <a:noFill/>
          <a:ln/>
        </p:spPr>
        <p:txBody>
          <a:bodyPr wrap="square" lIns="0" tIns="0" rIns="0" bIns="0" rtlCol="0" anchor="ctr"/>
          <a:lstStyle/>
          <a:p>
            <a:pPr algn="ctr" indent="0" marL="0">
              <a:buNone/>
            </a:pPr>
            <a:r>
              <a:rPr lang="en-US" sz="900" i="1" dirty="0">
                <a:solidFill>
                  <a:srgbClr val="6B7A8C"/>
                </a:solidFill>
                <a:latin typeface="Calibri" pitchFamily="34" charset="0"/>
                <a:ea typeface="Calibri" pitchFamily="34" charset="-122"/>
                <a:cs typeface="Calibri" pitchFamily="34" charset="-120"/>
              </a:rPr>
              <a:t>escritorio</a:t>
            </a:r>
            <a:endParaRPr lang="en-US" sz="900" dirty="0"/>
          </a:p>
        </p:txBody>
      </p:sp>
      <p:sp>
        <p:nvSpPr>
          <p:cNvPr id="24" name="Shape 21"/>
          <p:cNvSpPr/>
          <p:nvPr/>
        </p:nvSpPr>
        <p:spPr>
          <a:xfrm flipH="1">
            <a:off x="7388352" y="1828800"/>
            <a:ext cx="128016" cy="1005840"/>
          </a:xfrm>
          <a:prstGeom prst="line">
            <a:avLst/>
          </a:prstGeom>
          <a:noFill/>
          <a:ln w="22225">
            <a:solidFill>
              <a:srgbClr val="C98700"/>
            </a:solidFill>
            <a:prstDash val="solid"/>
            <a:tailEnd type="triangle"/>
          </a:ln>
        </p:spPr>
      </p:sp>
      <p:sp>
        <p:nvSpPr>
          <p:cNvPr id="25" name="Shape 22"/>
          <p:cNvSpPr/>
          <p:nvPr/>
        </p:nvSpPr>
        <p:spPr>
          <a:xfrm>
            <a:off x="7543800" y="2514600"/>
            <a:ext cx="1143000" cy="457200"/>
          </a:xfrm>
          <a:prstGeom prst="roundRect">
            <a:avLst>
              <a:gd name="adj" fmla="val 16000"/>
            </a:avLst>
          </a:prstGeom>
          <a:solidFill>
            <a:srgbClr val="F3F5F8"/>
          </a:solidFill>
          <a:ln w="12700">
            <a:solidFill>
              <a:srgbClr val="D9DEE5"/>
            </a:solidFill>
            <a:prstDash val="solid"/>
          </a:ln>
        </p:spPr>
      </p:sp>
      <p:sp>
        <p:nvSpPr>
          <p:cNvPr id="26" name="Text 23"/>
          <p:cNvSpPr txBox="1"/>
          <p:nvPr/>
        </p:nvSpPr>
        <p:spPr>
          <a:xfrm>
            <a:off x="7543800" y="2514600"/>
            <a:ext cx="1143000" cy="457200"/>
          </a:xfrm>
          <a:prstGeom prst="rect">
            <a:avLst/>
          </a:prstGeom>
          <a:noFill/>
          <a:ln/>
        </p:spPr>
        <p:txBody>
          <a:bodyPr wrap="square" lIns="0" tIns="0" rIns="0" bIns="0" rtlCol="0" anchor="ctr"/>
          <a:lstStyle/>
          <a:p>
            <a:pPr algn="ctr" indent="0" marL="0">
              <a:buNone/>
            </a:pPr>
            <a:r>
              <a:rPr lang="en-US" sz="850" dirty="0">
                <a:solidFill>
                  <a:srgbClr val="1F2933"/>
                </a:solidFill>
                <a:latin typeface="Courier New" pitchFamily="34" charset="0"/>
                <a:ea typeface="Courier New" pitchFamily="34" charset="-122"/>
                <a:cs typeface="Courier New" pitchFamily="34" charset="-120"/>
              </a:rPr>
              <a:t>LoggerArchivo</a:t>
            </a:r>
            <a:endParaRPr lang="en-US" sz="850" dirty="0"/>
          </a:p>
        </p:txBody>
      </p:sp>
      <p:sp>
        <p:nvSpPr>
          <p:cNvPr id="27" name="Text 24"/>
          <p:cNvSpPr txBox="1"/>
          <p:nvPr/>
        </p:nvSpPr>
        <p:spPr>
          <a:xfrm>
            <a:off x="7543800" y="2971800"/>
            <a:ext cx="1143000" cy="201168"/>
          </a:xfrm>
          <a:prstGeom prst="rect">
            <a:avLst/>
          </a:prstGeom>
          <a:noFill/>
          <a:ln/>
        </p:spPr>
        <p:txBody>
          <a:bodyPr wrap="square" lIns="0" tIns="0" rIns="0" bIns="0" rtlCol="0" anchor="ctr"/>
          <a:lstStyle/>
          <a:p>
            <a:pPr algn="ctr" indent="0" marL="0">
              <a:buNone/>
            </a:pPr>
            <a:r>
              <a:rPr lang="en-US" sz="900" i="1" dirty="0">
                <a:solidFill>
                  <a:srgbClr val="6B7A8C"/>
                </a:solidFill>
                <a:latin typeface="Calibri" pitchFamily="34" charset="0"/>
                <a:ea typeface="Calibri" pitchFamily="34" charset="-122"/>
                <a:cs typeface="Calibri" pitchFamily="34" charset="-120"/>
              </a:rPr>
              <a:t>web</a:t>
            </a:r>
            <a:endParaRPr lang="en-US" sz="900" dirty="0"/>
          </a:p>
        </p:txBody>
      </p:sp>
      <p:sp>
        <p:nvSpPr>
          <p:cNvPr id="28" name="Shape 25"/>
          <p:cNvSpPr/>
          <p:nvPr/>
        </p:nvSpPr>
        <p:spPr>
          <a:xfrm flipH="1">
            <a:off x="7388352" y="2743200"/>
            <a:ext cx="128016" cy="91440"/>
          </a:xfrm>
          <a:prstGeom prst="line">
            <a:avLst/>
          </a:prstGeom>
          <a:noFill/>
          <a:ln w="22225">
            <a:solidFill>
              <a:srgbClr val="C98700"/>
            </a:solidFill>
            <a:prstDash val="solid"/>
            <a:tailEnd type="triangle"/>
          </a:ln>
        </p:spPr>
      </p:sp>
      <p:sp>
        <p:nvSpPr>
          <p:cNvPr id="29" name="Shape 26"/>
          <p:cNvSpPr/>
          <p:nvPr/>
        </p:nvSpPr>
        <p:spPr>
          <a:xfrm>
            <a:off x="7543800" y="3429000"/>
            <a:ext cx="1143000" cy="457200"/>
          </a:xfrm>
          <a:prstGeom prst="roundRect">
            <a:avLst>
              <a:gd name="adj" fmla="val 16000"/>
            </a:avLst>
          </a:prstGeom>
          <a:solidFill>
            <a:srgbClr val="F3F5F8"/>
          </a:solidFill>
          <a:ln w="12700">
            <a:solidFill>
              <a:srgbClr val="D9DEE5"/>
            </a:solidFill>
            <a:prstDash val="solid"/>
          </a:ln>
        </p:spPr>
      </p:sp>
      <p:sp>
        <p:nvSpPr>
          <p:cNvPr id="30" name="Text 27"/>
          <p:cNvSpPr txBox="1"/>
          <p:nvPr/>
        </p:nvSpPr>
        <p:spPr>
          <a:xfrm>
            <a:off x="7543800" y="3429000"/>
            <a:ext cx="1143000" cy="457200"/>
          </a:xfrm>
          <a:prstGeom prst="rect">
            <a:avLst/>
          </a:prstGeom>
          <a:noFill/>
          <a:ln/>
        </p:spPr>
        <p:txBody>
          <a:bodyPr wrap="square" lIns="0" tIns="0" rIns="0" bIns="0" rtlCol="0" anchor="ctr"/>
          <a:lstStyle/>
          <a:p>
            <a:pPr algn="ctr" indent="0" marL="0">
              <a:buNone/>
            </a:pPr>
            <a:r>
              <a:rPr lang="en-US" sz="850" dirty="0">
                <a:solidFill>
                  <a:srgbClr val="1F2933"/>
                </a:solidFill>
                <a:latin typeface="Courier New" pitchFamily="34" charset="0"/>
                <a:ea typeface="Courier New" pitchFamily="34" charset="-122"/>
                <a:cs typeface="Courier New" pitchFamily="34" charset="-120"/>
              </a:rPr>
              <a:t>LoggerMemoria</a:t>
            </a:r>
            <a:endParaRPr lang="en-US" sz="850" dirty="0"/>
          </a:p>
        </p:txBody>
      </p:sp>
      <p:sp>
        <p:nvSpPr>
          <p:cNvPr id="31" name="Text 28"/>
          <p:cNvSpPr txBox="1"/>
          <p:nvPr/>
        </p:nvSpPr>
        <p:spPr>
          <a:xfrm>
            <a:off x="7543800" y="3886200"/>
            <a:ext cx="1143000" cy="201168"/>
          </a:xfrm>
          <a:prstGeom prst="rect">
            <a:avLst/>
          </a:prstGeom>
          <a:noFill/>
          <a:ln/>
        </p:spPr>
        <p:txBody>
          <a:bodyPr wrap="square" lIns="0" tIns="0" rIns="0" bIns="0" rtlCol="0" anchor="ctr"/>
          <a:lstStyle/>
          <a:p>
            <a:pPr algn="ctr" indent="0" marL="0">
              <a:buNone/>
            </a:pPr>
            <a:r>
              <a:rPr lang="en-US" sz="900" i="1" dirty="0">
                <a:solidFill>
                  <a:srgbClr val="6B7A8C"/>
                </a:solidFill>
                <a:latin typeface="Calibri" pitchFamily="34" charset="0"/>
                <a:ea typeface="Calibri" pitchFamily="34" charset="-122"/>
                <a:cs typeface="Calibri" pitchFamily="34" charset="-120"/>
              </a:rPr>
              <a:t>móvil / pruebas</a:t>
            </a:r>
            <a:endParaRPr lang="en-US" sz="900" dirty="0"/>
          </a:p>
        </p:txBody>
      </p:sp>
      <p:sp>
        <p:nvSpPr>
          <p:cNvPr id="32" name="Shape 29"/>
          <p:cNvSpPr/>
          <p:nvPr/>
        </p:nvSpPr>
        <p:spPr>
          <a:xfrm flipH="1" flipV="1">
            <a:off x="7388352" y="2834640"/>
            <a:ext cx="128016" cy="822960"/>
          </a:xfrm>
          <a:prstGeom prst="line">
            <a:avLst/>
          </a:prstGeom>
          <a:noFill/>
          <a:ln w="22225">
            <a:solidFill>
              <a:srgbClr val="C98700"/>
            </a:solidFill>
            <a:prstDash val="solid"/>
            <a:tailEnd type="triangle"/>
          </a:ln>
        </p:spPr>
      </p:sp>
      <p:sp>
        <p:nvSpPr>
          <p:cNvPr id="33" name="Text 30"/>
          <p:cNvSpPr txBox="1"/>
          <p:nvPr/>
        </p:nvSpPr>
        <p:spPr>
          <a:xfrm>
            <a:off x="4709160" y="4160520"/>
            <a:ext cx="3977640" cy="320040"/>
          </a:xfrm>
          <a:prstGeom prst="rect">
            <a:avLst/>
          </a:prstGeom>
          <a:noFill/>
          <a:ln/>
        </p:spPr>
        <p:txBody>
          <a:bodyPr wrap="square" lIns="0" tIns="0" rIns="0" bIns="0" rtlCol="0" anchor="ctr"/>
          <a:lstStyle/>
          <a:p>
            <a:pPr algn="ctr" indent="0" marL="0">
              <a:buNone/>
            </a:pPr>
            <a:r>
              <a:rPr lang="en-US" sz="1100" b="1" dirty="0">
                <a:solidFill>
                  <a:srgbClr val="1B2A41"/>
                </a:solidFill>
                <a:latin typeface="Calibri" pitchFamily="34" charset="0"/>
                <a:ea typeface="Calibri" pitchFamily="34" charset="-122"/>
                <a:cs typeface="Calibri" pitchFamily="34" charset="-120"/>
              </a:rPr>
              <a:t>Todas las flechas apuntan a la interfaz: nadie depende de una clase concreta.</a:t>
            </a:r>
            <a:endParaRPr lang="en-US" sz="1100" dirty="0"/>
          </a:p>
        </p:txBody>
      </p:sp>
      <p:sp>
        <p:nvSpPr>
          <p:cNvPr id="34" name="Text 31"/>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6B7A8C"/>
                </a:solidFill>
                <a:latin typeface="Calibri" pitchFamily="34" charset="0"/>
                <a:ea typeface="Calibri" pitchFamily="34" charset="-122"/>
                <a:cs typeface="Calibri" pitchFamily="34" charset="-120"/>
              </a:rPr>
              <a:t>POO II · Temática 1 · Principios avanzados de POO · CUN</a:t>
            </a:r>
            <a:endParaRPr lang="en-US" sz="900" dirty="0"/>
          </a:p>
        </p:txBody>
      </p:sp>
      <p:sp>
        <p:nvSpPr>
          <p:cNvPr id="35" name="Text 32"/>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6B7A8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libri" pitchFamily="34" charset="0"/>
                <a:ea typeface="Calibri" pitchFamily="34" charset="-122"/>
                <a:cs typeface="Calibri" pitchFamily="34" charset="-120"/>
              </a:rPr>
              <a:t>Ejemplo práctico 3 · Logger</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Se escribe una vez; lo usan dos servicios y tres tipos de aplicación</a:t>
            </a:r>
            <a:endParaRPr lang="en-US" sz="1300" dirty="0"/>
          </a:p>
        </p:txBody>
      </p:sp>
      <p:sp>
        <p:nvSpPr>
          <p:cNvPr id="4" name="Shape 2"/>
          <p:cNvSpPr/>
          <p:nvPr/>
        </p:nvSpPr>
        <p:spPr>
          <a:xfrm>
            <a:off x="457200" y="1280160"/>
            <a:ext cx="4023360" cy="1828800"/>
          </a:xfrm>
          <a:prstGeom prst="roundRect">
            <a:avLst>
              <a:gd name="adj" fmla="val 5000"/>
            </a:avLst>
          </a:prstGeom>
          <a:solidFill>
            <a:srgbClr val="1E2430"/>
          </a:solidFill>
          <a:ln w="12700">
            <a:solidFill>
              <a:srgbClr val="1E2430"/>
            </a:solidFill>
            <a:prstDash val="solid"/>
          </a:ln>
          <a:effectLst>
            <a:outerShdw sx="100000" sy="100000" kx="0" ky="0" algn="bl" rotWithShape="0" blurRad="76200" dist="25400" dir="5400000">
              <a:srgbClr val="000000">
                <a:alpha val="18000"/>
              </a:srgbClr>
            </a:outerShdw>
          </a:effectLst>
        </p:spPr>
      </p:sp>
      <p:sp>
        <p:nvSpPr>
          <p:cNvPr id="5" name="Text 3"/>
          <p:cNvSpPr txBox="1"/>
          <p:nvPr/>
        </p:nvSpPr>
        <p:spPr>
          <a:xfrm>
            <a:off x="621792" y="1353312"/>
            <a:ext cx="3694176" cy="256032"/>
          </a:xfrm>
          <a:prstGeom prst="rect">
            <a:avLst/>
          </a:prstGeom>
          <a:noFill/>
          <a:ln/>
        </p:spPr>
        <p:txBody>
          <a:bodyPr wrap="square" lIns="0" tIns="0" rIns="0" bIns="0" rtlCol="0" anchor="ctr"/>
          <a:lstStyle/>
          <a:p>
            <a:pPr indent="0" marL="0">
              <a:buNone/>
            </a:pPr>
            <a:r>
              <a:rPr lang="en-US" sz="950" dirty="0">
                <a:solidFill>
                  <a:srgbClr val="F0A500"/>
                </a:solidFill>
                <a:latin typeface="Courier New" pitchFamily="34" charset="0"/>
                <a:ea typeface="Courier New" pitchFamily="34" charset="-122"/>
                <a:cs typeface="Courier New" pitchFamily="34" charset="-120"/>
              </a:rPr>
              <a:t>Logger.java — interfaz estándar</a:t>
            </a:r>
            <a:endParaRPr lang="en-US" sz="950" dirty="0"/>
          </a:p>
        </p:txBody>
      </p:sp>
      <p:sp>
        <p:nvSpPr>
          <p:cNvPr id="6" name="Text 4"/>
          <p:cNvSpPr txBox="1"/>
          <p:nvPr/>
        </p:nvSpPr>
        <p:spPr>
          <a:xfrm>
            <a:off x="621792" y="1645920"/>
            <a:ext cx="3694176" cy="1353312"/>
          </a:xfrm>
          <a:prstGeom prst="rect">
            <a:avLst/>
          </a:prstGeom>
          <a:noFill/>
          <a:ln/>
        </p:spPr>
        <p:txBody>
          <a:bodyPr wrap="square" lIns="0" tIns="0" rIns="0" bIns="0" rtlCol="0" anchor="t"/>
          <a:lstStyle/>
          <a:p>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interface</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Logger</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void</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info</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mensaje</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void</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error</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mensaje</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Throwable</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causa</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default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void</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advertencia</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m</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info</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C3E88D"/>
                </a:solidFill>
                <a:latin typeface="Courier New" pitchFamily="34" charset="0"/>
                <a:ea typeface="Courier New" pitchFamily="34" charset="-122"/>
                <a:cs typeface="Courier New" pitchFamily="34" charset="-120"/>
              </a:rPr>
              <a:t>"ADVERTENCIA: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m</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p:txBody>
      </p:sp>
      <p:sp>
        <p:nvSpPr>
          <p:cNvPr id="7" name="Shape 5"/>
          <p:cNvSpPr/>
          <p:nvPr/>
        </p:nvSpPr>
        <p:spPr>
          <a:xfrm>
            <a:off x="457200" y="3246120"/>
            <a:ext cx="4023360" cy="1234440"/>
          </a:xfrm>
          <a:prstGeom prst="roundRect">
            <a:avLst>
              <a:gd name="adj" fmla="val 7407"/>
            </a:avLst>
          </a:prstGeom>
          <a:solidFill>
            <a:srgbClr val="1E2430"/>
          </a:solidFill>
          <a:ln w="12700">
            <a:solidFill>
              <a:srgbClr val="1E2430"/>
            </a:solidFill>
            <a:prstDash val="solid"/>
          </a:ln>
          <a:effectLst>
            <a:outerShdw sx="100000" sy="100000" kx="0" ky="0" algn="bl" rotWithShape="0" blurRad="76200" dist="25400" dir="5400000">
              <a:srgbClr val="000000">
                <a:alpha val="18000"/>
              </a:srgbClr>
            </a:outerShdw>
          </a:effectLst>
        </p:spPr>
      </p:sp>
      <p:sp>
        <p:nvSpPr>
          <p:cNvPr id="8" name="Text 6"/>
          <p:cNvSpPr txBox="1"/>
          <p:nvPr/>
        </p:nvSpPr>
        <p:spPr>
          <a:xfrm>
            <a:off x="621792" y="3319272"/>
            <a:ext cx="3694176" cy="256032"/>
          </a:xfrm>
          <a:prstGeom prst="rect">
            <a:avLst/>
          </a:prstGeom>
          <a:noFill/>
          <a:ln/>
        </p:spPr>
        <p:txBody>
          <a:bodyPr wrap="square" lIns="0" tIns="0" rIns="0" bIns="0" rtlCol="0" anchor="ctr"/>
          <a:lstStyle/>
          <a:p>
            <a:pPr indent="0" marL="0">
              <a:buNone/>
            </a:pPr>
            <a:r>
              <a:rPr lang="en-US" sz="950" dirty="0">
                <a:solidFill>
                  <a:srgbClr val="F0A500"/>
                </a:solidFill>
                <a:latin typeface="Courier New" pitchFamily="34" charset="0"/>
                <a:ea typeface="Courier New" pitchFamily="34" charset="-122"/>
                <a:cs typeface="Courier New" pitchFamily="34" charset="-120"/>
              </a:rPr>
              <a:t>LoggerMemoria.java — para pruebas o móvil</a:t>
            </a:r>
            <a:endParaRPr lang="en-US" sz="950" dirty="0"/>
          </a:p>
        </p:txBody>
      </p:sp>
      <p:sp>
        <p:nvSpPr>
          <p:cNvPr id="9" name="Text 7"/>
          <p:cNvSpPr txBox="1"/>
          <p:nvPr/>
        </p:nvSpPr>
        <p:spPr>
          <a:xfrm>
            <a:off x="621792" y="3611880"/>
            <a:ext cx="3694176" cy="758952"/>
          </a:xfrm>
          <a:prstGeom prst="rect">
            <a:avLst/>
          </a:prstGeom>
          <a:noFill/>
          <a:ln/>
        </p:spPr>
        <p:txBody>
          <a:bodyPr wrap="square" lIns="0" tIns="0" rIns="0" bIns="0" rtlCol="0" anchor="t"/>
          <a:lstStyle/>
          <a:p>
            <a:pPr indent="0" marL="0">
              <a:lnSpc>
                <a:spcPct val="105000"/>
              </a:lnSpc>
              <a:buNone/>
            </a:pPr>
            <a:r>
              <a:rPr lang="en-US" sz="90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C792EA"/>
                </a:solidFill>
                <a:latin typeface="Courier New" pitchFamily="34" charset="0"/>
                <a:ea typeface="Courier New" pitchFamily="34" charset="-122"/>
                <a:cs typeface="Courier New" pitchFamily="34" charset="-120"/>
              </a:rPr>
              <a:t>class</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FFCB6B"/>
                </a:solidFill>
                <a:latin typeface="Courier New" pitchFamily="34" charset="0"/>
                <a:ea typeface="Courier New" pitchFamily="34" charset="-122"/>
                <a:cs typeface="Courier New" pitchFamily="34" charset="-120"/>
              </a:rPr>
              <a:t>LoggerMemoria</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C792EA"/>
                </a:solidFill>
                <a:latin typeface="Courier New" pitchFamily="34" charset="0"/>
                <a:ea typeface="Courier New" pitchFamily="34" charset="-122"/>
                <a:cs typeface="Courier New" pitchFamily="34" charset="-120"/>
              </a:rPr>
              <a:t>implements</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FFCB6B"/>
                </a:solidFill>
                <a:latin typeface="Courier New" pitchFamily="34" charset="0"/>
                <a:ea typeface="Courier New" pitchFamily="34" charset="-122"/>
                <a:cs typeface="Courier New" pitchFamily="34" charset="-120"/>
              </a:rPr>
              <a:t>Logger</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C792EA"/>
                </a:solidFill>
                <a:latin typeface="Courier New" pitchFamily="34" charset="0"/>
                <a:ea typeface="Courier New" pitchFamily="34" charset="-122"/>
                <a:cs typeface="Courier New" pitchFamily="34" charset="-120"/>
              </a:rPr>
              <a:t>private</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C792EA"/>
                </a:solidFill>
                <a:latin typeface="Courier New" pitchFamily="34" charset="0"/>
                <a:ea typeface="Courier New" pitchFamily="34" charset="-122"/>
                <a:cs typeface="Courier New" pitchFamily="34" charset="-120"/>
              </a:rPr>
              <a:t>final</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FFCB6B"/>
                </a:solidFill>
                <a:latin typeface="Courier New" pitchFamily="34" charset="0"/>
                <a:ea typeface="Courier New" pitchFamily="34" charset="-122"/>
                <a:cs typeface="Courier New" pitchFamily="34" charset="-120"/>
              </a:rPr>
              <a:t>List</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&lt;</a:t>
            </a:r>
            <a:pPr indent="0" marL="0">
              <a:lnSpc>
                <a:spcPct val="105000"/>
              </a:lnSpc>
              <a:buNone/>
            </a:pPr>
            <a:r>
              <a:rPr lang="en-US" sz="90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&gt;</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registros</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C792EA"/>
                </a:solidFill>
                <a:latin typeface="Courier New" pitchFamily="34" charset="0"/>
                <a:ea typeface="Courier New" pitchFamily="34" charset="-122"/>
                <a:cs typeface="Courier New" pitchFamily="34" charset="-120"/>
              </a:rPr>
              <a:t>void</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info</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0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m</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registros</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add</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m</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C792EA"/>
                </a:solidFill>
                <a:latin typeface="Courier New" pitchFamily="34" charset="0"/>
                <a:ea typeface="Courier New" pitchFamily="34" charset="-122"/>
                <a:cs typeface="Courier New" pitchFamily="34" charset="-120"/>
              </a:rPr>
              <a:t>void</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error</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0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m</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FFCB6B"/>
                </a:solidFill>
                <a:latin typeface="Courier New" pitchFamily="34" charset="0"/>
                <a:ea typeface="Courier New" pitchFamily="34" charset="-122"/>
                <a:cs typeface="Courier New" pitchFamily="34" charset="-120"/>
              </a:rPr>
              <a:t>Throwable</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c</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p:txBody>
      </p:sp>
      <p:sp>
        <p:nvSpPr>
          <p:cNvPr id="10" name="Shape 8"/>
          <p:cNvSpPr/>
          <p:nvPr/>
        </p:nvSpPr>
        <p:spPr>
          <a:xfrm>
            <a:off x="4709160" y="1280160"/>
            <a:ext cx="3977640" cy="1828800"/>
          </a:xfrm>
          <a:prstGeom prst="roundRect">
            <a:avLst>
              <a:gd name="adj" fmla="val 5000"/>
            </a:avLst>
          </a:prstGeom>
          <a:solidFill>
            <a:srgbClr val="1E2430"/>
          </a:solidFill>
          <a:ln w="12700">
            <a:solidFill>
              <a:srgbClr val="1E2430"/>
            </a:solidFill>
            <a:prstDash val="solid"/>
          </a:ln>
          <a:effectLst>
            <a:outerShdw sx="100000" sy="100000" kx="0" ky="0" algn="bl" rotWithShape="0" blurRad="76200" dist="25400" dir="5400000">
              <a:srgbClr val="000000">
                <a:alpha val="18000"/>
              </a:srgbClr>
            </a:outerShdw>
          </a:effectLst>
        </p:spPr>
      </p:sp>
      <p:sp>
        <p:nvSpPr>
          <p:cNvPr id="11" name="Text 9"/>
          <p:cNvSpPr txBox="1"/>
          <p:nvPr/>
        </p:nvSpPr>
        <p:spPr>
          <a:xfrm>
            <a:off x="4873752" y="1353312"/>
            <a:ext cx="3648456" cy="256032"/>
          </a:xfrm>
          <a:prstGeom prst="rect">
            <a:avLst/>
          </a:prstGeom>
          <a:noFill/>
          <a:ln/>
        </p:spPr>
        <p:txBody>
          <a:bodyPr wrap="square" lIns="0" tIns="0" rIns="0" bIns="0" rtlCol="0" anchor="ctr"/>
          <a:lstStyle/>
          <a:p>
            <a:pPr indent="0" marL="0">
              <a:buNone/>
            </a:pPr>
            <a:r>
              <a:rPr lang="en-US" sz="950" dirty="0">
                <a:solidFill>
                  <a:srgbClr val="F0A500"/>
                </a:solidFill>
                <a:latin typeface="Courier New" pitchFamily="34" charset="0"/>
                <a:ea typeface="Courier New" pitchFamily="34" charset="-122"/>
                <a:cs typeface="Courier New" pitchFamily="34" charset="-120"/>
              </a:rPr>
              <a:t>Uso — el cliente no cambia</a:t>
            </a:r>
            <a:endParaRPr lang="en-US" sz="950" dirty="0"/>
          </a:p>
        </p:txBody>
      </p:sp>
      <p:sp>
        <p:nvSpPr>
          <p:cNvPr id="12" name="Text 10"/>
          <p:cNvSpPr txBox="1"/>
          <p:nvPr/>
        </p:nvSpPr>
        <p:spPr>
          <a:xfrm>
            <a:off x="4873752" y="1645920"/>
            <a:ext cx="3648456" cy="1353312"/>
          </a:xfrm>
          <a:prstGeom prst="rect">
            <a:avLst/>
          </a:prstGeom>
          <a:noFill/>
          <a:ln/>
        </p:spPr>
        <p:txBody>
          <a:bodyPr wrap="square" lIns="0" tIns="0" rIns="0" bIns="0" rtlCol="0" anchor="t"/>
          <a:lstStyle/>
          <a:p>
            <a:pPr indent="0" marL="0">
              <a:lnSpc>
                <a:spcPct val="105000"/>
              </a:lnSpc>
              <a:buNone/>
            </a:pPr>
            <a:r>
              <a:rPr lang="en-US" sz="950" i="1" dirty="0">
                <a:solidFill>
                  <a:srgbClr val="8A94A6"/>
                </a:solidFill>
                <a:latin typeface="Courier New" pitchFamily="34" charset="0"/>
                <a:ea typeface="Courier New" pitchFamily="34" charset="-122"/>
                <a:cs typeface="Courier New" pitchFamily="34" charset="-120"/>
              </a:rPr>
              <a:t>// Escritorio: sale por consola</a:t>
            </a:r>
            <a:endParaRPr lang="en-US" sz="950" dirty="0"/>
          </a:p>
          <a:p>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Logger</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log</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new</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LoggerConsola</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C3E88D"/>
                </a:solidFill>
                <a:latin typeface="Courier New" pitchFamily="34" charset="0"/>
                <a:ea typeface="Courier New" pitchFamily="34" charset="-122"/>
                <a:cs typeface="Courier New" pitchFamily="34" charset="-120"/>
              </a:rPr>
              <a:t>"app"</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new</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ServicioAutenticacion</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repoSql</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log</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new</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ProcesadorDePagos</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log</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endParaRPr lang="en-US" sz="950" dirty="0"/>
          </a:p>
          <a:p>
            <a:pPr indent="0" marL="0">
              <a:lnSpc>
                <a:spcPct val="105000"/>
              </a:lnSpc>
              <a:buNone/>
            </a:pPr>
            <a:r>
              <a:rPr lang="en-US" sz="950" i="1" dirty="0">
                <a:solidFill>
                  <a:srgbClr val="8A94A6"/>
                </a:solidFill>
                <a:latin typeface="Courier New" pitchFamily="34" charset="0"/>
                <a:ea typeface="Courier New" pitchFamily="34" charset="-122"/>
                <a:cs typeface="Courier New" pitchFamily="34" charset="-120"/>
              </a:rPr>
              <a:t>// Móvil / pruebas: se guarda en memoria</a:t>
            </a:r>
            <a:endParaRPr lang="en-US" sz="950" dirty="0"/>
          </a:p>
          <a:p>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LoggerMemoria</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logMovil</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new</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LoggerMemoria</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C792EA"/>
                </a:solidFill>
                <a:latin typeface="Courier New" pitchFamily="34" charset="0"/>
                <a:ea typeface="Courier New" pitchFamily="34" charset="-122"/>
                <a:cs typeface="Courier New" pitchFamily="34" charset="-120"/>
              </a:rPr>
              <a:t>new</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ServicioAutenticacion</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repoMongo</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logMovil</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p:txBody>
      </p:sp>
      <p:sp>
        <p:nvSpPr>
          <p:cNvPr id="13" name="Shape 11"/>
          <p:cNvSpPr/>
          <p:nvPr/>
        </p:nvSpPr>
        <p:spPr>
          <a:xfrm>
            <a:off x="4709160" y="3246120"/>
            <a:ext cx="3977640" cy="1234440"/>
          </a:xfrm>
          <a:prstGeom prst="roundRect">
            <a:avLst>
              <a:gd name="adj" fmla="val 8889"/>
            </a:avLst>
          </a:prstGeom>
          <a:solidFill>
            <a:srgbClr val="F3F5F8"/>
          </a:solidFill>
          <a:ln w="9525">
            <a:solidFill>
              <a:srgbClr val="D9DEE5"/>
            </a:solidFill>
            <a:prstDash val="solid"/>
          </a:ln>
        </p:spPr>
      </p:sp>
      <p:sp>
        <p:nvSpPr>
          <p:cNvPr id="14" name="Shape 12"/>
          <p:cNvSpPr/>
          <p:nvPr/>
        </p:nvSpPr>
        <p:spPr>
          <a:xfrm>
            <a:off x="4846320" y="3401568"/>
            <a:ext cx="457200" cy="457200"/>
          </a:xfrm>
          <a:prstGeom prst="ellipse">
            <a:avLst/>
          </a:prstGeom>
          <a:solidFill>
            <a:srgbClr val="F0A500"/>
          </a:solidFill>
          <a:ln w="12700">
            <a:solidFill>
              <a:srgbClr val="F0A500"/>
            </a:solidFill>
            <a:prstDash val="solid"/>
          </a:ln>
        </p:spPr>
      </p:sp>
      <p:pic>
        <p:nvPicPr>
          <p:cNvPr id="15" name="Image 0" descr="preencoded.png">    </p:cNvPr>
          <p:cNvPicPr>
            <a:picLocks noChangeAspect="1"/>
          </p:cNvPicPr>
          <p:nvPr/>
        </p:nvPicPr>
        <p:blipFill>
          <a:blip r:embed="rId1"/>
          <a:stretch>
            <a:fillRect/>
          </a:stretch>
        </p:blipFill>
        <p:spPr>
          <a:xfrm>
            <a:off x="4965192" y="3520440"/>
            <a:ext cx="219456" cy="219456"/>
          </a:xfrm>
          <a:prstGeom prst="rect">
            <a:avLst/>
          </a:prstGeom>
        </p:spPr>
      </p:pic>
      <p:sp>
        <p:nvSpPr>
          <p:cNvPr id="16" name="Text 13"/>
          <p:cNvSpPr txBox="1"/>
          <p:nvPr/>
        </p:nvSpPr>
        <p:spPr>
          <a:xfrm>
            <a:off x="5394960" y="3364992"/>
            <a:ext cx="3200400" cy="105156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El método default advertencia() lo heredan todas las implementaciones sin escribirlo. Agregar LoggerArchivo no toca ni al servicio ni al procesador.</a:t>
            </a:r>
            <a:endParaRPr lang="en-US" sz="1150" dirty="0"/>
          </a:p>
        </p:txBody>
      </p:sp>
      <p:sp>
        <p:nvSpPr>
          <p:cNvPr id="17" name="Text 14"/>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6B7A8C"/>
                </a:solidFill>
                <a:latin typeface="Calibri" pitchFamily="34" charset="0"/>
                <a:ea typeface="Calibri" pitchFamily="34" charset="-122"/>
                <a:cs typeface="Calibri" pitchFamily="34" charset="-120"/>
              </a:rPr>
              <a:t>POO II · Temática 1 · Principios avanzados de POO · CUN</a:t>
            </a:r>
            <a:endParaRPr lang="en-US" sz="900" dirty="0"/>
          </a:p>
        </p:txBody>
      </p:sp>
      <p:sp>
        <p:nvSpPr>
          <p:cNvPr id="18" name="Text 15"/>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6B7A8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libri" pitchFamily="34" charset="0"/>
                <a:ea typeface="Calibri" pitchFamily="34" charset="-122"/>
                <a:cs typeface="Calibri" pitchFamily="34" charset="-120"/>
              </a:rPr>
              <a:t>SOLID: la base teórica detrás de los ejemplos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Cairo Battistutti (2022) · Cohesión alta + bajo acoplamiento + reutilización son su resultado</a:t>
            </a:r>
            <a:endParaRPr lang="en-US" sz="1300" dirty="0"/>
          </a:p>
        </p:txBody>
      </p:sp>
      <p:sp>
        <p:nvSpPr>
          <p:cNvPr id="4" name="Shape 2"/>
          <p:cNvSpPr/>
          <p:nvPr/>
        </p:nvSpPr>
        <p:spPr>
          <a:xfrm>
            <a:off x="457200" y="1280160"/>
            <a:ext cx="8229600" cy="603504"/>
          </a:xfrm>
          <a:prstGeom prst="roundRect">
            <a:avLst>
              <a:gd name="adj" fmla="val 18182"/>
            </a:avLst>
          </a:prstGeom>
          <a:solidFill>
            <a:srgbClr val="F3F5F8"/>
          </a:solidFill>
          <a:ln w="9525">
            <a:solidFill>
              <a:srgbClr val="D9DEE5"/>
            </a:solidFill>
            <a:prstDash val="solid"/>
          </a:ln>
        </p:spPr>
      </p:sp>
      <p:sp>
        <p:nvSpPr>
          <p:cNvPr id="5" name="Shape 3"/>
          <p:cNvSpPr/>
          <p:nvPr/>
        </p:nvSpPr>
        <p:spPr>
          <a:xfrm>
            <a:off x="594360" y="1371600"/>
            <a:ext cx="420624" cy="420624"/>
          </a:xfrm>
          <a:prstGeom prst="ellipse">
            <a:avLst/>
          </a:prstGeom>
          <a:solidFill>
            <a:srgbClr val="F0A500"/>
          </a:solidFill>
          <a:ln w="12700">
            <a:solidFill>
              <a:srgbClr val="F0A500"/>
            </a:solidFill>
            <a:prstDash val="solid"/>
          </a:ln>
        </p:spPr>
      </p:sp>
      <p:sp>
        <p:nvSpPr>
          <p:cNvPr id="6" name="Text 4"/>
          <p:cNvSpPr txBox="1"/>
          <p:nvPr/>
        </p:nvSpPr>
        <p:spPr>
          <a:xfrm>
            <a:off x="594360" y="1371600"/>
            <a:ext cx="420624" cy="420624"/>
          </a:xfrm>
          <a:prstGeom prst="rect">
            <a:avLst/>
          </a:prstGeom>
          <a:noFill/>
          <a:ln/>
        </p:spPr>
        <p:txBody>
          <a:bodyPr wrap="square" lIns="0" tIns="0" rIns="0" bIns="0" rtlCol="0" anchor="ctr"/>
          <a:lstStyle/>
          <a:p>
            <a:pPr algn="ctr" indent="0" marL="0">
              <a:buNone/>
            </a:pPr>
            <a:r>
              <a:rPr lang="en-US" sz="1600" b="1" dirty="0">
                <a:solidFill>
                  <a:srgbClr val="1B2A41"/>
                </a:solidFill>
                <a:latin typeface="Calibri" pitchFamily="34" charset="0"/>
                <a:ea typeface="Calibri" pitchFamily="34" charset="-122"/>
                <a:cs typeface="Calibri" pitchFamily="34" charset="-120"/>
              </a:rPr>
              <a:t>S</a:t>
            </a:r>
            <a:endParaRPr lang="en-US" sz="1600" dirty="0"/>
          </a:p>
        </p:txBody>
      </p:sp>
      <p:sp>
        <p:nvSpPr>
          <p:cNvPr id="7" name="Text 5"/>
          <p:cNvSpPr txBox="1"/>
          <p:nvPr/>
        </p:nvSpPr>
        <p:spPr>
          <a:xfrm>
            <a:off x="1188720" y="1353312"/>
            <a:ext cx="2103120" cy="457200"/>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Responsabilidad única</a:t>
            </a:r>
            <a:endParaRPr lang="en-US" sz="1250" dirty="0"/>
          </a:p>
        </p:txBody>
      </p:sp>
      <p:sp>
        <p:nvSpPr>
          <p:cNvPr id="8" name="Text 6"/>
          <p:cNvSpPr txBox="1"/>
          <p:nvPr/>
        </p:nvSpPr>
        <p:spPr>
          <a:xfrm>
            <a:off x="3383280" y="1353312"/>
            <a:ext cx="2468880" cy="45720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Una clase debe tener una sola razón para cambiar.</a:t>
            </a:r>
            <a:endParaRPr lang="en-US" sz="1100" dirty="0"/>
          </a:p>
        </p:txBody>
      </p:sp>
      <p:sp>
        <p:nvSpPr>
          <p:cNvPr id="9" name="Text 7"/>
          <p:cNvSpPr txBox="1"/>
          <p:nvPr/>
        </p:nvSpPr>
        <p:spPr>
          <a:xfrm>
            <a:off x="5989320" y="1353312"/>
            <a:ext cx="2606040" cy="457200"/>
          </a:xfrm>
          <a:prstGeom prst="rect">
            <a:avLst/>
          </a:prstGeom>
          <a:noFill/>
          <a:ln/>
        </p:spPr>
        <p:txBody>
          <a:bodyPr wrap="square" lIns="0" tIns="0" rIns="0" bIns="0" rtlCol="0" anchor="ctr"/>
          <a:lstStyle/>
          <a:p>
            <a:pPr indent="0" marL="0">
              <a:buNone/>
            </a:pPr>
            <a:r>
              <a:rPr lang="en-US" sz="1100" i="1" dirty="0">
                <a:solidFill>
                  <a:srgbClr val="C98700"/>
                </a:solidFill>
                <a:latin typeface="Calibri" pitchFamily="34" charset="0"/>
                <a:ea typeface="Calibri" pitchFamily="34" charset="-122"/>
                <a:cs typeface="Calibri" pitchFamily="34" charset="-120"/>
              </a:rPr>
              <a:t>Factura calcula; RepositorioFacturas guarda.</a:t>
            </a:r>
            <a:endParaRPr lang="en-US" sz="1100" dirty="0"/>
          </a:p>
        </p:txBody>
      </p:sp>
      <p:sp>
        <p:nvSpPr>
          <p:cNvPr id="10" name="Shape 8"/>
          <p:cNvSpPr/>
          <p:nvPr/>
        </p:nvSpPr>
        <p:spPr>
          <a:xfrm>
            <a:off x="457200" y="1920240"/>
            <a:ext cx="8229600" cy="603504"/>
          </a:xfrm>
          <a:prstGeom prst="roundRect">
            <a:avLst>
              <a:gd name="adj" fmla="val 18182"/>
            </a:avLst>
          </a:prstGeom>
          <a:solidFill>
            <a:srgbClr val="FFFFFF"/>
          </a:solidFill>
          <a:ln w="9525">
            <a:solidFill>
              <a:srgbClr val="D9DEE5"/>
            </a:solidFill>
            <a:prstDash val="solid"/>
          </a:ln>
        </p:spPr>
      </p:sp>
      <p:sp>
        <p:nvSpPr>
          <p:cNvPr id="11" name="Shape 9"/>
          <p:cNvSpPr/>
          <p:nvPr/>
        </p:nvSpPr>
        <p:spPr>
          <a:xfrm>
            <a:off x="594360" y="2011680"/>
            <a:ext cx="420624" cy="420624"/>
          </a:xfrm>
          <a:prstGeom prst="ellipse">
            <a:avLst/>
          </a:prstGeom>
          <a:solidFill>
            <a:srgbClr val="F0A500"/>
          </a:solidFill>
          <a:ln w="12700">
            <a:solidFill>
              <a:srgbClr val="F0A500"/>
            </a:solidFill>
            <a:prstDash val="solid"/>
          </a:ln>
        </p:spPr>
      </p:sp>
      <p:sp>
        <p:nvSpPr>
          <p:cNvPr id="12" name="Text 10"/>
          <p:cNvSpPr txBox="1"/>
          <p:nvPr/>
        </p:nvSpPr>
        <p:spPr>
          <a:xfrm>
            <a:off x="594360" y="2011680"/>
            <a:ext cx="420624" cy="420624"/>
          </a:xfrm>
          <a:prstGeom prst="rect">
            <a:avLst/>
          </a:prstGeom>
          <a:noFill/>
          <a:ln/>
        </p:spPr>
        <p:txBody>
          <a:bodyPr wrap="square" lIns="0" tIns="0" rIns="0" bIns="0" rtlCol="0" anchor="ctr"/>
          <a:lstStyle/>
          <a:p>
            <a:pPr algn="ctr" indent="0" marL="0">
              <a:buNone/>
            </a:pPr>
            <a:r>
              <a:rPr lang="en-US" sz="1600" b="1" dirty="0">
                <a:solidFill>
                  <a:srgbClr val="1B2A41"/>
                </a:solidFill>
                <a:latin typeface="Calibri" pitchFamily="34" charset="0"/>
                <a:ea typeface="Calibri" pitchFamily="34" charset="-122"/>
                <a:cs typeface="Calibri" pitchFamily="34" charset="-120"/>
              </a:rPr>
              <a:t>O</a:t>
            </a:r>
            <a:endParaRPr lang="en-US" sz="1600" dirty="0"/>
          </a:p>
        </p:txBody>
      </p:sp>
      <p:sp>
        <p:nvSpPr>
          <p:cNvPr id="13" name="Text 11"/>
          <p:cNvSpPr txBox="1"/>
          <p:nvPr/>
        </p:nvSpPr>
        <p:spPr>
          <a:xfrm>
            <a:off x="1188720" y="1993392"/>
            <a:ext cx="2103120" cy="457200"/>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Abierto / Cerrado</a:t>
            </a:r>
            <a:endParaRPr lang="en-US" sz="1250" dirty="0"/>
          </a:p>
        </p:txBody>
      </p:sp>
      <p:sp>
        <p:nvSpPr>
          <p:cNvPr id="14" name="Text 12"/>
          <p:cNvSpPr txBox="1"/>
          <p:nvPr/>
        </p:nvSpPr>
        <p:spPr>
          <a:xfrm>
            <a:off x="3383280" y="1993392"/>
            <a:ext cx="2468880" cy="45720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Abierto para extensión, cerrado para modificación.</a:t>
            </a:r>
            <a:endParaRPr lang="en-US" sz="1100" dirty="0"/>
          </a:p>
        </p:txBody>
      </p:sp>
      <p:sp>
        <p:nvSpPr>
          <p:cNvPr id="15" name="Text 13"/>
          <p:cNvSpPr txBox="1"/>
          <p:nvPr/>
        </p:nvSpPr>
        <p:spPr>
          <a:xfrm>
            <a:off x="5989320" y="1993392"/>
            <a:ext cx="2606040" cy="457200"/>
          </a:xfrm>
          <a:prstGeom prst="rect">
            <a:avLst/>
          </a:prstGeom>
          <a:noFill/>
          <a:ln/>
        </p:spPr>
        <p:txBody>
          <a:bodyPr wrap="square" lIns="0" tIns="0" rIns="0" bIns="0" rtlCol="0" anchor="ctr"/>
          <a:lstStyle/>
          <a:p>
            <a:pPr indent="0" marL="0">
              <a:buNone/>
            </a:pPr>
            <a:r>
              <a:rPr lang="en-US" sz="1100" i="1" dirty="0">
                <a:solidFill>
                  <a:srgbClr val="C98700"/>
                </a:solidFill>
                <a:latin typeface="Calibri" pitchFamily="34" charset="0"/>
                <a:ea typeface="Calibri" pitchFamily="34" charset="-122"/>
                <a:cs typeface="Calibri" pitchFamily="34" charset="-120"/>
              </a:rPr>
              <a:t>Nuevo Logger o nuevo repositorio = clase nueva, servicio intacto.</a:t>
            </a:r>
            <a:endParaRPr lang="en-US" sz="1100" dirty="0"/>
          </a:p>
        </p:txBody>
      </p:sp>
      <p:sp>
        <p:nvSpPr>
          <p:cNvPr id="16" name="Shape 14"/>
          <p:cNvSpPr/>
          <p:nvPr/>
        </p:nvSpPr>
        <p:spPr>
          <a:xfrm>
            <a:off x="457200" y="2560320"/>
            <a:ext cx="8229600" cy="603504"/>
          </a:xfrm>
          <a:prstGeom prst="roundRect">
            <a:avLst>
              <a:gd name="adj" fmla="val 18182"/>
            </a:avLst>
          </a:prstGeom>
          <a:solidFill>
            <a:srgbClr val="F3F5F8"/>
          </a:solidFill>
          <a:ln w="9525">
            <a:solidFill>
              <a:srgbClr val="D9DEE5"/>
            </a:solidFill>
            <a:prstDash val="solid"/>
          </a:ln>
        </p:spPr>
      </p:sp>
      <p:sp>
        <p:nvSpPr>
          <p:cNvPr id="17" name="Shape 15"/>
          <p:cNvSpPr/>
          <p:nvPr/>
        </p:nvSpPr>
        <p:spPr>
          <a:xfrm>
            <a:off x="594360" y="2651760"/>
            <a:ext cx="420624" cy="420624"/>
          </a:xfrm>
          <a:prstGeom prst="ellipse">
            <a:avLst/>
          </a:prstGeom>
          <a:solidFill>
            <a:srgbClr val="F0A500"/>
          </a:solidFill>
          <a:ln w="12700">
            <a:solidFill>
              <a:srgbClr val="F0A500"/>
            </a:solidFill>
            <a:prstDash val="solid"/>
          </a:ln>
        </p:spPr>
      </p:sp>
      <p:sp>
        <p:nvSpPr>
          <p:cNvPr id="18" name="Text 16"/>
          <p:cNvSpPr txBox="1"/>
          <p:nvPr/>
        </p:nvSpPr>
        <p:spPr>
          <a:xfrm>
            <a:off x="594360" y="2651760"/>
            <a:ext cx="420624" cy="420624"/>
          </a:xfrm>
          <a:prstGeom prst="rect">
            <a:avLst/>
          </a:prstGeom>
          <a:noFill/>
          <a:ln/>
        </p:spPr>
        <p:txBody>
          <a:bodyPr wrap="square" lIns="0" tIns="0" rIns="0" bIns="0" rtlCol="0" anchor="ctr"/>
          <a:lstStyle/>
          <a:p>
            <a:pPr algn="ctr" indent="0" marL="0">
              <a:buNone/>
            </a:pPr>
            <a:r>
              <a:rPr lang="en-US" sz="1600" b="1" dirty="0">
                <a:solidFill>
                  <a:srgbClr val="1B2A41"/>
                </a:solidFill>
                <a:latin typeface="Calibri" pitchFamily="34" charset="0"/>
                <a:ea typeface="Calibri" pitchFamily="34" charset="-122"/>
                <a:cs typeface="Calibri" pitchFamily="34" charset="-120"/>
              </a:rPr>
              <a:t>L</a:t>
            </a:r>
            <a:endParaRPr lang="en-US" sz="1600" dirty="0"/>
          </a:p>
        </p:txBody>
      </p:sp>
      <p:sp>
        <p:nvSpPr>
          <p:cNvPr id="19" name="Text 17"/>
          <p:cNvSpPr txBox="1"/>
          <p:nvPr/>
        </p:nvSpPr>
        <p:spPr>
          <a:xfrm>
            <a:off x="1188720" y="2633472"/>
            <a:ext cx="2103120" cy="457200"/>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Sustitución de Liskov</a:t>
            </a:r>
            <a:endParaRPr lang="en-US" sz="1250" dirty="0"/>
          </a:p>
        </p:txBody>
      </p:sp>
      <p:sp>
        <p:nvSpPr>
          <p:cNvPr id="20" name="Text 18"/>
          <p:cNvSpPr txBox="1"/>
          <p:nvPr/>
        </p:nvSpPr>
        <p:spPr>
          <a:xfrm>
            <a:off x="3383280" y="2633472"/>
            <a:ext cx="2468880" cy="45720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Una subclase debe poder reemplazar a su superclase.</a:t>
            </a:r>
            <a:endParaRPr lang="en-US" sz="1100" dirty="0"/>
          </a:p>
        </p:txBody>
      </p:sp>
      <p:sp>
        <p:nvSpPr>
          <p:cNvPr id="21" name="Text 19"/>
          <p:cNvSpPr txBox="1"/>
          <p:nvPr/>
        </p:nvSpPr>
        <p:spPr>
          <a:xfrm>
            <a:off x="5989320" y="2633472"/>
            <a:ext cx="2606040" cy="457200"/>
          </a:xfrm>
          <a:prstGeom prst="rect">
            <a:avLst/>
          </a:prstGeom>
          <a:noFill/>
          <a:ln/>
        </p:spPr>
        <p:txBody>
          <a:bodyPr wrap="square" lIns="0" tIns="0" rIns="0" bIns="0" rtlCol="0" anchor="ctr"/>
          <a:lstStyle/>
          <a:p>
            <a:pPr indent="0" marL="0">
              <a:buNone/>
            </a:pPr>
            <a:r>
              <a:rPr lang="en-US" sz="1100" i="1" dirty="0">
                <a:solidFill>
                  <a:srgbClr val="C98700"/>
                </a:solidFill>
                <a:latin typeface="Calibri" pitchFamily="34" charset="0"/>
                <a:ea typeface="Calibri" pitchFamily="34" charset="-122"/>
                <a:cs typeface="Calibri" pitchFamily="34" charset="-120"/>
              </a:rPr>
              <a:t>Donde se espera un Logger sirve LoggerConsola o LoggerMemoria.</a:t>
            </a:r>
            <a:endParaRPr lang="en-US" sz="1100" dirty="0"/>
          </a:p>
        </p:txBody>
      </p:sp>
      <p:sp>
        <p:nvSpPr>
          <p:cNvPr id="22" name="Shape 20"/>
          <p:cNvSpPr/>
          <p:nvPr/>
        </p:nvSpPr>
        <p:spPr>
          <a:xfrm>
            <a:off x="457200" y="3200400"/>
            <a:ext cx="8229600" cy="603504"/>
          </a:xfrm>
          <a:prstGeom prst="roundRect">
            <a:avLst>
              <a:gd name="adj" fmla="val 18182"/>
            </a:avLst>
          </a:prstGeom>
          <a:solidFill>
            <a:srgbClr val="FFFFFF"/>
          </a:solidFill>
          <a:ln w="9525">
            <a:solidFill>
              <a:srgbClr val="D9DEE5"/>
            </a:solidFill>
            <a:prstDash val="solid"/>
          </a:ln>
        </p:spPr>
      </p:sp>
      <p:sp>
        <p:nvSpPr>
          <p:cNvPr id="23" name="Shape 21"/>
          <p:cNvSpPr/>
          <p:nvPr/>
        </p:nvSpPr>
        <p:spPr>
          <a:xfrm>
            <a:off x="594360" y="3291840"/>
            <a:ext cx="420624" cy="420624"/>
          </a:xfrm>
          <a:prstGeom prst="ellipse">
            <a:avLst/>
          </a:prstGeom>
          <a:solidFill>
            <a:srgbClr val="F0A500"/>
          </a:solidFill>
          <a:ln w="12700">
            <a:solidFill>
              <a:srgbClr val="F0A500"/>
            </a:solidFill>
            <a:prstDash val="solid"/>
          </a:ln>
        </p:spPr>
      </p:sp>
      <p:sp>
        <p:nvSpPr>
          <p:cNvPr id="24" name="Text 22"/>
          <p:cNvSpPr txBox="1"/>
          <p:nvPr/>
        </p:nvSpPr>
        <p:spPr>
          <a:xfrm>
            <a:off x="594360" y="3291840"/>
            <a:ext cx="420624" cy="420624"/>
          </a:xfrm>
          <a:prstGeom prst="rect">
            <a:avLst/>
          </a:prstGeom>
          <a:noFill/>
          <a:ln/>
        </p:spPr>
        <p:txBody>
          <a:bodyPr wrap="square" lIns="0" tIns="0" rIns="0" bIns="0" rtlCol="0" anchor="ctr"/>
          <a:lstStyle/>
          <a:p>
            <a:pPr algn="ctr" indent="0" marL="0">
              <a:buNone/>
            </a:pPr>
            <a:r>
              <a:rPr lang="en-US" sz="1600" b="1" dirty="0">
                <a:solidFill>
                  <a:srgbClr val="1B2A41"/>
                </a:solidFill>
                <a:latin typeface="Calibri" pitchFamily="34" charset="0"/>
                <a:ea typeface="Calibri" pitchFamily="34" charset="-122"/>
                <a:cs typeface="Calibri" pitchFamily="34" charset="-120"/>
              </a:rPr>
              <a:t>I</a:t>
            </a:r>
            <a:endParaRPr lang="en-US" sz="1600" dirty="0"/>
          </a:p>
        </p:txBody>
      </p:sp>
      <p:sp>
        <p:nvSpPr>
          <p:cNvPr id="25" name="Text 23"/>
          <p:cNvSpPr txBox="1"/>
          <p:nvPr/>
        </p:nvSpPr>
        <p:spPr>
          <a:xfrm>
            <a:off x="1188720" y="3273552"/>
            <a:ext cx="2103120" cy="457200"/>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Segregación de interfaces</a:t>
            </a:r>
            <a:endParaRPr lang="en-US" sz="1250" dirty="0"/>
          </a:p>
        </p:txBody>
      </p:sp>
      <p:sp>
        <p:nvSpPr>
          <p:cNvPr id="26" name="Text 24"/>
          <p:cNvSpPr txBox="1"/>
          <p:nvPr/>
        </p:nvSpPr>
        <p:spPr>
          <a:xfrm>
            <a:off x="3383280" y="3273552"/>
            <a:ext cx="2468880" cy="45720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Muchas interfaces específicas mejor que una general.</a:t>
            </a:r>
            <a:endParaRPr lang="en-US" sz="1100" dirty="0"/>
          </a:p>
        </p:txBody>
      </p:sp>
      <p:sp>
        <p:nvSpPr>
          <p:cNvPr id="27" name="Text 25"/>
          <p:cNvSpPr txBox="1"/>
          <p:nvPr/>
        </p:nvSpPr>
        <p:spPr>
          <a:xfrm>
            <a:off x="5989320" y="3273552"/>
            <a:ext cx="2606040" cy="457200"/>
          </a:xfrm>
          <a:prstGeom prst="rect">
            <a:avLst/>
          </a:prstGeom>
          <a:noFill/>
          <a:ln/>
        </p:spPr>
        <p:txBody>
          <a:bodyPr wrap="square" lIns="0" tIns="0" rIns="0" bIns="0" rtlCol="0" anchor="ctr"/>
          <a:lstStyle/>
          <a:p>
            <a:pPr indent="0" marL="0">
              <a:buNone/>
            </a:pPr>
            <a:r>
              <a:rPr lang="en-US" sz="1100" i="1" dirty="0">
                <a:solidFill>
                  <a:srgbClr val="C98700"/>
                </a:solidFill>
                <a:latin typeface="Calibri" pitchFamily="34" charset="0"/>
                <a:ea typeface="Calibri" pitchFamily="34" charset="-122"/>
                <a:cs typeface="Calibri" pitchFamily="34" charset="-120"/>
              </a:rPr>
              <a:t>RepositorioUsuarios pide solo lo que autenticación necesita.</a:t>
            </a:r>
            <a:endParaRPr lang="en-US" sz="1100" dirty="0"/>
          </a:p>
        </p:txBody>
      </p:sp>
      <p:sp>
        <p:nvSpPr>
          <p:cNvPr id="28" name="Shape 26"/>
          <p:cNvSpPr/>
          <p:nvPr/>
        </p:nvSpPr>
        <p:spPr>
          <a:xfrm>
            <a:off x="457200" y="3840480"/>
            <a:ext cx="8229600" cy="603504"/>
          </a:xfrm>
          <a:prstGeom prst="roundRect">
            <a:avLst>
              <a:gd name="adj" fmla="val 18182"/>
            </a:avLst>
          </a:prstGeom>
          <a:solidFill>
            <a:srgbClr val="F3F5F8"/>
          </a:solidFill>
          <a:ln w="9525">
            <a:solidFill>
              <a:srgbClr val="D9DEE5"/>
            </a:solidFill>
            <a:prstDash val="solid"/>
          </a:ln>
        </p:spPr>
      </p:sp>
      <p:sp>
        <p:nvSpPr>
          <p:cNvPr id="29" name="Shape 27"/>
          <p:cNvSpPr/>
          <p:nvPr/>
        </p:nvSpPr>
        <p:spPr>
          <a:xfrm>
            <a:off x="594360" y="3931920"/>
            <a:ext cx="420624" cy="420624"/>
          </a:xfrm>
          <a:prstGeom prst="ellipse">
            <a:avLst/>
          </a:prstGeom>
          <a:solidFill>
            <a:srgbClr val="F0A500"/>
          </a:solidFill>
          <a:ln w="12700">
            <a:solidFill>
              <a:srgbClr val="F0A500"/>
            </a:solidFill>
            <a:prstDash val="solid"/>
          </a:ln>
        </p:spPr>
      </p:sp>
      <p:sp>
        <p:nvSpPr>
          <p:cNvPr id="30" name="Text 28"/>
          <p:cNvSpPr txBox="1"/>
          <p:nvPr/>
        </p:nvSpPr>
        <p:spPr>
          <a:xfrm>
            <a:off x="594360" y="3931920"/>
            <a:ext cx="420624" cy="420624"/>
          </a:xfrm>
          <a:prstGeom prst="rect">
            <a:avLst/>
          </a:prstGeom>
          <a:noFill/>
          <a:ln/>
        </p:spPr>
        <p:txBody>
          <a:bodyPr wrap="square" lIns="0" tIns="0" rIns="0" bIns="0" rtlCol="0" anchor="ctr"/>
          <a:lstStyle/>
          <a:p>
            <a:pPr algn="ctr" indent="0" marL="0">
              <a:buNone/>
            </a:pPr>
            <a:r>
              <a:rPr lang="en-US" sz="1600" b="1" dirty="0">
                <a:solidFill>
                  <a:srgbClr val="1B2A41"/>
                </a:solidFill>
                <a:latin typeface="Calibri" pitchFamily="34" charset="0"/>
                <a:ea typeface="Calibri" pitchFamily="34" charset="-122"/>
                <a:cs typeface="Calibri" pitchFamily="34" charset="-120"/>
              </a:rPr>
              <a:t>D</a:t>
            </a:r>
            <a:endParaRPr lang="en-US" sz="1600" dirty="0"/>
          </a:p>
        </p:txBody>
      </p:sp>
      <p:sp>
        <p:nvSpPr>
          <p:cNvPr id="31" name="Text 29"/>
          <p:cNvSpPr txBox="1"/>
          <p:nvPr/>
        </p:nvSpPr>
        <p:spPr>
          <a:xfrm>
            <a:off x="1188720" y="3913632"/>
            <a:ext cx="2103120" cy="457200"/>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Inversión de dependencias</a:t>
            </a:r>
            <a:endParaRPr lang="en-US" sz="1250" dirty="0"/>
          </a:p>
        </p:txBody>
      </p:sp>
      <p:sp>
        <p:nvSpPr>
          <p:cNvPr id="32" name="Text 30"/>
          <p:cNvSpPr txBox="1"/>
          <p:nvPr/>
        </p:nvSpPr>
        <p:spPr>
          <a:xfrm>
            <a:off x="3383280" y="3913632"/>
            <a:ext cx="2468880" cy="45720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Depender de abstracciones, no de implementaciones.</a:t>
            </a:r>
            <a:endParaRPr lang="en-US" sz="1100" dirty="0"/>
          </a:p>
        </p:txBody>
      </p:sp>
      <p:sp>
        <p:nvSpPr>
          <p:cNvPr id="33" name="Text 31"/>
          <p:cNvSpPr txBox="1"/>
          <p:nvPr/>
        </p:nvSpPr>
        <p:spPr>
          <a:xfrm>
            <a:off x="5989320" y="3913632"/>
            <a:ext cx="2606040" cy="457200"/>
          </a:xfrm>
          <a:prstGeom prst="rect">
            <a:avLst/>
          </a:prstGeom>
          <a:noFill/>
          <a:ln/>
        </p:spPr>
        <p:txBody>
          <a:bodyPr wrap="square" lIns="0" tIns="0" rIns="0" bIns="0" rtlCol="0" anchor="ctr"/>
          <a:lstStyle/>
          <a:p>
            <a:pPr indent="0" marL="0">
              <a:buNone/>
            </a:pPr>
            <a:r>
              <a:rPr lang="en-US" sz="1100" i="1" dirty="0">
                <a:solidFill>
                  <a:srgbClr val="C98700"/>
                </a:solidFill>
                <a:latin typeface="Calibri" pitchFamily="34" charset="0"/>
                <a:ea typeface="Calibri" pitchFamily="34" charset="-122"/>
                <a:cs typeface="Calibri" pitchFamily="34" charset="-120"/>
              </a:rPr>
              <a:t>ServicioAutenticacion recibe interfaces por constructor.</a:t>
            </a:r>
            <a:endParaRPr lang="en-US" sz="1100" dirty="0"/>
          </a:p>
        </p:txBody>
      </p:sp>
      <p:sp>
        <p:nvSpPr>
          <p:cNvPr id="34" name="Text 3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6B7A8C"/>
                </a:solidFill>
                <a:latin typeface="Calibri" pitchFamily="34" charset="0"/>
                <a:ea typeface="Calibri" pitchFamily="34" charset="-122"/>
                <a:cs typeface="Calibri" pitchFamily="34" charset="-120"/>
              </a:rPr>
              <a:t>POO II · Temática 1 · Principios avanzados de POO · CUN</a:t>
            </a:r>
            <a:endParaRPr lang="en-US" sz="900" dirty="0"/>
          </a:p>
        </p:txBody>
      </p:sp>
      <p:sp>
        <p:nvSpPr>
          <p:cNvPr id="35" name="Text 33"/>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6B7A8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libri" pitchFamily="34" charset="0"/>
                <a:ea typeface="Calibri" pitchFamily="34" charset="-122"/>
                <a:cs typeface="Calibri" pitchFamily="34" charset="-120"/>
              </a:rPr>
              <a:t>Manejo de excepciones en POO</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Capturar y tratar errores en ejecución sin comprometer la estabilidad del sistema · Navarro &amp; Rodríguez (2023)</a:t>
            </a:r>
            <a:endParaRPr lang="en-US" sz="1300" dirty="0"/>
          </a:p>
        </p:txBody>
      </p:sp>
      <p:sp>
        <p:nvSpPr>
          <p:cNvPr id="4" name="Shape 2"/>
          <p:cNvSpPr/>
          <p:nvPr/>
        </p:nvSpPr>
        <p:spPr>
          <a:xfrm>
            <a:off x="457200" y="1417320"/>
            <a:ext cx="2651760" cy="3063240"/>
          </a:xfrm>
          <a:prstGeom prst="roundRect">
            <a:avLst>
              <a:gd name="adj" fmla="val 4138"/>
            </a:avLst>
          </a:prstGeom>
          <a:solidFill>
            <a:srgbClr val="F3F5F8"/>
          </a:solidFill>
          <a:ln w="9525">
            <a:solidFill>
              <a:srgbClr val="D9DEE5"/>
            </a:solidFill>
            <a:prstDash val="solid"/>
          </a:ln>
        </p:spPr>
      </p:sp>
      <p:sp>
        <p:nvSpPr>
          <p:cNvPr id="5" name="Shape 3"/>
          <p:cNvSpPr/>
          <p:nvPr/>
        </p:nvSpPr>
        <p:spPr>
          <a:xfrm>
            <a:off x="640080" y="1600200"/>
            <a:ext cx="548640" cy="548640"/>
          </a:xfrm>
          <a:prstGeom prst="ellipse">
            <a:avLst/>
          </a:prstGeom>
          <a:solidFill>
            <a:srgbClr val="1B2A41"/>
          </a:solidFill>
          <a:ln w="12700">
            <a:solidFill>
              <a:srgbClr val="1B2A41"/>
            </a:solidFill>
            <a:prstDash val="solid"/>
          </a:ln>
        </p:spPr>
      </p:sp>
      <p:pic>
        <p:nvPicPr>
          <p:cNvPr id="6" name="Image 0" descr="preencoded.png">    </p:cNvPr>
          <p:cNvPicPr>
            <a:picLocks noChangeAspect="1"/>
          </p:cNvPicPr>
          <p:nvPr/>
        </p:nvPicPr>
        <p:blipFill>
          <a:blip r:embed="rId1"/>
          <a:stretch>
            <a:fillRect/>
          </a:stretch>
        </p:blipFill>
        <p:spPr>
          <a:xfrm>
            <a:off x="782726" y="1742846"/>
            <a:ext cx="263347" cy="263347"/>
          </a:xfrm>
          <a:prstGeom prst="rect">
            <a:avLst/>
          </a:prstGeom>
        </p:spPr>
      </p:pic>
      <p:sp>
        <p:nvSpPr>
          <p:cNvPr id="7" name="Text 4"/>
          <p:cNvSpPr txBox="1"/>
          <p:nvPr/>
        </p:nvSpPr>
        <p:spPr>
          <a:xfrm>
            <a:off x="1325880" y="1645920"/>
            <a:ext cx="1691640" cy="457200"/>
          </a:xfrm>
          <a:prstGeom prst="rect">
            <a:avLst/>
          </a:prstGeom>
          <a:noFill/>
          <a:ln/>
        </p:spPr>
        <p:txBody>
          <a:bodyPr wrap="square" lIns="0" tIns="0" rIns="0" bIns="0"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Propósito</a:t>
            </a:r>
            <a:endParaRPr lang="en-US" sz="1500" dirty="0"/>
          </a:p>
        </p:txBody>
      </p:sp>
      <p:sp>
        <p:nvSpPr>
          <p:cNvPr id="8" name="Text 5"/>
          <p:cNvSpPr txBox="1"/>
          <p:nvPr/>
        </p:nvSpPr>
        <p:spPr>
          <a:xfrm>
            <a:off x="640080" y="2286000"/>
            <a:ext cx="2286000" cy="21031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2933"/>
                </a:solidFill>
                <a:latin typeface="Calibri" pitchFamily="34" charset="0"/>
                <a:ea typeface="Calibri" pitchFamily="34" charset="-122"/>
                <a:cs typeface="Calibri" pitchFamily="34" charset="-120"/>
              </a:rPr>
              <a:t>Separar el código normal del código de tratamiento de errores.</a:t>
            </a:r>
            <a:endParaRPr lang="en-US" sz="1100" dirty="0"/>
          </a:p>
          <a:p>
            <a:pPr marL="342900" indent="-342900">
              <a:spcAft>
                <a:spcPts val="600"/>
              </a:spcAft>
              <a:buSzPct val="100000"/>
              <a:buChar char="■"/>
            </a:pPr>
            <a:r>
              <a:rPr lang="en-US" sz="1100" dirty="0">
                <a:solidFill>
                  <a:srgbClr val="1F2933"/>
                </a:solidFill>
                <a:latin typeface="Calibri" pitchFamily="34" charset="0"/>
                <a:ea typeface="Calibri" pitchFamily="34" charset="-122"/>
                <a:cs typeface="Calibri" pitchFamily="34" charset="-120"/>
              </a:rPr>
              <a:t>Un buen manejo contribuye a un acoplamiento controlado y a mantener la cohesión.</a:t>
            </a:r>
            <a:endParaRPr lang="en-US" sz="1100" dirty="0"/>
          </a:p>
        </p:txBody>
      </p:sp>
      <p:sp>
        <p:nvSpPr>
          <p:cNvPr id="9" name="Shape 6"/>
          <p:cNvSpPr/>
          <p:nvPr/>
        </p:nvSpPr>
        <p:spPr>
          <a:xfrm>
            <a:off x="3246120" y="1417320"/>
            <a:ext cx="2651760" cy="3063240"/>
          </a:xfrm>
          <a:prstGeom prst="roundRect">
            <a:avLst>
              <a:gd name="adj" fmla="val 4138"/>
            </a:avLst>
          </a:prstGeom>
          <a:solidFill>
            <a:srgbClr val="F3F5F8"/>
          </a:solidFill>
          <a:ln w="9525">
            <a:solidFill>
              <a:srgbClr val="D9DEE5"/>
            </a:solidFill>
            <a:prstDash val="solid"/>
          </a:ln>
        </p:spPr>
      </p:sp>
      <p:sp>
        <p:nvSpPr>
          <p:cNvPr id="10" name="Shape 7"/>
          <p:cNvSpPr/>
          <p:nvPr/>
        </p:nvSpPr>
        <p:spPr>
          <a:xfrm>
            <a:off x="3429000" y="1600200"/>
            <a:ext cx="548640" cy="548640"/>
          </a:xfrm>
          <a:prstGeom prst="ellipse">
            <a:avLst/>
          </a:prstGeom>
          <a:solidFill>
            <a:srgbClr val="1B2A41"/>
          </a:solidFill>
          <a:ln w="12700">
            <a:solidFill>
              <a:srgbClr val="1B2A41"/>
            </a:solidFill>
            <a:prstDash val="solid"/>
          </a:ln>
        </p:spPr>
      </p:sp>
      <p:pic>
        <p:nvPicPr>
          <p:cNvPr id="11" name="Image 1" descr="preencoded.png">    </p:cNvPr>
          <p:cNvPicPr>
            <a:picLocks noChangeAspect="1"/>
          </p:cNvPicPr>
          <p:nvPr/>
        </p:nvPicPr>
        <p:blipFill>
          <a:blip r:embed="rId2"/>
          <a:stretch>
            <a:fillRect/>
          </a:stretch>
        </p:blipFill>
        <p:spPr>
          <a:xfrm>
            <a:off x="3571646" y="1742846"/>
            <a:ext cx="263347" cy="263347"/>
          </a:xfrm>
          <a:prstGeom prst="rect">
            <a:avLst/>
          </a:prstGeom>
        </p:spPr>
      </p:pic>
      <p:sp>
        <p:nvSpPr>
          <p:cNvPr id="12" name="Text 8"/>
          <p:cNvSpPr txBox="1"/>
          <p:nvPr/>
        </p:nvSpPr>
        <p:spPr>
          <a:xfrm>
            <a:off x="4114800" y="1645920"/>
            <a:ext cx="1691640" cy="457200"/>
          </a:xfrm>
          <a:prstGeom prst="rect">
            <a:avLst/>
          </a:prstGeom>
          <a:noFill/>
          <a:ln/>
        </p:spPr>
        <p:txBody>
          <a:bodyPr wrap="square" lIns="0" tIns="0" rIns="0" bIns="0"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Beneficios</a:t>
            </a:r>
            <a:endParaRPr lang="en-US" sz="1500" dirty="0"/>
          </a:p>
        </p:txBody>
      </p:sp>
      <p:sp>
        <p:nvSpPr>
          <p:cNvPr id="13" name="Text 9"/>
          <p:cNvSpPr txBox="1"/>
          <p:nvPr/>
        </p:nvSpPr>
        <p:spPr>
          <a:xfrm>
            <a:off x="3429000" y="2286000"/>
            <a:ext cx="2286000" cy="21031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2933"/>
                </a:solidFill>
                <a:latin typeface="Calibri" pitchFamily="34" charset="0"/>
                <a:ea typeface="Calibri" pitchFamily="34" charset="-122"/>
                <a:cs typeface="Calibri" pitchFamily="34" charset="-120"/>
              </a:rPr>
              <a:t>Mayor robustez: previene fallos catastróficos.</a:t>
            </a:r>
            <a:endParaRPr lang="en-US" sz="1100" dirty="0"/>
          </a:p>
          <a:p>
            <a:pPr marL="342900" indent="-342900">
              <a:spcAft>
                <a:spcPts val="600"/>
              </a:spcAft>
              <a:buSzPct val="100000"/>
              <a:buChar char="■"/>
            </a:pPr>
            <a:r>
              <a:rPr lang="en-US" sz="1100" dirty="0">
                <a:solidFill>
                  <a:srgbClr val="1F2933"/>
                </a:solidFill>
                <a:latin typeface="Calibri" pitchFamily="34" charset="0"/>
                <a:ea typeface="Calibri" pitchFamily="34" charset="-122"/>
                <a:cs typeface="Calibri" pitchFamily="34" charset="-120"/>
              </a:rPr>
              <a:t>Información valiosa para depurar.</a:t>
            </a:r>
            <a:endParaRPr lang="en-US" sz="1100" dirty="0"/>
          </a:p>
          <a:p>
            <a:pPr marL="342900" indent="-342900">
              <a:spcAft>
                <a:spcPts val="600"/>
              </a:spcAft>
              <a:buSzPct val="100000"/>
              <a:buChar char="■"/>
            </a:pPr>
            <a:r>
              <a:rPr lang="en-US" sz="1100" dirty="0">
                <a:solidFill>
                  <a:srgbClr val="1F2933"/>
                </a:solidFill>
                <a:latin typeface="Calibri" pitchFamily="34" charset="0"/>
                <a:ea typeface="Calibri" pitchFamily="34" charset="-122"/>
                <a:cs typeface="Calibri" pitchFamily="34" charset="-120"/>
              </a:rPr>
              <a:t>Mensajes comprensibles para el usuario final.</a:t>
            </a:r>
            <a:endParaRPr lang="en-US" sz="1100" dirty="0"/>
          </a:p>
        </p:txBody>
      </p:sp>
      <p:sp>
        <p:nvSpPr>
          <p:cNvPr id="14" name="Shape 10"/>
          <p:cNvSpPr/>
          <p:nvPr/>
        </p:nvSpPr>
        <p:spPr>
          <a:xfrm>
            <a:off x="6035040" y="1417320"/>
            <a:ext cx="2651760" cy="3063240"/>
          </a:xfrm>
          <a:prstGeom prst="roundRect">
            <a:avLst>
              <a:gd name="adj" fmla="val 4138"/>
            </a:avLst>
          </a:prstGeom>
          <a:solidFill>
            <a:srgbClr val="F3F5F8"/>
          </a:solidFill>
          <a:ln w="9525">
            <a:solidFill>
              <a:srgbClr val="D9DEE5"/>
            </a:solidFill>
            <a:prstDash val="solid"/>
          </a:ln>
        </p:spPr>
      </p:sp>
      <p:sp>
        <p:nvSpPr>
          <p:cNvPr id="15" name="Shape 11"/>
          <p:cNvSpPr/>
          <p:nvPr/>
        </p:nvSpPr>
        <p:spPr>
          <a:xfrm>
            <a:off x="6217920" y="1600200"/>
            <a:ext cx="548640" cy="548640"/>
          </a:xfrm>
          <a:prstGeom prst="ellipse">
            <a:avLst/>
          </a:prstGeom>
          <a:solidFill>
            <a:srgbClr val="1B2A41"/>
          </a:solidFill>
          <a:ln w="12700">
            <a:solidFill>
              <a:srgbClr val="1B2A41"/>
            </a:solidFill>
            <a:prstDash val="solid"/>
          </a:ln>
        </p:spPr>
      </p:sp>
      <p:pic>
        <p:nvPicPr>
          <p:cNvPr id="16" name="Image 2" descr="preencoded.png">    </p:cNvPr>
          <p:cNvPicPr>
            <a:picLocks noChangeAspect="1"/>
          </p:cNvPicPr>
          <p:nvPr/>
        </p:nvPicPr>
        <p:blipFill>
          <a:blip r:embed="rId3"/>
          <a:stretch>
            <a:fillRect/>
          </a:stretch>
        </p:blipFill>
        <p:spPr>
          <a:xfrm>
            <a:off x="6360566" y="1742846"/>
            <a:ext cx="263347" cy="263347"/>
          </a:xfrm>
          <a:prstGeom prst="rect">
            <a:avLst/>
          </a:prstGeom>
        </p:spPr>
      </p:pic>
      <p:sp>
        <p:nvSpPr>
          <p:cNvPr id="17" name="Text 12"/>
          <p:cNvSpPr txBox="1"/>
          <p:nvPr/>
        </p:nvSpPr>
        <p:spPr>
          <a:xfrm>
            <a:off x="6903720" y="1645920"/>
            <a:ext cx="1691640" cy="457200"/>
          </a:xfrm>
          <a:prstGeom prst="rect">
            <a:avLst/>
          </a:prstGeom>
          <a:noFill/>
          <a:ln/>
        </p:spPr>
        <p:txBody>
          <a:bodyPr wrap="square" lIns="0" tIns="0" rIns="0" bIns="0"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Mejores prácticas</a:t>
            </a:r>
            <a:endParaRPr lang="en-US" sz="1500" dirty="0"/>
          </a:p>
        </p:txBody>
      </p:sp>
      <p:sp>
        <p:nvSpPr>
          <p:cNvPr id="18" name="Text 13"/>
          <p:cNvSpPr txBox="1"/>
          <p:nvPr/>
        </p:nvSpPr>
        <p:spPr>
          <a:xfrm>
            <a:off x="6217920" y="2286000"/>
            <a:ext cx="2286000" cy="21031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2933"/>
                </a:solidFill>
                <a:latin typeface="Calibri" pitchFamily="34" charset="0"/>
                <a:ea typeface="Calibri" pitchFamily="34" charset="-122"/>
                <a:cs typeface="Calibri" pitchFamily="34" charset="-120"/>
              </a:rPr>
              <a:t>Jerarquías de excepciones específicas del dominio.</a:t>
            </a:r>
            <a:endParaRPr lang="en-US" sz="1100" dirty="0"/>
          </a:p>
          <a:p>
            <a:pPr marL="342900" indent="-342900">
              <a:spcAft>
                <a:spcPts val="600"/>
              </a:spcAft>
              <a:buSzPct val="100000"/>
              <a:buChar char="■"/>
            </a:pPr>
            <a:r>
              <a:rPr lang="en-US" sz="1100" dirty="0">
                <a:solidFill>
                  <a:srgbClr val="1F2933"/>
                </a:solidFill>
                <a:latin typeface="Calibri" pitchFamily="34" charset="0"/>
                <a:ea typeface="Calibri" pitchFamily="34" charset="-122"/>
                <a:cs typeface="Calibri" pitchFamily="34" charset="-120"/>
              </a:rPr>
              <a:t>Capturar en el nivel adecuado de la aplicación.</a:t>
            </a:r>
            <a:endParaRPr lang="en-US" sz="1100" dirty="0"/>
          </a:p>
          <a:p>
            <a:pPr marL="342900" indent="-342900">
              <a:spcAft>
                <a:spcPts val="600"/>
              </a:spcAft>
              <a:buSzPct val="100000"/>
              <a:buChar char="■"/>
            </a:pPr>
            <a:r>
              <a:rPr lang="en-US" sz="1100" dirty="0">
                <a:solidFill>
                  <a:srgbClr val="1F2933"/>
                </a:solidFill>
                <a:latin typeface="Calibri" pitchFamily="34" charset="0"/>
                <a:ea typeface="Calibri" pitchFamily="34" charset="-122"/>
                <a:cs typeface="Calibri" pitchFamily="34" charset="-120"/>
              </a:rPr>
              <a:t>Mensajes con contexto útil.</a:t>
            </a:r>
            <a:endParaRPr lang="en-US" sz="1100" dirty="0"/>
          </a:p>
          <a:p>
            <a:pPr marL="342900" indent="-342900">
              <a:spcAft>
                <a:spcPts val="600"/>
              </a:spcAft>
              <a:buSzPct val="100000"/>
              <a:buChar char="■"/>
            </a:pPr>
            <a:r>
              <a:rPr lang="en-US" sz="1100" dirty="0">
                <a:solidFill>
                  <a:srgbClr val="1F2933"/>
                </a:solidFill>
                <a:latin typeface="Calibri" pitchFamily="34" charset="0"/>
                <a:ea typeface="Calibri" pitchFamily="34" charset="-122"/>
                <a:cs typeface="Calibri" pitchFamily="34" charset="-120"/>
              </a:rPr>
              <a:t>No capturar excepciones genéricas sin propósito.</a:t>
            </a:r>
            <a:endParaRPr lang="en-US" sz="1100" dirty="0"/>
          </a:p>
        </p:txBody>
      </p:sp>
      <p:sp>
        <p:nvSpPr>
          <p:cNvPr id="19" name="Text 14"/>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6B7A8C"/>
                </a:solidFill>
                <a:latin typeface="Calibri" pitchFamily="34" charset="0"/>
                <a:ea typeface="Calibri" pitchFamily="34" charset="-122"/>
                <a:cs typeface="Calibri" pitchFamily="34" charset="-120"/>
              </a:rPr>
              <a:t>POO II · Temática 1 · Principios avanzados de POO · CUN</a:t>
            </a:r>
            <a:endParaRPr lang="en-US" sz="900" dirty="0"/>
          </a:p>
        </p:txBody>
      </p:sp>
      <p:sp>
        <p:nvSpPr>
          <p:cNvPr id="20" name="Text 15"/>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6B7A8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libri" pitchFamily="34" charset="0"/>
                <a:ea typeface="Calibri" pitchFamily="34" charset="-122"/>
                <a:cs typeface="Calibri" pitchFamily="34" charset="-120"/>
              </a:rPr>
              <a:t>Ejemplo práctico 4 · ProcesadorDePagos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Captura PagoRechazadoException, informa al usuario, registra el incidente y sigue con el siguiente pago</a:t>
            </a:r>
            <a:endParaRPr lang="en-US" sz="1300" dirty="0"/>
          </a:p>
        </p:txBody>
      </p:sp>
      <p:sp>
        <p:nvSpPr>
          <p:cNvPr id="4" name="Shape 2"/>
          <p:cNvSpPr/>
          <p:nvPr/>
        </p:nvSpPr>
        <p:spPr>
          <a:xfrm>
            <a:off x="457200" y="1280160"/>
            <a:ext cx="4343400" cy="1325880"/>
          </a:xfrm>
          <a:prstGeom prst="roundRect">
            <a:avLst>
              <a:gd name="adj" fmla="val 6897"/>
            </a:avLst>
          </a:prstGeom>
          <a:solidFill>
            <a:srgbClr val="1E2430"/>
          </a:solidFill>
          <a:ln w="12700">
            <a:solidFill>
              <a:srgbClr val="1E2430"/>
            </a:solidFill>
            <a:prstDash val="solid"/>
          </a:ln>
          <a:effectLst>
            <a:outerShdw sx="100000" sy="100000" kx="0" ky="0" algn="bl" rotWithShape="0" blurRad="76200" dist="25400" dir="5400000">
              <a:srgbClr val="000000">
                <a:alpha val="18000"/>
              </a:srgbClr>
            </a:outerShdw>
          </a:effectLst>
        </p:spPr>
      </p:sp>
      <p:sp>
        <p:nvSpPr>
          <p:cNvPr id="5" name="Text 3"/>
          <p:cNvSpPr txBox="1"/>
          <p:nvPr/>
        </p:nvSpPr>
        <p:spPr>
          <a:xfrm>
            <a:off x="621792" y="1353312"/>
            <a:ext cx="4014216" cy="256032"/>
          </a:xfrm>
          <a:prstGeom prst="rect">
            <a:avLst/>
          </a:prstGeom>
          <a:noFill/>
          <a:ln/>
        </p:spPr>
        <p:txBody>
          <a:bodyPr wrap="square" lIns="0" tIns="0" rIns="0" bIns="0" rtlCol="0" anchor="ctr"/>
          <a:lstStyle/>
          <a:p>
            <a:pPr indent="0" marL="0">
              <a:buNone/>
            </a:pPr>
            <a:r>
              <a:rPr lang="en-US" sz="950" dirty="0">
                <a:solidFill>
                  <a:srgbClr val="F0A500"/>
                </a:solidFill>
                <a:latin typeface="Courier New" pitchFamily="34" charset="0"/>
                <a:ea typeface="Courier New" pitchFamily="34" charset="-122"/>
                <a:cs typeface="Courier New" pitchFamily="34" charset="-120"/>
              </a:rPr>
              <a:t>PagoRechazadoException.java — específica del dominio</a:t>
            </a:r>
            <a:endParaRPr lang="en-US" sz="950" dirty="0"/>
          </a:p>
        </p:txBody>
      </p:sp>
      <p:sp>
        <p:nvSpPr>
          <p:cNvPr id="6" name="Text 4"/>
          <p:cNvSpPr txBox="1"/>
          <p:nvPr/>
        </p:nvSpPr>
        <p:spPr>
          <a:xfrm>
            <a:off x="621792" y="1645920"/>
            <a:ext cx="4014216" cy="850392"/>
          </a:xfrm>
          <a:prstGeom prst="rect">
            <a:avLst/>
          </a:prstGeom>
          <a:noFill/>
          <a:ln/>
        </p:spPr>
        <p:txBody>
          <a:bodyPr wrap="square" lIns="0" tIns="0" rIns="0" bIns="0" rtlCol="0" anchor="t"/>
          <a:lstStyle/>
          <a:p>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class</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PagoRechazadoException</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extends</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Exception</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enum</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Motivo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FONDOS_INSUFICIENTES</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TARJETA_BLOQUEADA</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MONTO_INVALIDO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private</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final</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Motivo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motivo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i="1" dirty="0">
                <a:solidFill>
                  <a:srgbClr val="8A94A6"/>
                </a:solidFill>
                <a:latin typeface="Courier New" pitchFamily="34" charset="0"/>
                <a:ea typeface="Courier New" pitchFamily="34" charset="-122"/>
                <a:cs typeface="Courier New" pitchFamily="34" charset="-120"/>
              </a:rPr>
              <a:t>// dato útil</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private</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final</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referencia</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p:txBody>
      </p:sp>
      <p:sp>
        <p:nvSpPr>
          <p:cNvPr id="7" name="Shape 5"/>
          <p:cNvSpPr/>
          <p:nvPr/>
        </p:nvSpPr>
        <p:spPr>
          <a:xfrm>
            <a:off x="457200" y="2743200"/>
            <a:ext cx="4343400" cy="1737360"/>
          </a:xfrm>
          <a:prstGeom prst="roundRect">
            <a:avLst>
              <a:gd name="adj" fmla="val 5263"/>
            </a:avLst>
          </a:prstGeom>
          <a:solidFill>
            <a:srgbClr val="1E2430"/>
          </a:solidFill>
          <a:ln w="12700">
            <a:solidFill>
              <a:srgbClr val="1E2430"/>
            </a:solidFill>
            <a:prstDash val="solid"/>
          </a:ln>
          <a:effectLst>
            <a:outerShdw sx="100000" sy="100000" kx="0" ky="0" algn="bl" rotWithShape="0" blurRad="76200" dist="25400" dir="5400000">
              <a:srgbClr val="000000">
                <a:alpha val="18000"/>
              </a:srgbClr>
            </a:outerShdw>
          </a:effectLst>
        </p:spPr>
      </p:sp>
      <p:sp>
        <p:nvSpPr>
          <p:cNvPr id="8" name="Text 6"/>
          <p:cNvSpPr txBox="1"/>
          <p:nvPr/>
        </p:nvSpPr>
        <p:spPr>
          <a:xfrm>
            <a:off x="621792" y="2816352"/>
            <a:ext cx="4014216" cy="256032"/>
          </a:xfrm>
          <a:prstGeom prst="rect">
            <a:avLst/>
          </a:prstGeom>
          <a:noFill/>
          <a:ln/>
        </p:spPr>
        <p:txBody>
          <a:bodyPr wrap="square" lIns="0" tIns="0" rIns="0" bIns="0" rtlCol="0" anchor="ctr"/>
          <a:lstStyle/>
          <a:p>
            <a:pPr indent="0" marL="0">
              <a:buNone/>
            </a:pPr>
            <a:r>
              <a:rPr lang="en-US" sz="950" dirty="0">
                <a:solidFill>
                  <a:srgbClr val="F0A500"/>
                </a:solidFill>
                <a:latin typeface="Courier New" pitchFamily="34" charset="0"/>
                <a:ea typeface="Courier New" pitchFamily="34" charset="-122"/>
                <a:cs typeface="Courier New" pitchFamily="34" charset="-120"/>
              </a:rPr>
              <a:t>ProcesadorDePagos.java</a:t>
            </a:r>
            <a:endParaRPr lang="en-US" sz="950" dirty="0"/>
          </a:p>
        </p:txBody>
      </p:sp>
      <p:sp>
        <p:nvSpPr>
          <p:cNvPr id="9" name="Text 7"/>
          <p:cNvSpPr txBox="1"/>
          <p:nvPr/>
        </p:nvSpPr>
        <p:spPr>
          <a:xfrm>
            <a:off x="621792" y="3108960"/>
            <a:ext cx="4014216" cy="1261872"/>
          </a:xfrm>
          <a:prstGeom prst="rect">
            <a:avLst/>
          </a:prstGeom>
          <a:noFill/>
          <a:ln/>
        </p:spPr>
        <p:txBody>
          <a:bodyPr wrap="square" lIns="0" tIns="0" rIns="0" bIns="0" rtlCol="0" anchor="t"/>
          <a:lstStyle/>
          <a:p>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public</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String</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procesar</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Pago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pago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try</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autorizar</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pago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i="1" dirty="0">
                <a:solidFill>
                  <a:srgbClr val="8A94A6"/>
                </a:solidFill>
                <a:latin typeface="Courier New" pitchFamily="34" charset="0"/>
                <a:ea typeface="Courier New" pitchFamily="34" charset="-122"/>
                <a:cs typeface="Courier New" pitchFamily="34" charset="-120"/>
              </a:rPr>
              <a:t>// puede lanzar</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logger</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info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C3E88D"/>
                </a:solidFill>
                <a:latin typeface="Courier New" pitchFamily="34" charset="0"/>
                <a:ea typeface="Courier New" pitchFamily="34" charset="-122"/>
                <a:cs typeface="Courier New" pitchFamily="34" charset="-120"/>
              </a:rPr>
              <a:t>"Pago aprobado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pago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referencia</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return</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3E88D"/>
                </a:solidFill>
                <a:latin typeface="Courier New" pitchFamily="34" charset="0"/>
                <a:ea typeface="Courier New" pitchFamily="34" charset="-122"/>
                <a:cs typeface="Courier New" pitchFamily="34" charset="-120"/>
              </a:rPr>
              <a:t>"Pago aprobado. Gracias por su compra."</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catch</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PagoRechazadoException</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e</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logger</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error</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C3E88D"/>
                </a:solidFill>
                <a:latin typeface="Courier New" pitchFamily="34" charset="0"/>
                <a:ea typeface="Courier New" pitchFamily="34" charset="-122"/>
                <a:cs typeface="Courier New" pitchFamily="34" charset="-120"/>
              </a:rPr>
              <a:t>"Incidente: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e</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getMessage</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e</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C792EA"/>
                </a:solidFill>
                <a:latin typeface="Courier New" pitchFamily="34" charset="0"/>
                <a:ea typeface="Courier New" pitchFamily="34" charset="-122"/>
                <a:cs typeface="Courier New" pitchFamily="34" charset="-120"/>
              </a:rPr>
              <a:t>return</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mensajeParaUsuario</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e</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i="1" dirty="0">
                <a:solidFill>
                  <a:srgbClr val="8A94A6"/>
                </a:solidFill>
                <a:latin typeface="Courier New" pitchFamily="34" charset="0"/>
                <a:ea typeface="Courier New" pitchFamily="34" charset="-122"/>
                <a:cs typeface="Courier New" pitchFamily="34" charset="-120"/>
              </a:rPr>
              <a:t>// flujo continúa</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p:txBody>
      </p:sp>
      <p:sp>
        <p:nvSpPr>
          <p:cNvPr id="10" name="Shape 8"/>
          <p:cNvSpPr/>
          <p:nvPr/>
        </p:nvSpPr>
        <p:spPr>
          <a:xfrm>
            <a:off x="5029200" y="1280160"/>
            <a:ext cx="3657600" cy="3200400"/>
          </a:xfrm>
          <a:prstGeom prst="roundRect">
            <a:avLst>
              <a:gd name="adj" fmla="val 2857"/>
            </a:avLst>
          </a:prstGeom>
          <a:solidFill>
            <a:srgbClr val="0F1620"/>
          </a:solidFill>
          <a:ln w="12700">
            <a:solidFill>
              <a:srgbClr val="0F1620"/>
            </a:solidFill>
            <a:prstDash val="solid"/>
          </a:ln>
          <a:effectLst>
            <a:outerShdw sx="100000" sy="100000" kx="0" ky="0" algn="bl" rotWithShape="0" blurRad="76200" dist="25400" dir="5400000">
              <a:srgbClr val="000000">
                <a:alpha val="18000"/>
              </a:srgbClr>
            </a:outerShdw>
          </a:effectLst>
        </p:spPr>
      </p:sp>
      <p:sp>
        <p:nvSpPr>
          <p:cNvPr id="11" name="Text 9"/>
          <p:cNvSpPr txBox="1"/>
          <p:nvPr/>
        </p:nvSpPr>
        <p:spPr>
          <a:xfrm>
            <a:off x="5193792" y="1353312"/>
            <a:ext cx="3383280" cy="256032"/>
          </a:xfrm>
          <a:prstGeom prst="rect">
            <a:avLst/>
          </a:prstGeom>
          <a:noFill/>
          <a:ln/>
        </p:spPr>
        <p:txBody>
          <a:bodyPr wrap="square" lIns="0" tIns="0" rIns="0" bIns="0" rtlCol="0" anchor="ctr"/>
          <a:lstStyle/>
          <a:p>
            <a:pPr indent="0" marL="0">
              <a:buNone/>
            </a:pPr>
            <a:r>
              <a:rPr lang="en-US" sz="900" dirty="0">
                <a:solidFill>
                  <a:srgbClr val="F0A500"/>
                </a:solidFill>
                <a:latin typeface="Courier New" pitchFamily="34" charset="0"/>
                <a:ea typeface="Courier New" pitchFamily="34" charset="-122"/>
                <a:cs typeface="Courier New" pitchFamily="34" charset="-120"/>
              </a:rPr>
              <a:t>&gt; ejecutar.bat 10   (sección 4, salida real)</a:t>
            </a:r>
            <a:endParaRPr lang="en-US" sz="900" dirty="0"/>
          </a:p>
        </p:txBody>
      </p:sp>
      <p:sp>
        <p:nvSpPr>
          <p:cNvPr id="12" name="Text 10"/>
          <p:cNvSpPr txBox="1"/>
          <p:nvPr/>
        </p:nvSpPr>
        <p:spPr>
          <a:xfrm>
            <a:off x="5193792" y="1645920"/>
            <a:ext cx="3383280" cy="2743200"/>
          </a:xfrm>
          <a:prstGeom prst="rect">
            <a:avLst/>
          </a:prstGeom>
          <a:noFill/>
          <a:ln/>
        </p:spPr>
        <p:txBody>
          <a:bodyPr wrap="square" lIns="0" tIns="0" rIns="0" bIns="0" rtlCol="0" anchor="t"/>
          <a:lstStyle/>
          <a:p>
            <a:pPr indent="0" marL="0">
              <a:lnSpc>
                <a:spcPct val="105000"/>
              </a:lnSpc>
              <a:buNone/>
            </a:pPr>
            <a:r>
              <a:rPr lang="en-US" sz="850" dirty="0">
                <a:solidFill>
                  <a:srgbClr val="C3E88D"/>
                </a:solidFill>
                <a:latin typeface="Courier New" pitchFamily="34" charset="0"/>
                <a:ea typeface="Courier New" pitchFamily="34" charset="-122"/>
                <a:cs typeface="Courier New" pitchFamily="34" charset="-120"/>
              </a:rPr>
              <a:t>[app] Pago P-101 aprobado por $250.000</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Usuario ve -&gt; P-101: Pago aprobado.</a:t>
            </a:r>
            <a:endParaRPr lang="en-US" sz="850" dirty="0"/>
          </a:p>
          <a:p>
            <a:pPr indent="0" marL="0">
              <a:lnSpc>
                <a:spcPct val="105000"/>
              </a:lnSpc>
              <a:buNone/>
            </a:pPr>
            <a:r>
              <a:rPr lang="en-US" sz="850" dirty="0">
                <a:solidFill>
                  <a:srgbClr val="FF8A80"/>
                </a:solidFill>
                <a:latin typeface="Courier New" pitchFamily="34" charset="0"/>
                <a:ea typeface="Courier New" pitchFamily="34" charset="-122"/>
                <a:cs typeface="Courier New" pitchFamily="34" charset="-120"/>
              </a:rPr>
              <a:t>[app] ERROR: Incidente en pago P-102:</a:t>
            </a:r>
            <a:endParaRPr lang="en-US" sz="850" dirty="0"/>
          </a:p>
          <a:p>
            <a:pPr indent="0" marL="0">
              <a:lnSpc>
                <a:spcPct val="105000"/>
              </a:lnSpc>
              <a:buNone/>
            </a:pPr>
            <a:r>
              <a:rPr lang="en-US" sz="850" dirty="0">
                <a:solidFill>
                  <a:srgbClr val="FF8A80"/>
                </a:solidFill>
                <a:latin typeface="Courier New" pitchFamily="34" charset="0"/>
                <a:ea typeface="Courier New" pitchFamily="34" charset="-122"/>
                <a:cs typeface="Courier New" pitchFamily="34" charset="-120"/>
              </a:rPr>
              <a:t>  la tarjeta está bloqueada</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Usuario ve -&gt; P-102: Su tarjeta está</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bloqueada. Comuníquese con su banco.</a:t>
            </a:r>
            <a:endParaRPr lang="en-US" sz="850" dirty="0"/>
          </a:p>
          <a:p>
            <a:pPr indent="0" marL="0">
              <a:lnSpc>
                <a:spcPct val="105000"/>
              </a:lnSpc>
              <a:buNone/>
            </a:pPr>
            <a:r>
              <a:rPr lang="en-US" sz="850" dirty="0">
                <a:solidFill>
                  <a:srgbClr val="FF8A80"/>
                </a:solidFill>
                <a:latin typeface="Courier New" pitchFamily="34" charset="0"/>
                <a:ea typeface="Courier New" pitchFamily="34" charset="-122"/>
                <a:cs typeface="Courier New" pitchFamily="34" charset="-120"/>
              </a:rPr>
              <a:t>[app] ERROR: Incidente en pago P-103:</a:t>
            </a:r>
            <a:endParaRPr lang="en-US" sz="850" dirty="0"/>
          </a:p>
          <a:p>
            <a:pPr indent="0" marL="0">
              <a:lnSpc>
                <a:spcPct val="105000"/>
              </a:lnSpc>
              <a:buNone/>
            </a:pPr>
            <a:r>
              <a:rPr lang="en-US" sz="850" dirty="0">
                <a:solidFill>
                  <a:srgbClr val="FF8A80"/>
                </a:solidFill>
                <a:latin typeface="Courier New" pitchFamily="34" charset="0"/>
                <a:ea typeface="Courier New" pitchFamily="34" charset="-122"/>
                <a:cs typeface="Courier New" pitchFamily="34" charset="-120"/>
              </a:rPr>
              <a:t>  fondos insuficientes</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Usuario ve -&gt; P-103: Su tarjeta no tiene</a:t>
            </a:r>
            <a:endParaRPr lang="en-US" sz="850" dirty="0"/>
          </a:p>
          <a:p>
            <a:pPr indent="0" marL="0">
              <a:lnSpc>
                <a:spcPct val="105000"/>
              </a:lnSpc>
              <a:buNone/>
            </a:pPr>
            <a:r>
              <a:rPr lang="en-US" sz="850" dirty="0">
                <a:solidFill>
                  <a:srgbClr val="E6EDF3"/>
                </a:solidFill>
                <a:latin typeface="Courier New" pitchFamily="34" charset="0"/>
                <a:ea typeface="Courier New" pitchFamily="34" charset="-122"/>
                <a:cs typeface="Courier New" pitchFamily="34" charset="-120"/>
              </a:rPr>
              <a:t>  fondos suficientes.</a:t>
            </a:r>
            <a:endParaRPr lang="en-US" sz="850" dirty="0"/>
          </a:p>
          <a:p>
            <a:pPr indent="0" marL="0">
              <a:lnSpc>
                <a:spcPct val="105000"/>
              </a:lnSpc>
              <a:buNone/>
            </a:pPr>
            <a:r>
              <a:rPr lang="en-US" sz="850" dirty="0">
                <a:solidFill>
                  <a:srgbClr val="FF8A80"/>
                </a:solidFill>
                <a:latin typeface="Courier New" pitchFamily="34" charset="0"/>
                <a:ea typeface="Courier New" pitchFamily="34" charset="-122"/>
                <a:cs typeface="Courier New" pitchFamily="34" charset="-120"/>
              </a:rPr>
              <a:t>[app] ERROR: Incidente en pago P-104:</a:t>
            </a:r>
            <a:endParaRPr lang="en-US" sz="850" dirty="0"/>
          </a:p>
          <a:p>
            <a:pPr indent="0" marL="0">
              <a:lnSpc>
                <a:spcPct val="105000"/>
              </a:lnSpc>
              <a:buNone/>
            </a:pPr>
            <a:r>
              <a:rPr lang="en-US" sz="850" dirty="0">
                <a:solidFill>
                  <a:srgbClr val="FF8A80"/>
                </a:solidFill>
                <a:latin typeface="Courier New" pitchFamily="34" charset="0"/>
                <a:ea typeface="Courier New" pitchFamily="34" charset="-122"/>
                <a:cs typeface="Courier New" pitchFamily="34" charset="-120"/>
              </a:rPr>
              <a:t>  el monto debe ser mayor que cero</a:t>
            </a:r>
            <a:endParaRPr lang="en-US" sz="850" dirty="0"/>
          </a:p>
          <a:p>
            <a:pPr indent="0" marL="0">
              <a:lnSpc>
                <a:spcPct val="105000"/>
              </a:lnSpc>
              <a:buNone/>
            </a:pPr>
            <a:r>
              <a:rPr lang="en-US" sz="850" dirty="0">
                <a:solidFill>
                  <a:srgbClr val="C3E88D"/>
                </a:solidFill>
                <a:latin typeface="Courier New" pitchFamily="34" charset="0"/>
                <a:ea typeface="Courier New" pitchFamily="34" charset="-122"/>
                <a:cs typeface="Courier New" pitchFamily="34" charset="-120"/>
              </a:rPr>
              <a:t>[app] Pago P-105 aprobado por $120.000</a:t>
            </a:r>
            <a:endParaRPr lang="en-US" sz="850" dirty="0"/>
          </a:p>
          <a:p>
            <a:pPr indent="0" marL="0">
              <a:lnSpc>
                <a:spcPct val="105000"/>
              </a:lnSpc>
              <a:buNone/>
            </a:pPr>
            <a:r>
              <a:rPr lang="en-US" sz="850" dirty="0">
                <a:solidFill>
                  <a:srgbClr val="FFCB6B"/>
                </a:solidFill>
                <a:latin typeface="Courier New" pitchFamily="34" charset="0"/>
                <a:ea typeface="Courier New" pitchFamily="34" charset="-122"/>
                <a:cs typeface="Courier New" pitchFamily="34" charset="-120"/>
              </a:rPr>
              <a:t>Pagos aprobados: [P-101, P-105]</a:t>
            </a:r>
            <a:endParaRPr lang="en-US" sz="850" dirty="0"/>
          </a:p>
        </p:txBody>
      </p:sp>
      <p:sp>
        <p:nvSpPr>
          <p:cNvPr id="13" name="Text 11"/>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6B7A8C"/>
                </a:solidFill>
                <a:latin typeface="Calibri" pitchFamily="34" charset="0"/>
                <a:ea typeface="Calibri" pitchFamily="34" charset="-122"/>
                <a:cs typeface="Calibri" pitchFamily="34" charset="-120"/>
              </a:rPr>
              <a:t>POO II · Temática 1 · Principios avanzados de POO · CUN</a:t>
            </a:r>
            <a:endParaRPr lang="en-US" sz="900" dirty="0"/>
          </a:p>
        </p:txBody>
      </p:sp>
      <p:sp>
        <p:nvSpPr>
          <p:cNvPr id="14" name="Text 12"/>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6B7A8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libri" pitchFamily="34" charset="0"/>
                <a:ea typeface="Calibri" pitchFamily="34" charset="-122"/>
                <a:cs typeface="Calibri" pitchFamily="34" charset="-120"/>
              </a:rPr>
              <a:t>Ejecútalo tú · proyecto POO-Fundamentos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Todo el código de esta presentación está en el módulo 10 y corre con JDK 17+</a:t>
            </a:r>
            <a:endParaRPr lang="en-US" sz="1300" dirty="0"/>
          </a:p>
        </p:txBody>
      </p:sp>
      <p:sp>
        <p:nvSpPr>
          <p:cNvPr id="4" name="Shape 2"/>
          <p:cNvSpPr/>
          <p:nvPr/>
        </p:nvSpPr>
        <p:spPr>
          <a:xfrm>
            <a:off x="457200" y="1280160"/>
            <a:ext cx="4023360" cy="1234440"/>
          </a:xfrm>
          <a:prstGeom prst="roundRect">
            <a:avLst>
              <a:gd name="adj" fmla="val 7407"/>
            </a:avLst>
          </a:prstGeom>
          <a:solidFill>
            <a:srgbClr val="1E2430"/>
          </a:solidFill>
          <a:ln w="12700">
            <a:solidFill>
              <a:srgbClr val="1E2430"/>
            </a:solidFill>
            <a:prstDash val="solid"/>
          </a:ln>
          <a:effectLst>
            <a:outerShdw sx="100000" sy="100000" kx="0" ky="0" algn="bl" rotWithShape="0" blurRad="76200" dist="25400" dir="5400000">
              <a:srgbClr val="000000">
                <a:alpha val="18000"/>
              </a:srgbClr>
            </a:outerShdw>
          </a:effectLst>
        </p:spPr>
      </p:sp>
      <p:sp>
        <p:nvSpPr>
          <p:cNvPr id="5" name="Text 3"/>
          <p:cNvSpPr txBox="1"/>
          <p:nvPr/>
        </p:nvSpPr>
        <p:spPr>
          <a:xfrm>
            <a:off x="621792" y="1353312"/>
            <a:ext cx="3694176" cy="256032"/>
          </a:xfrm>
          <a:prstGeom prst="rect">
            <a:avLst/>
          </a:prstGeom>
          <a:noFill/>
          <a:ln/>
        </p:spPr>
        <p:txBody>
          <a:bodyPr wrap="square" lIns="0" tIns="0" rIns="0" bIns="0" rtlCol="0" anchor="ctr"/>
          <a:lstStyle/>
          <a:p>
            <a:pPr indent="0" marL="0">
              <a:buNone/>
            </a:pPr>
            <a:r>
              <a:rPr lang="en-US" sz="950" dirty="0">
                <a:solidFill>
                  <a:srgbClr val="F0A500"/>
                </a:solidFill>
                <a:latin typeface="Courier New" pitchFamily="34" charset="0"/>
                <a:ea typeface="Courier New" pitchFamily="34" charset="-122"/>
                <a:cs typeface="Courier New" pitchFamily="34" charset="-120"/>
              </a:rPr>
              <a:t>Windows (Linux/macOS: los .sh equivalentes)</a:t>
            </a:r>
            <a:endParaRPr lang="en-US" sz="950" dirty="0"/>
          </a:p>
        </p:txBody>
      </p:sp>
      <p:sp>
        <p:nvSpPr>
          <p:cNvPr id="6" name="Text 4"/>
          <p:cNvSpPr txBox="1"/>
          <p:nvPr/>
        </p:nvSpPr>
        <p:spPr>
          <a:xfrm>
            <a:off x="621792" y="1645920"/>
            <a:ext cx="3694176" cy="758952"/>
          </a:xfrm>
          <a:prstGeom prst="rect">
            <a:avLst/>
          </a:prstGeom>
          <a:noFill/>
          <a:ln/>
        </p:spPr>
        <p:txBody>
          <a:bodyPr wrap="square" lIns="0" tIns="0" rIns="0" bIns="0" rtlCol="0" anchor="t"/>
          <a:lstStyle/>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cd</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POO</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FFCB6B"/>
                </a:solidFill>
                <a:latin typeface="Courier New" pitchFamily="34" charset="0"/>
                <a:ea typeface="Courier New" pitchFamily="34" charset="-122"/>
                <a:cs typeface="Courier New" pitchFamily="34" charset="-120"/>
              </a:rPr>
              <a:t>Fundamentos</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compilar</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bat</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ejecutar</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bat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10</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i="1" dirty="0">
                <a:solidFill>
                  <a:srgbClr val="8A94A6"/>
                </a:solidFill>
                <a:latin typeface="Courier New" pitchFamily="34" charset="0"/>
                <a:ea typeface="Courier New" pitchFamily="34" charset="-122"/>
                <a:cs typeface="Courier New" pitchFamily="34" charset="-120"/>
              </a:rPr>
              <a:t>// modulo de la Tematica 1</a:t>
            </a:r>
            <a:endParaRPr lang="en-US" sz="950" dirty="0"/>
          </a:p>
          <a:p>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ejecutar</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bat</a:t>
            </a:r>
            <a:pPr indent="0" marL="0">
              <a:lnSpc>
                <a:spcPct val="105000"/>
              </a:lnSpc>
              <a:buNone/>
            </a:pPr>
            <a:r>
              <a:rPr lang="en-US" sz="950" dirty="0">
                <a:solidFill>
                  <a:srgbClr val="E6EDF3"/>
                </a:solidFill>
                <a:latin typeface="Courier New" pitchFamily="34" charset="0"/>
                <a:ea typeface="Courier New" pitchFamily="34" charset="-122"/>
                <a:cs typeface="Courier New" pitchFamily="34" charset="-120"/>
              </a:rPr>
              <a:t>         </a:t>
            </a:r>
            <a:pPr indent="0" marL="0">
              <a:lnSpc>
                <a:spcPct val="105000"/>
              </a:lnSpc>
              <a:buNone/>
            </a:pPr>
            <a:r>
              <a:rPr lang="en-US" sz="950" i="1" dirty="0">
                <a:solidFill>
                  <a:srgbClr val="8A94A6"/>
                </a:solidFill>
                <a:latin typeface="Courier New" pitchFamily="34" charset="0"/>
                <a:ea typeface="Courier New" pitchFamily="34" charset="-122"/>
                <a:cs typeface="Courier New" pitchFamily="34" charset="-120"/>
              </a:rPr>
              <a:t>// menu con los 10 modulos</a:t>
            </a:r>
            <a:endParaRPr lang="en-US" sz="950" dirty="0"/>
          </a:p>
        </p:txBody>
      </p:sp>
      <p:sp>
        <p:nvSpPr>
          <p:cNvPr id="7" name="Shape 5"/>
          <p:cNvSpPr/>
          <p:nvPr/>
        </p:nvSpPr>
        <p:spPr>
          <a:xfrm>
            <a:off x="457200" y="2651760"/>
            <a:ext cx="4023360" cy="1828800"/>
          </a:xfrm>
          <a:prstGeom prst="roundRect">
            <a:avLst>
              <a:gd name="adj" fmla="val 6000"/>
            </a:avLst>
          </a:prstGeom>
          <a:solidFill>
            <a:srgbClr val="F3F5F8"/>
          </a:solidFill>
          <a:ln w="9525">
            <a:solidFill>
              <a:srgbClr val="D9DEE5"/>
            </a:solidFill>
            <a:prstDash val="solid"/>
          </a:ln>
        </p:spPr>
      </p:sp>
      <p:sp>
        <p:nvSpPr>
          <p:cNvPr id="8" name="Text 6"/>
          <p:cNvSpPr txBox="1"/>
          <p:nvPr/>
        </p:nvSpPr>
        <p:spPr>
          <a:xfrm>
            <a:off x="640080" y="2743200"/>
            <a:ext cx="3657600" cy="274320"/>
          </a:xfrm>
          <a:prstGeom prst="rect">
            <a:avLst/>
          </a:prstGeom>
          <a:noFill/>
          <a:ln/>
        </p:spPr>
        <p:txBody>
          <a:bodyPr wrap="square" lIns="0" tIns="0" rIns="0" bIns="0" rtlCol="0" anchor="ctr"/>
          <a:lstStyle/>
          <a:p>
            <a:pPr indent="0" marL="0">
              <a:buNone/>
            </a:pPr>
            <a:r>
              <a:rPr lang="en-US" sz="1000" b="1" dirty="0">
                <a:solidFill>
                  <a:srgbClr val="1B2A41"/>
                </a:solidFill>
                <a:latin typeface="Courier New" pitchFamily="34" charset="0"/>
                <a:ea typeface="Courier New" pitchFamily="34" charset="-122"/>
                <a:cs typeface="Courier New" pitchFamily="34" charset="-120"/>
              </a:rPr>
              <a:t>src/co/edu/cun/poo/modulo10_principios/</a:t>
            </a:r>
            <a:endParaRPr lang="en-US" sz="1000" dirty="0"/>
          </a:p>
        </p:txBody>
      </p:sp>
      <p:sp>
        <p:nvSpPr>
          <p:cNvPr id="9" name="Text 7"/>
          <p:cNvSpPr txBox="1"/>
          <p:nvPr/>
        </p:nvSpPr>
        <p:spPr>
          <a:xfrm>
            <a:off x="640080" y="3063240"/>
            <a:ext cx="3657600" cy="137160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F2933"/>
                </a:solidFill>
                <a:latin typeface="Calibri" pitchFamily="34" charset="0"/>
                <a:ea typeface="Calibri" pitchFamily="34" charset="-122"/>
                <a:cs typeface="Calibri" pitchFamily="34" charset="-120"/>
              </a:rPr>
              <a:t>Factura, LineaFactura, RepositorioFacturas(EnMemoria), FacturaBajaCohesion</a:t>
            </a:r>
            <a:endParaRPr lang="en-US" sz="1050" dirty="0"/>
          </a:p>
          <a:p>
            <a:pPr marL="342900" indent="-342900">
              <a:spcAft>
                <a:spcPts val="600"/>
              </a:spcAft>
              <a:buSzPct val="100000"/>
              <a:buChar char="■"/>
            </a:pPr>
            <a:r>
              <a:rPr lang="en-US" sz="1050" dirty="0">
                <a:solidFill>
                  <a:srgbClr val="1F2933"/>
                </a:solidFill>
                <a:latin typeface="Calibri" pitchFamily="34" charset="0"/>
                <a:ea typeface="Calibri" pitchFamily="34" charset="-122"/>
                <a:cs typeface="Calibri" pitchFamily="34" charset="-120"/>
              </a:rPr>
              <a:t>ServicioAutenticacion, RepositorioUsuarios(Sql|Mongo)</a:t>
            </a:r>
            <a:endParaRPr lang="en-US" sz="1050" dirty="0"/>
          </a:p>
          <a:p>
            <a:pPr marL="342900" indent="-342900">
              <a:spcAft>
                <a:spcPts val="600"/>
              </a:spcAft>
              <a:buSzPct val="100000"/>
              <a:buChar char="■"/>
            </a:pPr>
            <a:r>
              <a:rPr lang="en-US" sz="1050" dirty="0">
                <a:solidFill>
                  <a:srgbClr val="1F2933"/>
                </a:solidFill>
                <a:latin typeface="Calibri" pitchFamily="34" charset="0"/>
                <a:ea typeface="Calibri" pitchFamily="34" charset="-122"/>
                <a:cs typeface="Calibri" pitchFamily="34" charset="-120"/>
              </a:rPr>
              <a:t>Logger, LoggerConsola, LoggerMemoria</a:t>
            </a:r>
            <a:endParaRPr lang="en-US" sz="1050" dirty="0"/>
          </a:p>
          <a:p>
            <a:pPr marL="342900" indent="-342900">
              <a:spcAft>
                <a:spcPts val="600"/>
              </a:spcAft>
              <a:buSzPct val="100000"/>
              <a:buChar char="■"/>
            </a:pPr>
            <a:r>
              <a:rPr lang="en-US" sz="1050" dirty="0">
                <a:solidFill>
                  <a:srgbClr val="1F2933"/>
                </a:solidFill>
                <a:latin typeface="Calibri" pitchFamily="34" charset="0"/>
                <a:ea typeface="Calibri" pitchFamily="34" charset="-122"/>
                <a:cs typeface="Calibri" pitchFamily="34" charset="-120"/>
              </a:rPr>
              <a:t>ProcesadorDePagos, PagoRechazadoException, Pago</a:t>
            </a:r>
            <a:endParaRPr lang="en-US" sz="1050" dirty="0"/>
          </a:p>
        </p:txBody>
      </p:sp>
      <p:sp>
        <p:nvSpPr>
          <p:cNvPr id="10" name="Shape 8"/>
          <p:cNvSpPr/>
          <p:nvPr/>
        </p:nvSpPr>
        <p:spPr>
          <a:xfrm>
            <a:off x="4709160" y="1280160"/>
            <a:ext cx="3977640" cy="3200400"/>
          </a:xfrm>
          <a:prstGeom prst="roundRect">
            <a:avLst>
              <a:gd name="adj" fmla="val 3429"/>
            </a:avLst>
          </a:prstGeom>
          <a:solidFill>
            <a:srgbClr val="1B2A41"/>
          </a:solidFill>
          <a:ln w="9525">
            <a:solidFill>
              <a:srgbClr val="1B2A41"/>
            </a:solidFill>
            <a:prstDash val="solid"/>
          </a:ln>
          <a:effectLst>
            <a:outerShdw sx="100000" sy="100000" kx="0" ky="0" algn="bl" rotWithShape="0" blurRad="76200" dist="25400" dir="5400000">
              <a:srgbClr val="000000">
                <a:alpha val="18000"/>
              </a:srgbClr>
            </a:outerShdw>
          </a:effectLst>
        </p:spPr>
      </p:sp>
      <p:sp>
        <p:nvSpPr>
          <p:cNvPr id="11" name="Shape 9"/>
          <p:cNvSpPr/>
          <p:nvPr/>
        </p:nvSpPr>
        <p:spPr>
          <a:xfrm>
            <a:off x="4892040" y="1463040"/>
            <a:ext cx="548640" cy="548640"/>
          </a:xfrm>
          <a:prstGeom prst="ellipse">
            <a:avLst/>
          </a:prstGeom>
          <a:solidFill>
            <a:srgbClr val="F0A500"/>
          </a:solidFill>
          <a:ln w="12700">
            <a:solidFill>
              <a:srgbClr val="F0A500"/>
            </a:solidFill>
            <a:prstDash val="solid"/>
          </a:ln>
        </p:spPr>
      </p:sp>
      <p:pic>
        <p:nvPicPr>
          <p:cNvPr id="12" name="Image 0" descr="preencoded.png">    </p:cNvPr>
          <p:cNvPicPr>
            <a:picLocks noChangeAspect="1"/>
          </p:cNvPicPr>
          <p:nvPr/>
        </p:nvPicPr>
        <p:blipFill>
          <a:blip r:embed="rId1"/>
          <a:stretch>
            <a:fillRect/>
          </a:stretch>
        </p:blipFill>
        <p:spPr>
          <a:xfrm>
            <a:off x="5034686" y="1605686"/>
            <a:ext cx="263347" cy="263347"/>
          </a:xfrm>
          <a:prstGeom prst="rect">
            <a:avLst/>
          </a:prstGeom>
        </p:spPr>
      </p:pic>
      <p:sp>
        <p:nvSpPr>
          <p:cNvPr id="13" name="Text 10"/>
          <p:cNvSpPr txBox="1"/>
          <p:nvPr/>
        </p:nvSpPr>
        <p:spPr>
          <a:xfrm>
            <a:off x="5577840" y="1508760"/>
            <a:ext cx="292608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Taller en clase</a:t>
            </a:r>
            <a:endParaRPr lang="en-US" sz="1800" dirty="0"/>
          </a:p>
        </p:txBody>
      </p:sp>
      <p:sp>
        <p:nvSpPr>
          <p:cNvPr id="14" name="Text 11"/>
          <p:cNvSpPr txBox="1"/>
          <p:nvPr/>
        </p:nvSpPr>
        <p:spPr>
          <a:xfrm>
            <a:off x="4892040" y="2103120"/>
            <a:ext cx="3611880" cy="2286000"/>
          </a:xfrm>
          <a:prstGeom prst="rect">
            <a:avLst/>
          </a:prstGeom>
          <a:noFill/>
          <a:ln/>
        </p:spPr>
        <p:txBody>
          <a:bodyPr wrap="square" lIns="0" tIns="0" rIns="0" bIns="0" rtlCol="0" anchor="t"/>
          <a:lstStyle/>
          <a:p>
            <a:pPr indent="0" marL="0">
              <a:buNone/>
            </a:pPr>
            <a:r>
              <a:rPr lang="en-US" sz="1200" dirty="0">
                <a:solidFill>
                  <a:srgbClr val="E6EDF3"/>
                </a:solidFill>
                <a:latin typeface="Calibri" pitchFamily="34" charset="0"/>
                <a:ea typeface="Calibri" pitchFamily="34" charset="-122"/>
                <a:cs typeface="Calibri" pitchFamily="34" charset="-120"/>
              </a:rPr>
              <a:t>Crear la interfaz Notificador { void enviar(String destino, String mensaje); } con dos implementaciones: NotificadorCorreo y NotificadorSms.</a:t>
            </a:r>
            <a:endParaRPr lang="en-US" sz="1200" dirty="0"/>
          </a:p>
          <a:p>
            <a:pPr indent="0" marL="0">
              <a:buNone/>
            </a:pPr>
            <a:endParaRPr lang="en-US" sz="1200" dirty="0"/>
          </a:p>
          <a:p>
            <a:pPr indent="0" marL="0">
              <a:buNone/>
            </a:pPr>
            <a:r>
              <a:rPr lang="en-US" sz="1200" dirty="0">
                <a:solidFill>
                  <a:srgbClr val="E6EDF3"/>
                </a:solidFill>
                <a:latin typeface="Calibri" pitchFamily="34" charset="0"/>
                <a:ea typeface="Calibri" pitchFamily="34" charset="-122"/>
                <a:cs typeface="Calibri" pitchFamily="34" charset="-120"/>
              </a:rPr>
              <a:t>Inyectarla en ProcesadorDePagos para avisar al cliente cuando un pago es rechazado.</a:t>
            </a:r>
            <a:endParaRPr lang="en-US" sz="1200" dirty="0"/>
          </a:p>
          <a:p>
            <a:pPr indent="0" marL="0">
              <a:buNone/>
            </a:pPr>
            <a:endParaRPr lang="en-US" sz="1200" dirty="0"/>
          </a:p>
          <a:p>
            <a:pPr indent="0" marL="0">
              <a:buNone/>
            </a:pPr>
            <a:r>
              <a:rPr lang="en-US" sz="1200" dirty="0">
                <a:solidFill>
                  <a:srgbClr val="E6EDF3"/>
                </a:solidFill>
                <a:latin typeface="Calibri" pitchFamily="34" charset="0"/>
                <a:ea typeface="Calibri" pitchFamily="34" charset="-122"/>
                <a:cs typeface="Calibri" pitchFamily="34" charset="-120"/>
              </a:rPr>
              <a:t>Regla: ProcesadorDePagos no debe saber si es correo o SMS.</a:t>
            </a:r>
            <a:endParaRPr lang="en-US" sz="1200" dirty="0"/>
          </a:p>
        </p:txBody>
      </p:sp>
      <p:sp>
        <p:nvSpPr>
          <p:cNvPr id="15" name="Text 12"/>
          <p:cNvSpPr txBox="1"/>
          <p:nvPr/>
        </p:nvSpPr>
        <p:spPr>
          <a:xfrm>
            <a:off x="4892040" y="4069080"/>
            <a:ext cx="3611880" cy="365760"/>
          </a:xfrm>
          <a:prstGeom prst="rect">
            <a:avLst/>
          </a:prstGeom>
          <a:noFill/>
          <a:ln/>
        </p:spPr>
        <p:txBody>
          <a:bodyPr wrap="square" lIns="0" tIns="0" rIns="0" bIns="0" rtlCol="0" anchor="ctr"/>
          <a:lstStyle/>
          <a:p>
            <a:pPr indent="0" marL="0">
              <a:buNone/>
            </a:pPr>
            <a:r>
              <a:rPr lang="en-US" sz="1000" i="1" dirty="0">
                <a:solidFill>
                  <a:srgbClr val="F0A500"/>
                </a:solidFill>
                <a:latin typeface="Calibri" pitchFamily="34" charset="0"/>
                <a:ea typeface="Calibri" pitchFamily="34" charset="-122"/>
                <a:cs typeface="Calibri" pitchFamily="34" charset="-120"/>
              </a:rPr>
              <a:t>Entrega: código + una frase por cada principio (cohesión, acoplamiento, reutilización) que aplicaste.</a:t>
            </a:r>
            <a:endParaRPr lang="en-US" sz="1000" dirty="0"/>
          </a:p>
        </p:txBody>
      </p:sp>
      <p:sp>
        <p:nvSpPr>
          <p:cNvPr id="16" name="Text 13"/>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6B7A8C"/>
                </a:solidFill>
                <a:latin typeface="Calibri" pitchFamily="34" charset="0"/>
                <a:ea typeface="Calibri" pitchFamily="34" charset="-122"/>
                <a:cs typeface="Calibri" pitchFamily="34" charset="-120"/>
              </a:rPr>
              <a:t>POO II · Temática 1 · Principios avanzados de POO · CUN</a:t>
            </a:r>
            <a:endParaRPr lang="en-US" sz="900" dirty="0"/>
          </a:p>
        </p:txBody>
      </p:sp>
      <p:sp>
        <p:nvSpPr>
          <p:cNvPr id="17" name="Text 14"/>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6B7A8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Conclusiones y proyección profesional</a:t>
            </a:r>
            <a:endParaRPr lang="en-US" sz="2800" dirty="0"/>
          </a:p>
        </p:txBody>
      </p:sp>
      <p:sp>
        <p:nvSpPr>
          <p:cNvPr id="3" name="Shape 1"/>
          <p:cNvSpPr/>
          <p:nvPr/>
        </p:nvSpPr>
        <p:spPr>
          <a:xfrm>
            <a:off x="457200" y="1143000"/>
            <a:ext cx="4023360" cy="1508760"/>
          </a:xfrm>
          <a:prstGeom prst="roundRect">
            <a:avLst>
              <a:gd name="adj" fmla="val 7273"/>
            </a:avLst>
          </a:prstGeom>
          <a:solidFill>
            <a:srgbClr val="24354F"/>
          </a:solidFill>
          <a:ln w="9525">
            <a:solidFill>
              <a:srgbClr val="24354F"/>
            </a:solidFill>
            <a:prstDash val="solid"/>
          </a:ln>
        </p:spPr>
      </p:sp>
      <p:sp>
        <p:nvSpPr>
          <p:cNvPr id="4" name="Shape 2"/>
          <p:cNvSpPr/>
          <p:nvPr/>
        </p:nvSpPr>
        <p:spPr>
          <a:xfrm>
            <a:off x="640080" y="1325880"/>
            <a:ext cx="548640" cy="548640"/>
          </a:xfrm>
          <a:prstGeom prst="ellipse">
            <a:avLst/>
          </a:prstGeom>
          <a:solidFill>
            <a:srgbClr val="F0A500"/>
          </a:solidFill>
          <a:ln w="12700">
            <a:solidFill>
              <a:srgbClr val="F0A500"/>
            </a:solidFill>
            <a:prstDash val="solid"/>
          </a:ln>
        </p:spPr>
      </p:sp>
      <p:pic>
        <p:nvPicPr>
          <p:cNvPr id="5" name="Image 0" descr="preencoded.png">    </p:cNvPr>
          <p:cNvPicPr>
            <a:picLocks noChangeAspect="1"/>
          </p:cNvPicPr>
          <p:nvPr/>
        </p:nvPicPr>
        <p:blipFill>
          <a:blip r:embed="rId1"/>
          <a:stretch>
            <a:fillRect/>
          </a:stretch>
        </p:blipFill>
        <p:spPr>
          <a:xfrm>
            <a:off x="782726" y="1468526"/>
            <a:ext cx="263347" cy="263347"/>
          </a:xfrm>
          <a:prstGeom prst="rect">
            <a:avLst/>
          </a:prstGeom>
        </p:spPr>
      </p:pic>
      <p:sp>
        <p:nvSpPr>
          <p:cNvPr id="6" name="Text 3"/>
          <p:cNvSpPr txBox="1"/>
          <p:nvPr/>
        </p:nvSpPr>
        <p:spPr>
          <a:xfrm>
            <a:off x="1325880" y="1344168"/>
            <a:ext cx="301752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Base fundamental</a:t>
            </a:r>
            <a:endParaRPr lang="en-US" sz="1500" dirty="0"/>
          </a:p>
        </p:txBody>
      </p:sp>
      <p:sp>
        <p:nvSpPr>
          <p:cNvPr id="7" name="Text 4"/>
          <p:cNvSpPr txBox="1"/>
          <p:nvPr/>
        </p:nvSpPr>
        <p:spPr>
          <a:xfrm>
            <a:off x="1325880" y="1828800"/>
            <a:ext cx="3017520" cy="731520"/>
          </a:xfrm>
          <a:prstGeom prst="rect">
            <a:avLst/>
          </a:prstGeom>
          <a:noFill/>
          <a:ln/>
        </p:spPr>
        <p:txBody>
          <a:bodyPr wrap="square" lIns="0" tIns="0" rIns="0" bIns="0" rtlCol="0" anchor="t"/>
          <a:lstStyle/>
          <a:p>
            <a:pPr indent="0" marL="0">
              <a:buNone/>
            </a:pPr>
            <a:r>
              <a:rPr lang="en-US" sz="1150" dirty="0">
                <a:solidFill>
                  <a:srgbClr val="CADCFC"/>
                </a:solidFill>
                <a:latin typeface="Calibri" pitchFamily="34" charset="0"/>
                <a:ea typeface="Calibri" pitchFamily="34" charset="-122"/>
                <a:cs typeface="Calibri" pitchFamily="34" charset="-120"/>
              </a:rPr>
              <a:t>Cohesión alta y bajo acoplamiento aumentan la modularidad y facilitan el mantenimiento.</a:t>
            </a:r>
            <a:endParaRPr lang="en-US" sz="1150" dirty="0"/>
          </a:p>
        </p:txBody>
      </p:sp>
      <p:sp>
        <p:nvSpPr>
          <p:cNvPr id="8" name="Shape 5"/>
          <p:cNvSpPr/>
          <p:nvPr/>
        </p:nvSpPr>
        <p:spPr>
          <a:xfrm>
            <a:off x="4663440" y="1143000"/>
            <a:ext cx="4023360" cy="1508760"/>
          </a:xfrm>
          <a:prstGeom prst="roundRect">
            <a:avLst>
              <a:gd name="adj" fmla="val 7273"/>
            </a:avLst>
          </a:prstGeom>
          <a:solidFill>
            <a:srgbClr val="24354F"/>
          </a:solidFill>
          <a:ln w="9525">
            <a:solidFill>
              <a:srgbClr val="24354F"/>
            </a:solidFill>
            <a:prstDash val="solid"/>
          </a:ln>
        </p:spPr>
      </p:sp>
      <p:sp>
        <p:nvSpPr>
          <p:cNvPr id="9" name="Shape 6"/>
          <p:cNvSpPr/>
          <p:nvPr/>
        </p:nvSpPr>
        <p:spPr>
          <a:xfrm>
            <a:off x="4846320" y="1325880"/>
            <a:ext cx="548640" cy="548640"/>
          </a:xfrm>
          <a:prstGeom prst="ellipse">
            <a:avLst/>
          </a:prstGeom>
          <a:solidFill>
            <a:srgbClr val="F0A500"/>
          </a:solidFill>
          <a:ln w="12700">
            <a:solidFill>
              <a:srgbClr val="F0A500"/>
            </a:solidFill>
            <a:prstDash val="solid"/>
          </a:ln>
        </p:spPr>
      </p:sp>
      <p:pic>
        <p:nvPicPr>
          <p:cNvPr id="10" name="Image 1" descr="preencoded.png">    </p:cNvPr>
          <p:cNvPicPr>
            <a:picLocks noChangeAspect="1"/>
          </p:cNvPicPr>
          <p:nvPr/>
        </p:nvPicPr>
        <p:blipFill>
          <a:blip r:embed="rId2"/>
          <a:stretch>
            <a:fillRect/>
          </a:stretch>
        </p:blipFill>
        <p:spPr>
          <a:xfrm>
            <a:off x="4988966" y="1468526"/>
            <a:ext cx="263347" cy="263347"/>
          </a:xfrm>
          <a:prstGeom prst="rect">
            <a:avLst/>
          </a:prstGeom>
        </p:spPr>
      </p:pic>
      <p:sp>
        <p:nvSpPr>
          <p:cNvPr id="11" name="Text 7"/>
          <p:cNvSpPr txBox="1"/>
          <p:nvPr/>
        </p:nvSpPr>
        <p:spPr>
          <a:xfrm>
            <a:off x="5532120" y="1344168"/>
            <a:ext cx="301752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Optimización del desarrollo</a:t>
            </a:r>
            <a:endParaRPr lang="en-US" sz="1500" dirty="0"/>
          </a:p>
        </p:txBody>
      </p:sp>
      <p:sp>
        <p:nvSpPr>
          <p:cNvPr id="12" name="Text 8"/>
          <p:cNvSpPr txBox="1"/>
          <p:nvPr/>
        </p:nvSpPr>
        <p:spPr>
          <a:xfrm>
            <a:off x="5532120" y="1828800"/>
            <a:ext cx="3017520" cy="731520"/>
          </a:xfrm>
          <a:prstGeom prst="rect">
            <a:avLst/>
          </a:prstGeom>
          <a:noFill/>
          <a:ln/>
        </p:spPr>
        <p:txBody>
          <a:bodyPr wrap="square" lIns="0" tIns="0" rIns="0" bIns="0" rtlCol="0" anchor="t"/>
          <a:lstStyle/>
          <a:p>
            <a:pPr indent="0" marL="0">
              <a:buNone/>
            </a:pPr>
            <a:r>
              <a:rPr lang="en-US" sz="1150" dirty="0">
                <a:solidFill>
                  <a:srgbClr val="CADCFC"/>
                </a:solidFill>
                <a:latin typeface="Calibri" pitchFamily="34" charset="0"/>
                <a:ea typeface="Calibri" pitchFamily="34" charset="-122"/>
                <a:cs typeface="Calibri" pitchFamily="34" charset="-120"/>
              </a:rPr>
              <a:t>La reutilización reduce costos y tiempos; el buen manejo de excepciones refuerza la estabilidad.</a:t>
            </a:r>
            <a:endParaRPr lang="en-US" sz="1150" dirty="0"/>
          </a:p>
        </p:txBody>
      </p:sp>
      <p:sp>
        <p:nvSpPr>
          <p:cNvPr id="13" name="Shape 9"/>
          <p:cNvSpPr/>
          <p:nvPr/>
        </p:nvSpPr>
        <p:spPr>
          <a:xfrm>
            <a:off x="457200" y="2834640"/>
            <a:ext cx="4023360" cy="1508760"/>
          </a:xfrm>
          <a:prstGeom prst="roundRect">
            <a:avLst>
              <a:gd name="adj" fmla="val 7273"/>
            </a:avLst>
          </a:prstGeom>
          <a:solidFill>
            <a:srgbClr val="24354F"/>
          </a:solidFill>
          <a:ln w="9525">
            <a:solidFill>
              <a:srgbClr val="24354F"/>
            </a:solidFill>
            <a:prstDash val="solid"/>
          </a:ln>
        </p:spPr>
      </p:sp>
      <p:sp>
        <p:nvSpPr>
          <p:cNvPr id="14" name="Shape 10"/>
          <p:cNvSpPr/>
          <p:nvPr/>
        </p:nvSpPr>
        <p:spPr>
          <a:xfrm>
            <a:off x="640080" y="3017520"/>
            <a:ext cx="548640" cy="548640"/>
          </a:xfrm>
          <a:prstGeom prst="ellipse">
            <a:avLst/>
          </a:prstGeom>
          <a:solidFill>
            <a:srgbClr val="F0A500"/>
          </a:solidFill>
          <a:ln w="12700">
            <a:solidFill>
              <a:srgbClr val="F0A500"/>
            </a:solidFill>
            <a:prstDash val="solid"/>
          </a:ln>
        </p:spPr>
      </p:sp>
      <p:pic>
        <p:nvPicPr>
          <p:cNvPr id="15" name="Image 2" descr="preencoded.png">    </p:cNvPr>
          <p:cNvPicPr>
            <a:picLocks noChangeAspect="1"/>
          </p:cNvPicPr>
          <p:nvPr/>
        </p:nvPicPr>
        <p:blipFill>
          <a:blip r:embed="rId3"/>
          <a:stretch>
            <a:fillRect/>
          </a:stretch>
        </p:blipFill>
        <p:spPr>
          <a:xfrm>
            <a:off x="782726" y="3160166"/>
            <a:ext cx="263347" cy="263347"/>
          </a:xfrm>
          <a:prstGeom prst="rect">
            <a:avLst/>
          </a:prstGeom>
        </p:spPr>
      </p:pic>
      <p:sp>
        <p:nvSpPr>
          <p:cNvPr id="16" name="Text 11"/>
          <p:cNvSpPr txBox="1"/>
          <p:nvPr/>
        </p:nvSpPr>
        <p:spPr>
          <a:xfrm>
            <a:off x="1325880" y="3035808"/>
            <a:ext cx="301752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Impacto en la calidad</a:t>
            </a:r>
            <a:endParaRPr lang="en-US" sz="1500" dirty="0"/>
          </a:p>
        </p:txBody>
      </p:sp>
      <p:sp>
        <p:nvSpPr>
          <p:cNvPr id="17" name="Text 12"/>
          <p:cNvSpPr txBox="1"/>
          <p:nvPr/>
        </p:nvSpPr>
        <p:spPr>
          <a:xfrm>
            <a:off x="1325880" y="3520440"/>
            <a:ext cx="3017520" cy="731520"/>
          </a:xfrm>
          <a:prstGeom prst="rect">
            <a:avLst/>
          </a:prstGeom>
          <a:noFill/>
          <a:ln/>
        </p:spPr>
        <p:txBody>
          <a:bodyPr wrap="square" lIns="0" tIns="0" rIns="0" bIns="0" rtlCol="0" anchor="t"/>
          <a:lstStyle/>
          <a:p>
            <a:pPr indent="0" marL="0">
              <a:buNone/>
            </a:pPr>
            <a:r>
              <a:rPr lang="en-US" sz="1150" dirty="0">
                <a:solidFill>
                  <a:srgbClr val="CADCFC"/>
                </a:solidFill>
                <a:latin typeface="Calibri" pitchFamily="34" charset="0"/>
                <a:ea typeface="Calibri" pitchFamily="34" charset="-122"/>
                <a:cs typeface="Calibri" pitchFamily="34" charset="-120"/>
              </a:rPr>
              <a:t>Mejora el producto y la capacidad del equipo para adaptarse a los cambios.</a:t>
            </a:r>
            <a:endParaRPr lang="en-US" sz="1150" dirty="0"/>
          </a:p>
        </p:txBody>
      </p:sp>
      <p:sp>
        <p:nvSpPr>
          <p:cNvPr id="18" name="Shape 13"/>
          <p:cNvSpPr/>
          <p:nvPr/>
        </p:nvSpPr>
        <p:spPr>
          <a:xfrm>
            <a:off x="4663440" y="2834640"/>
            <a:ext cx="4023360" cy="1508760"/>
          </a:xfrm>
          <a:prstGeom prst="roundRect">
            <a:avLst>
              <a:gd name="adj" fmla="val 7273"/>
            </a:avLst>
          </a:prstGeom>
          <a:solidFill>
            <a:srgbClr val="24354F"/>
          </a:solidFill>
          <a:ln w="9525">
            <a:solidFill>
              <a:srgbClr val="24354F"/>
            </a:solidFill>
            <a:prstDash val="solid"/>
          </a:ln>
        </p:spPr>
      </p:sp>
      <p:sp>
        <p:nvSpPr>
          <p:cNvPr id="19" name="Shape 14"/>
          <p:cNvSpPr/>
          <p:nvPr/>
        </p:nvSpPr>
        <p:spPr>
          <a:xfrm>
            <a:off x="4846320" y="3017520"/>
            <a:ext cx="548640" cy="548640"/>
          </a:xfrm>
          <a:prstGeom prst="ellipse">
            <a:avLst/>
          </a:prstGeom>
          <a:solidFill>
            <a:srgbClr val="F0A500"/>
          </a:solidFill>
          <a:ln w="12700">
            <a:solidFill>
              <a:srgbClr val="F0A500"/>
            </a:solidFill>
            <a:prstDash val="solid"/>
          </a:ln>
        </p:spPr>
      </p:sp>
      <p:pic>
        <p:nvPicPr>
          <p:cNvPr id="20" name="Image 3" descr="preencoded.png">    </p:cNvPr>
          <p:cNvPicPr>
            <a:picLocks noChangeAspect="1"/>
          </p:cNvPicPr>
          <p:nvPr/>
        </p:nvPicPr>
        <p:blipFill>
          <a:blip r:embed="rId4"/>
          <a:stretch>
            <a:fillRect/>
          </a:stretch>
        </p:blipFill>
        <p:spPr>
          <a:xfrm>
            <a:off x="4988966" y="3160166"/>
            <a:ext cx="263347" cy="263347"/>
          </a:xfrm>
          <a:prstGeom prst="rect">
            <a:avLst/>
          </a:prstGeom>
        </p:spPr>
      </p:pic>
      <p:sp>
        <p:nvSpPr>
          <p:cNvPr id="21" name="Text 15"/>
          <p:cNvSpPr txBox="1"/>
          <p:nvPr/>
        </p:nvSpPr>
        <p:spPr>
          <a:xfrm>
            <a:off x="5532120" y="3035808"/>
            <a:ext cx="301752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Competencia transversal</a:t>
            </a:r>
            <a:endParaRPr lang="en-US" sz="1500" dirty="0"/>
          </a:p>
        </p:txBody>
      </p:sp>
      <p:sp>
        <p:nvSpPr>
          <p:cNvPr id="22" name="Text 16"/>
          <p:cNvSpPr txBox="1"/>
          <p:nvPr/>
        </p:nvSpPr>
        <p:spPr>
          <a:xfrm>
            <a:off x="5532120" y="3520440"/>
            <a:ext cx="3017520" cy="731520"/>
          </a:xfrm>
          <a:prstGeom prst="rect">
            <a:avLst/>
          </a:prstGeom>
          <a:noFill/>
          <a:ln/>
        </p:spPr>
        <p:txBody>
          <a:bodyPr wrap="square" lIns="0" tIns="0" rIns="0" bIns="0" rtlCol="0" anchor="t"/>
          <a:lstStyle/>
          <a:p>
            <a:pPr indent="0" marL="0">
              <a:buNone/>
            </a:pPr>
            <a:r>
              <a:rPr lang="en-US" sz="1150" dirty="0">
                <a:solidFill>
                  <a:srgbClr val="CADCFC"/>
                </a:solidFill>
                <a:latin typeface="Calibri" pitchFamily="34" charset="0"/>
                <a:ea typeface="Calibri" pitchFamily="34" charset="-122"/>
                <a:cs typeface="Calibri" pitchFamily="34" charset="-120"/>
              </a:rPr>
              <a:t>Base para patrones de diseño, arquitectura limpia y metodologías ágiles.</a:t>
            </a:r>
            <a:endParaRPr lang="en-US" sz="1150" dirty="0"/>
          </a:p>
        </p:txBody>
      </p:sp>
      <p:sp>
        <p:nvSpPr>
          <p:cNvPr id="23" name="Text 17"/>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A9B4C4"/>
                </a:solidFill>
                <a:latin typeface="Calibri" pitchFamily="34" charset="0"/>
                <a:ea typeface="Calibri" pitchFamily="34" charset="-122"/>
                <a:cs typeface="Calibri" pitchFamily="34" charset="-120"/>
              </a:rPr>
              <a:t>POO II · Temática 1 · Principios avanzados de POO · CUN</a:t>
            </a:r>
            <a:endParaRPr lang="en-US" sz="900" dirty="0"/>
          </a:p>
        </p:txBody>
      </p:sp>
      <p:sp>
        <p:nvSpPr>
          <p:cNvPr id="24" name="Text 18"/>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A9B4C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libri" pitchFamily="34" charset="0"/>
                <a:ea typeface="Calibri" pitchFamily="34" charset="-122"/>
                <a:cs typeface="Calibri" pitchFamily="34" charset="-120"/>
              </a:rPr>
              <a:t>Referencias (APA 7)</a:t>
            </a:r>
            <a:endParaRPr lang="en-US" sz="2800" dirty="0"/>
          </a:p>
        </p:txBody>
      </p:sp>
      <p:sp>
        <p:nvSpPr>
          <p:cNvPr id="3" name="Text 1"/>
          <p:cNvSpPr txBox="1"/>
          <p:nvPr/>
        </p:nvSpPr>
        <p:spPr>
          <a:xfrm>
            <a:off x="457200" y="1188720"/>
            <a:ext cx="5120640" cy="3200400"/>
          </a:xfrm>
          <a:prstGeom prst="rect">
            <a:avLst/>
          </a:prstGeom>
          <a:noFill/>
          <a:ln/>
        </p:spPr>
        <p:txBody>
          <a:bodyPr wrap="square" lIns="0" tIns="0" rIns="0" bIns="0" rtlCol="0" anchor="t"/>
          <a:lstStyle/>
          <a:p>
            <a:pPr indent="0" marL="0">
              <a:spcAft>
                <a:spcPts val="1000"/>
              </a:spcAft>
              <a:buNone/>
            </a:pPr>
            <a:r>
              <a:rPr lang="en-US" sz="1250" dirty="0">
                <a:solidFill>
                  <a:srgbClr val="1F2933"/>
                </a:solidFill>
                <a:latin typeface="Calibri" pitchFamily="34" charset="0"/>
                <a:ea typeface="Calibri" pitchFamily="34" charset="-122"/>
                <a:cs typeface="Calibri" pitchFamily="34" charset="-120"/>
              </a:rPr>
              <a:t>Cairo Battistutti, O. (2022). Aprende a programar en Java: De cero al infinito.</a:t>
            </a:r>
            <a:endParaRPr lang="en-US" sz="1250" dirty="0"/>
          </a:p>
          <a:p>
            <a:pPr indent="0" marL="0">
              <a:spcAft>
                <a:spcPts val="1000"/>
              </a:spcAft>
              <a:buNone/>
            </a:pPr>
            <a:r>
              <a:rPr lang="en-US" sz="1250" dirty="0">
                <a:solidFill>
                  <a:srgbClr val="1F2933"/>
                </a:solidFill>
                <a:latin typeface="Calibri" pitchFamily="34" charset="0"/>
                <a:ea typeface="Calibri" pitchFamily="34" charset="-122"/>
                <a:cs typeface="Calibri" pitchFamily="34" charset="-120"/>
              </a:rPr>
              <a:t>González, A. H., &amp; Gallo, S. L. (2021). Herencia y polimorfismo.</a:t>
            </a:r>
            <a:endParaRPr lang="en-US" sz="1250" dirty="0"/>
          </a:p>
          <a:p>
            <a:pPr indent="0" marL="0">
              <a:spcAft>
                <a:spcPts val="1000"/>
              </a:spcAft>
              <a:buNone/>
            </a:pPr>
            <a:r>
              <a:rPr lang="en-US" sz="1250" dirty="0">
                <a:solidFill>
                  <a:srgbClr val="1F2933"/>
                </a:solidFill>
                <a:latin typeface="Calibri" pitchFamily="34" charset="0"/>
                <a:ea typeface="Calibri" pitchFamily="34" charset="-122"/>
                <a:cs typeface="Calibri" pitchFamily="34" charset="-120"/>
              </a:rPr>
              <a:t>Hernández, M., &amp; Baquero, L. (2023). Programación orientada a objetos en Java: Buenas prácticas. Ediciones de la U.</a:t>
            </a:r>
            <a:endParaRPr lang="en-US" sz="1250" dirty="0"/>
          </a:p>
          <a:p>
            <a:pPr indent="0" marL="0">
              <a:spcAft>
                <a:spcPts val="1000"/>
              </a:spcAft>
              <a:buNone/>
            </a:pPr>
            <a:r>
              <a:rPr lang="en-US" sz="1250" dirty="0">
                <a:solidFill>
                  <a:srgbClr val="1F2933"/>
                </a:solidFill>
                <a:latin typeface="Calibri" pitchFamily="34" charset="0"/>
                <a:ea typeface="Calibri" pitchFamily="34" charset="-122"/>
                <a:cs typeface="Calibri" pitchFamily="34" charset="-120"/>
              </a:rPr>
              <a:t>Navarro, D., &amp; Rodríguez, S. (2023). Programación orientada a objetos en Python: Teoría, patrones y prácticas avanzadas. Alfaomega.</a:t>
            </a:r>
            <a:endParaRPr lang="en-US" sz="1250" dirty="0"/>
          </a:p>
          <a:p>
            <a:pPr indent="0" marL="0">
              <a:spcAft>
                <a:spcPts val="1000"/>
              </a:spcAft>
              <a:buNone/>
            </a:pPr>
            <a:r>
              <a:rPr lang="en-US" sz="1250" dirty="0">
                <a:solidFill>
                  <a:srgbClr val="1F2933"/>
                </a:solidFill>
                <a:latin typeface="Calibri" pitchFamily="34" charset="0"/>
                <a:ea typeface="Calibri" pitchFamily="34" charset="-122"/>
                <a:cs typeface="Calibri" pitchFamily="34" charset="-120"/>
              </a:rPr>
              <a:t>Vázquez, M. (2020). Java avanzado: Aplicación de principios orientados a objetos y patrones de diseño. Pearson.</a:t>
            </a:r>
            <a:endParaRPr lang="en-US" sz="1250" dirty="0"/>
          </a:p>
        </p:txBody>
      </p:sp>
      <p:sp>
        <p:nvSpPr>
          <p:cNvPr id="4" name="Shape 2"/>
          <p:cNvSpPr/>
          <p:nvPr/>
        </p:nvSpPr>
        <p:spPr>
          <a:xfrm>
            <a:off x="5943600" y="1188720"/>
            <a:ext cx="2743200" cy="3200400"/>
          </a:xfrm>
          <a:prstGeom prst="roundRect">
            <a:avLst>
              <a:gd name="adj" fmla="val 4000"/>
            </a:avLst>
          </a:prstGeom>
          <a:solidFill>
            <a:srgbClr val="F3F5F8"/>
          </a:solidFill>
          <a:ln w="9525">
            <a:solidFill>
              <a:srgbClr val="D9DEE5"/>
            </a:solidFill>
            <a:prstDash val="solid"/>
          </a:ln>
        </p:spPr>
      </p:sp>
      <p:sp>
        <p:nvSpPr>
          <p:cNvPr id="5" name="Shape 3"/>
          <p:cNvSpPr/>
          <p:nvPr/>
        </p:nvSpPr>
        <p:spPr>
          <a:xfrm>
            <a:off x="6126480" y="1371600"/>
            <a:ext cx="548640" cy="548640"/>
          </a:xfrm>
          <a:prstGeom prst="ellipse">
            <a:avLst/>
          </a:prstGeom>
          <a:solidFill>
            <a:srgbClr val="1B2A41"/>
          </a:solidFill>
          <a:ln w="12700">
            <a:solidFill>
              <a:srgbClr val="1B2A41"/>
            </a:solidFill>
            <a:prstDash val="solid"/>
          </a:ln>
        </p:spPr>
      </p:sp>
      <p:pic>
        <p:nvPicPr>
          <p:cNvPr id="6" name="Image 0" descr="preencoded.png">    </p:cNvPr>
          <p:cNvPicPr>
            <a:picLocks noChangeAspect="1"/>
          </p:cNvPicPr>
          <p:nvPr/>
        </p:nvPicPr>
        <p:blipFill>
          <a:blip r:embed="rId1"/>
          <a:stretch>
            <a:fillRect/>
          </a:stretch>
        </p:blipFill>
        <p:spPr>
          <a:xfrm>
            <a:off x="6269126" y="1514246"/>
            <a:ext cx="263347" cy="263347"/>
          </a:xfrm>
          <a:prstGeom prst="rect">
            <a:avLst/>
          </a:prstGeom>
        </p:spPr>
      </p:pic>
      <p:sp>
        <p:nvSpPr>
          <p:cNvPr id="7" name="Text 4"/>
          <p:cNvSpPr txBox="1"/>
          <p:nvPr/>
        </p:nvSpPr>
        <p:spPr>
          <a:xfrm>
            <a:off x="6766560" y="1417320"/>
            <a:ext cx="1828800" cy="457200"/>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Material del curso</a:t>
            </a:r>
            <a:endParaRPr lang="en-US" sz="1400" dirty="0"/>
          </a:p>
        </p:txBody>
      </p:sp>
      <p:sp>
        <p:nvSpPr>
          <p:cNvPr id="8" name="Text 5"/>
          <p:cNvSpPr txBox="1"/>
          <p:nvPr/>
        </p:nvSpPr>
        <p:spPr>
          <a:xfrm>
            <a:off x="6126480" y="2103120"/>
            <a:ext cx="2377440" cy="219456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2933"/>
                </a:solidFill>
                <a:latin typeface="Calibri" pitchFamily="34" charset="0"/>
                <a:ea typeface="Calibri" pitchFamily="34" charset="-122"/>
                <a:cs typeface="Calibri" pitchFamily="34" charset="-120"/>
              </a:rPr>
              <a:t>Recurso G1: Principios avanzados de POO (DIS11, temática 1).</a:t>
            </a:r>
            <a:endParaRPr lang="en-US" sz="1100" dirty="0"/>
          </a:p>
          <a:p>
            <a:pPr marL="342900" indent="-342900">
              <a:spcAft>
                <a:spcPts val="600"/>
              </a:spcAft>
              <a:buSzPct val="100000"/>
              <a:buChar char="■"/>
            </a:pPr>
            <a:r>
              <a:rPr lang="en-US" sz="1100" dirty="0">
                <a:solidFill>
                  <a:srgbClr val="1F2933"/>
                </a:solidFill>
                <a:latin typeface="Calibri" pitchFamily="34" charset="0"/>
                <a:ea typeface="Calibri" pitchFamily="34" charset="-122"/>
                <a:cs typeface="Calibri" pitchFamily="34" charset="-120"/>
              </a:rPr>
              <a:t>Proyecto POO-Fundamentos, módulo 10 y README del módulo.</a:t>
            </a:r>
            <a:endParaRPr lang="en-US" sz="1100" dirty="0"/>
          </a:p>
          <a:p>
            <a:pPr marL="342900" indent="-342900">
              <a:spcAft>
                <a:spcPts val="600"/>
              </a:spcAft>
              <a:buSzPct val="100000"/>
              <a:buChar char="■"/>
            </a:pPr>
            <a:r>
              <a:rPr lang="en-US" sz="1100" dirty="0">
                <a:solidFill>
                  <a:srgbClr val="1F2933"/>
                </a:solidFill>
                <a:latin typeface="Calibri" pitchFamily="34" charset="0"/>
                <a:ea typeface="Calibri" pitchFamily="34" charset="-122"/>
                <a:cs typeface="Calibri" pitchFamily="34" charset="-120"/>
              </a:rPr>
              <a:t>Módulos 1 a 9: repaso de fundamentos.</a:t>
            </a:r>
            <a:endParaRPr lang="en-US" sz="1100" dirty="0"/>
          </a:p>
        </p:txBody>
      </p:sp>
      <p:sp>
        <p:nvSpPr>
          <p:cNvPr id="9" name="Text 6"/>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6B7A8C"/>
                </a:solidFill>
                <a:latin typeface="Calibri" pitchFamily="34" charset="0"/>
                <a:ea typeface="Calibri" pitchFamily="34" charset="-122"/>
                <a:cs typeface="Calibri" pitchFamily="34" charset="-120"/>
              </a:rPr>
              <a:t>POO II · Temática 1 · Principios avanzados de POO · CUN</a:t>
            </a:r>
            <a:endParaRPr lang="en-US" sz="900" dirty="0"/>
          </a:p>
        </p:txBody>
      </p:sp>
      <p:sp>
        <p:nvSpPr>
          <p:cNvPr id="10" name="Text 7"/>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6B7A8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Principios Avanzados de Programación Orientada a Objetos</dc:title>
  <dc:subject>PptxGenJS Presentation</dc:subject>
  <dc:creator>Docencia POO II · CUN</dc:creator>
  <cp:lastModifiedBy>Docencia POO II · CUN</cp:lastModifiedBy>
  <cp:revision>1</cp:revision>
  <dcterms:created xsi:type="dcterms:W3CDTF">2026-09-30T23:21:34Z</dcterms:created>
  <dcterms:modified xsi:type="dcterms:W3CDTF">2026-09-30T23:21:34Z</dcterms:modified>
</cp:coreProperties>
</file>