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png"/><Relationship Id="rId5" Type="http://schemas.openxmlformats.org/officeDocument/2006/relationships/image" Target="../media/image1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640080"/>
            <a:ext cx="45720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F0A500"/>
                </a:solidFill>
                <a:latin typeface="Calibri"/>
              </a:rPr>
              <a:t>TEMÁTICA 2 · G2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005840"/>
            <a:ext cx="4937760" cy="1737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3400" b="1">
                <a:solidFill>
                  <a:srgbClr val="FFFFFF"/>
                </a:solidFill>
                <a:latin typeface="Calibri"/>
              </a:rPr>
              <a:t>Interfaces y Clases Abstractas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2834640"/>
            <a:ext cx="4937760" cy="36576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0">
                <a:solidFill>
                  <a:srgbClr val="CADCFC"/>
                </a:solidFill>
                <a:latin typeface="Calibri"/>
              </a:rPr>
              <a:t>Contratos · Moldes · Strategy · Interfaces funcionales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420624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A9B4C4"/>
                </a:solidFill>
                <a:latin typeface="Calibri"/>
              </a:rPr>
              <a:t>Programación Orientada a Objetos II (INGS0806) · Ingeniería de Sistemas · CUN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4480560"/>
            <a:ext cx="5120640" cy="2743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A9B4C4"/>
                </a:solidFill>
                <a:latin typeface="Calibri"/>
              </a:rPr>
              <a:t>Con ejemplos ejecutables del proyecto POO-Fundamentos (Java 17)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623560" y="914400"/>
            <a:ext cx="3154680" cy="3291840"/>
          </a:xfrm>
          <a:prstGeom prst="roundRect">
            <a:avLst>
              <a:gd name="adj" fmla="val 289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788152" y="1078992"/>
            <a:ext cx="2825496" cy="30284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El contrato dice QUÉ,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nunca CÓMO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public interface MetodoDePago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boolean procesarPago(double m);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String obtenerEstado();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default boolean montoValido(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  double m)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  return m &gt;= MONTO_MINIMO;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class PagoNequi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implements MetodoDePago { ... }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Ruta de la sesión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Cinco ideas, cinco ejemplos prácticos que se pueden ejecutar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877824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2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8019" y="1881835"/>
            <a:ext cx="351129" cy="351129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594360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El problema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Por qué duele el cambio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2121408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2542032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2-4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2227" y="1881835"/>
            <a:ext cx="351129" cy="351129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2258568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231136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Clase abstracta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31136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Ejemplo: Personaje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3785616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4206240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2-2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96435" y="1881835"/>
            <a:ext cx="351129" cy="351129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3922776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895344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Interfaz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95344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Ejemplo: MetodoDePago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49824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Oval 22"/>
          <p:cNvSpPr/>
          <p:nvPr/>
        </p:nvSpPr>
        <p:spPr>
          <a:xfrm>
            <a:off x="5870448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4" name="Picture 23" descr="3-1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60643" y="1881835"/>
            <a:ext cx="351129" cy="351129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5586984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559552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¿Cuál uso?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559552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Tabla de decisión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7114032" y="1417320"/>
            <a:ext cx="1572768" cy="2651760"/>
          </a:xfrm>
          <a:prstGeom prst="roundRect">
            <a:avLst>
              <a:gd name="adj" fmla="val 6976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Oval 28"/>
          <p:cNvSpPr/>
          <p:nvPr/>
        </p:nvSpPr>
        <p:spPr>
          <a:xfrm>
            <a:off x="7534656" y="1691640"/>
            <a:ext cx="731520" cy="73152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0" name="Picture 29" descr="2-3_1B2A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24851" y="1881835"/>
            <a:ext cx="351129" cy="351129"/>
          </a:xfrm>
          <a:prstGeom prst="rect">
            <a:avLst/>
          </a:prstGeom>
        </p:spPr>
      </p:pic>
      <p:sp>
        <p:nvSpPr>
          <p:cNvPr id="31" name="TextBox 30"/>
          <p:cNvSpPr txBox="1"/>
          <p:nvPr/>
        </p:nvSpPr>
        <p:spPr>
          <a:xfrm>
            <a:off x="7251192" y="1527048"/>
            <a:ext cx="3657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6B7A8C"/>
                </a:solidFill>
                <a:latin typeface="Calibri"/>
              </a:rPr>
              <a:t>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223760" y="2606040"/>
            <a:ext cx="1353312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EntregaYa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223760" y="3017520"/>
            <a:ext cx="1353312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Strategy + lambdas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57200" y="4297680"/>
            <a:ext cx="8229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0">
                <a:solidFill>
                  <a:srgbClr val="6B7A8C"/>
                </a:solidFill>
                <a:latin typeface="Calibri"/>
              </a:rPr>
              <a:t>Cierre: taller en clase + referencias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El problema que resuelven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420624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1350" b="0">
                <a:solidFill>
                  <a:srgbClr val="1F2933"/>
                </a:solidFill>
                <a:latin typeface="Calibri"/>
              </a:rPr>
              <a:t>Integrar un método de pago nuevo —Nequi, DaviPlata— en un sistema rígido obliga a modificar módulos centrales y arriesga funcionalidades que ya operaban bien.</a:t>
            </a:r>
          </a:p>
          <a:p>
            <a:pPr algn="l" marL="0" indent="0">
              <a:spcBef>
                <a:spcPts val="0"/>
              </a:spcBef>
              <a:spcAft>
                <a:spcPts val="1000"/>
              </a:spcAft>
              <a:buNone/>
            </a:pPr>
            <a:r>
              <a:rPr sz="1350" b="0">
                <a:solidFill>
                  <a:srgbClr val="1F2933"/>
                </a:solidFill>
                <a:latin typeface="Calibri"/>
              </a:rPr>
              <a:t>Ese fenómeno es el alto acoplamiento: convierte cada funcionalidad nueva en un proyecto costoso, lento y propenso a fallos.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461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6B7A8C"/>
                </a:solidFill>
                <a:latin typeface="Calibri"/>
              </a:rPr>
              <a:t>López Goytia (2015); Joyanes Aguilar (2020)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611880"/>
            <a:ext cx="420624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>
                <a:solidFill>
                  <a:srgbClr val="1B2A41"/>
                </a:solidFill>
                <a:latin typeface="Calibri"/>
              </a:rPr>
              <a:t>Las interfaces y las clases abstractas no son sintaxis: son las dos herramientas con las que un sistema acoge el cambio en vez de temerle.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0" y="1097280"/>
            <a:ext cx="3657600" cy="1033271"/>
          </a:xfrm>
          <a:prstGeom prst="roundRect">
            <a:avLst>
              <a:gd name="adj" fmla="val 10619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Oval 6"/>
          <p:cNvSpPr/>
          <p:nvPr/>
        </p:nvSpPr>
        <p:spPr>
          <a:xfrm>
            <a:off x="5212080" y="1335024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8" name="Picture 7" descr="2-1_F0A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54726" y="1477670"/>
            <a:ext cx="263347" cy="263347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5943600" y="1225295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El contrato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0" y="1536192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Como el estándar USB: al computador no le importa qué conectes, solo que cumpla el contrato.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2221991"/>
            <a:ext cx="3657600" cy="1033271"/>
          </a:xfrm>
          <a:prstGeom prst="roundRect">
            <a:avLst>
              <a:gd name="adj" fmla="val 10619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Oval 11"/>
          <p:cNvSpPr/>
          <p:nvPr/>
        </p:nvSpPr>
        <p:spPr>
          <a:xfrm>
            <a:off x="5212080" y="2459735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2-4_F0A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54726" y="2602382"/>
            <a:ext cx="263347" cy="263347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5943600" y="2350008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El molde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0" y="2660903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Como el plano maestro de una franquicia: estructura común arriba, detalles propios en cada tienda.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0" y="3346704"/>
            <a:ext cx="3657600" cy="1033271"/>
          </a:xfrm>
          <a:prstGeom prst="roundRect">
            <a:avLst>
              <a:gd name="adj" fmla="val 10619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Oval 16"/>
          <p:cNvSpPr/>
          <p:nvPr/>
        </p:nvSpPr>
        <p:spPr>
          <a:xfrm>
            <a:off x="5212080" y="3584448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3-1_F0A5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54726" y="3727094"/>
            <a:ext cx="263347" cy="263347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5943600" y="3474720"/>
            <a:ext cx="2606040" cy="29260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1B2A41"/>
                </a:solidFill>
                <a:latin typeface="Calibri"/>
              </a:rPr>
              <a:t>El criterio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0" y="3785616"/>
            <a:ext cx="26060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Elegir entre uno y otro es la frontera entre codificar y diseñar software.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Clases abstractas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Un molde semi-construido: comparte estado y código, y deja sin construir lo que cambia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-4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" y="1492300"/>
            <a:ext cx="307238" cy="30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325880"/>
            <a:ext cx="3474720" cy="11887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1F2933"/>
                </a:solidFill>
                <a:latin typeface="Calibri"/>
              </a:rPr>
              <a:t>Define atributos y comportamiento comunes a varias subclases muy relacionadas, pero es demasiado genérica para existir como objeto concreto: new Vehiculo() no compila.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542032"/>
            <a:ext cx="347472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6B7A8C"/>
                </a:solidFill>
                <a:latin typeface="Calibri"/>
              </a:rPr>
              <a:t>Flórez Fernández (2012); Moreno Pérez (2015)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2926080"/>
            <a:ext cx="4251960" cy="1554480"/>
          </a:xfrm>
          <a:prstGeom prst="roundRect">
            <a:avLst>
              <a:gd name="adj" fmla="val 7058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017520"/>
            <a:ext cx="393192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alibri"/>
              </a:rPr>
              <a:t>Úsala cuando…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337560"/>
            <a:ext cx="3931920" cy="10972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150" b="0">
                <a:solidFill>
                  <a:srgbClr val="1F2933"/>
                </a:solidFill>
                <a:latin typeface="Calibri"/>
              </a:rPr>
              <a:t>Quieres compartir código entre clases estrechamente relacionadas.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150" b="0">
                <a:solidFill>
                  <a:srgbClr val="1F2933"/>
                </a:solidFill>
                <a:latin typeface="Calibri"/>
              </a:rPr>
              <a:t>Las subclases tienen muchos campos o métodos en común.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150" b="0">
                <a:solidFill>
                  <a:srgbClr val="1F2933"/>
                </a:solidFill>
                <a:latin typeface="Calibri"/>
              </a:rPr>
              <a:t>Necesitas campos de estado, no solo constantes.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0" y="1325880"/>
            <a:ext cx="3657600" cy="3154680"/>
          </a:xfrm>
          <a:prstGeom prst="roundRect">
            <a:avLst>
              <a:gd name="adj" fmla="val 289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193792" y="1399032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modulo11_interfaces/Personaje.java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193792" y="1691640"/>
            <a:ext cx="3328416" cy="2690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// MOLDE: estado + código común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abstract class Personaje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protected int puntosDeVida;    // ESTADO: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protected int nivelDeEnergia;  // una interfaz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                           // no puede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public void moverse(String d)  {...}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public void recibirDanio(int n){...}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  // cada subclase DEBE implementarlo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public abstract void usarHabilidadEspecial();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8A80"/>
                </a:solidFill>
                <a:latin typeface="Courier New"/>
              </a:rPr>
              <a:t>new Personaje(...)   -&gt;   NO COMPILA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1 · El molde en acción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Tres personajes, cero duplicación: cada subclase solo aporta lo que lo hace distinto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663440" cy="320040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3342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F0A500"/>
                </a:solidFill>
                <a:latin typeface="Courier New"/>
              </a:rPr>
              <a:t>Mago.java · Guerrero.java · Arquero.java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334255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C792EA"/>
                </a:solidFill>
                <a:latin typeface="Courier New"/>
              </a:rPr>
              <a:t>public class Mago extends Personaje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  public Mago(String nombre)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    super(nombre, 70, 150);  // menos vida, más energía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  @Override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  public void usarHabilidadEspecial()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FFCB6B"/>
                </a:solidFill>
                <a:latin typeface="Courier New"/>
              </a:rPr>
              <a:t>    System.out.println("¡bola de fuego!");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  @Override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  public int costoEnergia() { return 50;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>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8A94A6"/>
                </a:solidFill>
                <a:latin typeface="Courier New"/>
              </a:rPr>
              <a:t>// Guerrero: super(n, 150, 60) -&gt; golpe de hacha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8A94A6"/>
                </a:solidFill>
                <a:latin typeface="Courier New"/>
              </a:rPr>
              <a:t>// Arquero : super(n, 100, 90) -&gt; lluvia de flechas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1000" b="0">
                <a:solidFill>
                  <a:srgbClr val="8A94A6"/>
                </a:solidFill>
                <a:latin typeface="Courier New"/>
              </a:rPr>
              <a:t>// Ninguno reescribe moverse() ni recibirDanio()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49240" y="1280160"/>
            <a:ext cx="3337560" cy="1874519"/>
          </a:xfrm>
          <a:prstGeom prst="roundRect">
            <a:avLst>
              <a:gd name="adj" fmla="val 487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513831" y="1353312"/>
            <a:ext cx="30083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Personaje.java — template method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13831" y="1645919"/>
            <a:ext cx="3008376" cy="1410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final void jugarTurno(String dir)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moverse(dir);               // común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if (energia &gt;= costoEnergia())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usarHabilidadEspecial();  // varía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energia -= costoEnergia();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349240" y="3291840"/>
            <a:ext cx="3337560" cy="1188720"/>
          </a:xfrm>
          <a:prstGeom prst="roundRect">
            <a:avLst>
              <a:gd name="adj" fmla="val 923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486400" y="342900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2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05272" y="354787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035040" y="3401568"/>
            <a:ext cx="25603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El esqueleto del turno se escribe una vez y es final: ninguna subclase puede alterar el orden. Agregar un Nigromante son 12 líneas.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Interfaces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Un contrato 100 % abstracto: establece qué se debe poder hacer, nunca cómo</a:t>
            </a:r>
          </a:p>
        </p:txBody>
      </p:sp>
      <p:sp>
        <p:nvSpPr>
          <p:cNvPr id="4" name="Oval 3"/>
          <p:cNvSpPr/>
          <p:nvPr/>
        </p:nvSpPr>
        <p:spPr>
          <a:xfrm>
            <a:off x="457200" y="1325880"/>
            <a:ext cx="640080" cy="64008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-2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620" y="1492300"/>
            <a:ext cx="307238" cy="30723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234440" y="1325880"/>
            <a:ext cx="310896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1F2933"/>
                </a:solidFill>
                <a:latin typeface="Calibri"/>
              </a:rPr>
              <a:t>Colección de métodos abstractos y constantes que obliga a cualquier clase que la firme a implementarlos. Una clase hereda de UNA superclase, pero implementa TANTAS interfaces como necesite.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34440" y="2743200"/>
            <a:ext cx="310896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6B7A8C"/>
                </a:solidFill>
                <a:latin typeface="Calibri"/>
              </a:rPr>
              <a:t>Barnes &amp; Kölling (2017); Vélez Serrano et al. (2011)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3108960"/>
            <a:ext cx="3886200" cy="1371600"/>
          </a:xfrm>
          <a:prstGeom prst="roundRect">
            <a:avLst>
              <a:gd name="adj" fmla="val 8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356616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1B2A41"/>
                </a:solidFill>
                <a:latin typeface="Calibri"/>
              </a:rPr>
              <a:t>Úsala cuando…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3520440"/>
            <a:ext cx="35661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50" b="0">
                <a:solidFill>
                  <a:srgbClr val="1F2933"/>
                </a:solidFill>
                <a:latin typeface="Calibri"/>
              </a:rPr>
              <a:t>Clases sin parentesco deben compartir un comportamiento.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50" b="0">
                <a:solidFill>
                  <a:srgbClr val="1F2933"/>
                </a:solidFill>
                <a:latin typeface="Calibri"/>
              </a:rPr>
              <a:t>Te importa el qué, no quién lo implementa.</a:t>
            </a:r>
          </a:p>
          <a:p>
            <a:pPr algn="l" marL="228600" indent="-228600">
              <a:spcBef>
                <a:spcPts val="0"/>
              </a:spcBef>
              <a:spcAft>
                <a:spcPts val="400"/>
              </a:spcAft>
              <a:buSzPct val="90000"/>
              <a:buChar char="■"/>
            </a:pPr>
            <a:r>
              <a:rPr sz="1150" b="0">
                <a:solidFill>
                  <a:srgbClr val="1F2933"/>
                </a:solidFill>
                <a:latin typeface="Calibri"/>
              </a:rPr>
              <a:t>Quieres herencia múltiple de tipos.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754880" y="1371600"/>
            <a:ext cx="3931920" cy="548640"/>
          </a:xfrm>
          <a:prstGeom prst="roundRect">
            <a:avLst>
              <a:gd name="adj" fmla="val 13333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754880" y="1371600"/>
            <a:ext cx="393192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00" b="1">
                <a:solidFill>
                  <a:srgbClr val="FFFFFF"/>
                </a:solidFill>
                <a:latin typeface="Courier New"/>
              </a:rPr>
              <a:t>Checkout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720840" y="1920240"/>
            <a:ext cx="0" cy="411480"/>
          </a:xfrm>
          <a:prstGeom prst="line">
            <a:avLst/>
          </a:prstGeom>
          <a:ln w="22225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812280" y="1965960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6B7A8C"/>
                </a:solidFill>
                <a:latin typeface="Calibri"/>
              </a:rPr>
              <a:t>depende de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257800" y="2377440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0A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5257800" y="2377440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A8C"/>
                </a:solidFill>
                <a:latin typeface="Courier New"/>
              </a:rPr>
              <a:t>«interface»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1100" b="1">
                <a:solidFill>
                  <a:srgbClr val="1B2A41"/>
                </a:solidFill>
                <a:latin typeface="Courier New"/>
              </a:rPr>
              <a:t>MetodoDePago</a:t>
            </a:r>
          </a:p>
        </p:txBody>
      </p:sp>
      <p:cxnSp>
        <p:nvCxnSpPr>
          <p:cNvPr id="17" name="Connector 16"/>
          <p:cNvCxnSpPr/>
          <p:nvPr/>
        </p:nvCxnSpPr>
        <p:spPr>
          <a:xfrm flipV="1">
            <a:off x="5440680" y="2971800"/>
            <a:ext cx="502920" cy="502920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 17"/>
          <p:cNvCxnSpPr/>
          <p:nvPr/>
        </p:nvCxnSpPr>
        <p:spPr>
          <a:xfrm flipV="1">
            <a:off x="6720840" y="2971800"/>
            <a:ext cx="0" cy="502920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 18"/>
          <p:cNvCxnSpPr/>
          <p:nvPr/>
        </p:nvCxnSpPr>
        <p:spPr>
          <a:xfrm flipH="1" flipV="1">
            <a:off x="7498079" y="2971800"/>
            <a:ext cx="502921" cy="502920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4736592" y="303580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implementan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754880" y="3520440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4754880" y="3520440"/>
            <a:ext cx="12252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1F2933"/>
                </a:solidFill>
                <a:latin typeface="Courier New"/>
              </a:rPr>
              <a:t>PagoPSE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108192" y="3520440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108192" y="3520440"/>
            <a:ext cx="12252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1F2933"/>
                </a:solidFill>
                <a:latin typeface="Courier New"/>
              </a:rPr>
              <a:t>PagoNequi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461504" y="3520440"/>
            <a:ext cx="1225296" cy="457200"/>
          </a:xfrm>
          <a:prstGeom prst="roundRect">
            <a:avLst>
              <a:gd name="adj" fmla="val 16000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461504" y="3520440"/>
            <a:ext cx="1225296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1F2933"/>
                </a:solidFill>
                <a:latin typeface="Courier New"/>
              </a:rPr>
              <a:t>PagoEfecty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54880" y="4114800"/>
            <a:ext cx="3931920" cy="4114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1B2A41"/>
                </a:solidFill>
                <a:latin typeface="Calibri"/>
              </a:rPr>
              <a:t>Agregar DaviPlata = una clase nueva. Checkout no se abre ni se vuelve a probar.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2 · Ecosistema de pagos en Colombia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Tres pasarelas con lógicas distintas detrás de un solo contrato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206240" cy="1600200"/>
          </a:xfrm>
          <a:prstGeom prst="roundRect">
            <a:avLst>
              <a:gd name="adj" fmla="val 5714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877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MetodoDePago.java — el contrato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877055" cy="1135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interface MetodoDePago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double MONTO_MINIMO = 1_000;  // static final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boolean procesarPago(double monto);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String obtenerEstado();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default boolean montoValido(double m)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return m &gt;= MONTO_MINIMO;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static String formatearCOP(double m) {...}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971800"/>
            <a:ext cx="4206240" cy="1508760"/>
          </a:xfrm>
          <a:prstGeom prst="roundRect">
            <a:avLst>
              <a:gd name="adj" fmla="val 6060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3044952"/>
            <a:ext cx="3877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PagoEfecty.java — sobreescribe el default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337560"/>
            <a:ext cx="3877055" cy="1044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class PagoEfecty implements MetodoDePago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private static final double MINIMO = 20_000;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@Override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public boolean montoValido(double m)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    return m &gt;= MINIMO;   // su propia regla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846320" y="1280160"/>
            <a:ext cx="3840480" cy="1600200"/>
          </a:xfrm>
          <a:prstGeom prst="roundRect">
            <a:avLst>
              <a:gd name="adj" fmla="val 5714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010912" y="1353312"/>
            <a:ext cx="3511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Checkout.java — no conoce ninguna pasarela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10912" y="1645919"/>
            <a:ext cx="3511296" cy="11356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List&lt;MetodoDePago&gt; medios = List.of(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new PagoPSE("Bancolombia"),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new PagoNequi("300 123 4567"),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new PagoEfecty());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for (MetodoDePago m : medios)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checkout.cobrar(m, 85_000);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846320" y="2971800"/>
            <a:ext cx="3840480" cy="1508760"/>
          </a:xfrm>
          <a:prstGeom prst="roundRect">
            <a:avLst>
              <a:gd name="adj" fmla="val 6060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5010912" y="3044952"/>
            <a:ext cx="3511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11   (sección 1, salida real)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10912" y="3337560"/>
            <a:ext cx="3511296" cy="104424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Redirigiendo al portal de Bancolombia...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-&gt; PSE: transacción aprobada.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Generando solicitud push a Nequi...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-&gt; Nequi: esperando confirmación.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Cobrando con Efecty · $12.000 COP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  -&gt; exige al menos $20.000 COP.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¿Clase abstracta o interfaz?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Moreno Pérez (2015) · Ambas promueven la abstracción, pero sirven a propósitos distintos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429000" y="1170432"/>
            <a:ext cx="237744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6B7A8C"/>
                </a:solidFill>
                <a:latin typeface="Calibri"/>
              </a:rPr>
              <a:t>CLASE ABSTRACTA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0" y="1170432"/>
            <a:ext cx="2651760" cy="201168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1">
                <a:solidFill>
                  <a:srgbClr val="6B7A8C"/>
                </a:solidFill>
                <a:latin typeface="Calibri"/>
              </a:rPr>
              <a:t>INTERFAZ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135331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658368" y="135331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>
                <a:solidFill>
                  <a:srgbClr val="1B2A41"/>
                </a:solidFill>
                <a:latin typeface="Calibri"/>
              </a:rPr>
              <a:t>Estado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29000" y="135331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Campos de instancia, mutables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035040" y="135331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alibri"/>
              </a:rPr>
              <a:t>Solo constantes public static final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1860804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658368" y="1860804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>
                <a:solidFill>
                  <a:srgbClr val="1B2A41"/>
                </a:solidFill>
                <a:latin typeface="Calibri"/>
              </a:rPr>
              <a:t>Constructor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29000" y="1860804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Sí, lo usan las subclases con super()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1860804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alibri"/>
              </a:rPr>
              <a:t>No existe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57200" y="2368296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658368" y="2368296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>
                <a:solidFill>
                  <a:srgbClr val="1B2A41"/>
                </a:solidFill>
                <a:latin typeface="Calibri"/>
              </a:rPr>
              <a:t>Código concreto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29000" y="2368296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Métodos completos y campos protegidos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035040" y="2368296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alibri"/>
              </a:rPr>
              <a:t>Solo métodos default y static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2875788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58368" y="2875788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>
                <a:solidFill>
                  <a:srgbClr val="1B2A41"/>
                </a:solidFill>
                <a:latin typeface="Calibri"/>
              </a:rPr>
              <a:t>Cuántas por clase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429000" y="2875788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Una sola: extends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035040" y="2875788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alibri"/>
              </a:rPr>
              <a:t>Todas las que haga falta: implements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383280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58368" y="3383280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>
                <a:solidFill>
                  <a:srgbClr val="1B2A41"/>
                </a:solidFill>
                <a:latin typeface="Calibri"/>
              </a:rPr>
              <a:t>Se instancia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429000" y="3383280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No: es un molde sin terminar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035040" y="3383280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alibri"/>
              </a:rPr>
              <a:t>No: es solo un contrato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57200" y="3890772"/>
            <a:ext cx="8229600" cy="457200"/>
          </a:xfrm>
          <a:prstGeom prst="roundRect">
            <a:avLst>
              <a:gd name="adj" fmla="val 24000"/>
            </a:avLst>
          </a:prstGeom>
          <a:solidFill>
            <a:srgbClr val="FFFFFF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658368" y="3890772"/>
            <a:ext cx="265176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250" b="1">
                <a:solidFill>
                  <a:srgbClr val="1B2A41"/>
                </a:solidFill>
                <a:latin typeface="Calibri"/>
              </a:rPr>
              <a:t>Cuándo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429000" y="3890772"/>
            <a:ext cx="24688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"es un": clases muy relacionadas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035040" y="3890772"/>
            <a:ext cx="25146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0">
                <a:solidFill>
                  <a:srgbClr val="C98700"/>
                </a:solidFill>
                <a:latin typeface="Calibri"/>
              </a:rPr>
              <a:t>"sabe hacer": clases sin parentesco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462272"/>
            <a:ext cx="82296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50" b="1">
                <a:solidFill>
                  <a:srgbClr val="1B2A41"/>
                </a:solidFill>
                <a:latin typeface="Calibri"/>
              </a:rPr>
              <a:t>Regla práctica: si la frase natural es «es un», va clase abstracta; si es «sabe hacer», va interfaz.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3 · Las dos juntas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Vehiculo (abstracta) escribe la fórmula una vez; RastreableGPS agrega un segundo contrato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572000" cy="3200400"/>
          </a:xfrm>
          <a:prstGeom prst="roundRect">
            <a:avLst>
              <a:gd name="adj" fmla="val 285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242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0A500"/>
                </a:solidFill>
                <a:latin typeface="Courier New"/>
              </a:rPr>
              <a:t>Vehiculo.java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242816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C792EA"/>
                </a:solidFill>
                <a:latin typeface="Courier New"/>
              </a:rPr>
              <a:t>public abstract class Vehiculo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C792EA"/>
                </a:solidFill>
                <a:latin typeface="Courier New"/>
              </a:rPr>
              <a:t>    implements EstrategiaDeTransporte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protected final String placa;        // estado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public void arrancar() {...}         // concreto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8A94A6"/>
                </a:solidFill>
                <a:latin typeface="Courier New"/>
              </a:rPr>
              <a:t>  // cada subclase aporta SOLO sus números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protected abstract double velocidadPromedioKmh();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protected abstract double costoPorKm();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8A94A6"/>
                </a:solidFill>
                <a:latin typeface="Courier New"/>
              </a:rPr>
              <a:t>  // el contrato se cumple UNA vez, aquí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@Override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public double calcularTiempoEstimado(Ruta r)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  return (r.distanciaEnKm()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          / velocidadPromedioKmh()) * 60;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257800" y="1280160"/>
            <a:ext cx="3429000" cy="1874519"/>
          </a:xfrm>
          <a:prstGeom prst="roundRect">
            <a:avLst>
              <a:gd name="adj" fmla="val 4878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5422392" y="1353312"/>
            <a:ext cx="30998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Dron.java — herencia + implementación múltiple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22392" y="1645919"/>
            <a:ext cx="3099816" cy="141000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public class Dron extends Vehiculo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792EA"/>
                </a:solidFill>
                <a:latin typeface="Courier New"/>
              </a:rPr>
              <a:t>    implements RastreableGPS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  protected double costoPorKm() { return 900;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public String obtenerCoordenadas() {...}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public void enviarAlertaPosicion()  {...}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257800" y="3291840"/>
            <a:ext cx="3429000" cy="1188720"/>
          </a:xfrm>
          <a:prstGeom prst="roundRect">
            <a:avLst>
              <a:gd name="adj" fmla="val 923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5394960" y="3429000"/>
            <a:ext cx="457200" cy="457200"/>
          </a:xfrm>
          <a:prstGeom prst="ellipse">
            <a:avLst/>
          </a:prstGeom>
          <a:solidFill>
            <a:srgbClr val="2E8B57"/>
          </a:solidFill>
          <a:ln w="12700">
            <a:solidFill>
              <a:srgbClr val="2E8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11-2_FFFF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13832" y="3547872"/>
            <a:ext cx="219456" cy="219456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943600" y="3401568"/>
            <a:ext cx="260604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1F2933"/>
                </a:solidFill>
                <a:latin typeface="Calibri"/>
              </a:rPr>
              <a:t>El Dron es un Vehiculo (herencia) y además sabe reportar su posición (contrato). Herencia: una. Interfaces: todas las que haga falta.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Caso de estudio · EntregaYa S.A.S.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La flota era solo de motos; el negocio pide bicicletas, scooters y drones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114800" cy="2011680"/>
          </a:xfrm>
          <a:prstGeom prst="roundRect">
            <a:avLst>
              <a:gd name="adj" fmla="val 4545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7856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ServicioDeDespachoRigido.java — enfoque ingenuo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785615" cy="154716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void asignarPedido(Pedido p,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                          String tipoVehiculo)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8A80"/>
                </a:solidFill>
                <a:latin typeface="Courier New"/>
              </a:rPr>
              <a:t>  if (tipoVehiculo.equals("Moto"))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...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8A80"/>
                </a:solidFill>
                <a:latin typeface="Courier New"/>
              </a:rPr>
              <a:t>  } else if (tipoVehiculo.equals("Bicicleta"))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...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  // cada vehículo nuevo modifica ESTA clase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429000"/>
            <a:ext cx="4114800" cy="1051560"/>
          </a:xfrm>
          <a:prstGeom prst="roundRect">
            <a:avLst>
              <a:gd name="adj" fmla="val 10434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3520440"/>
            <a:ext cx="3749039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1">
                <a:solidFill>
                  <a:srgbClr val="C0392B"/>
                </a:solidFill>
                <a:latin typeface="Calibri"/>
              </a:rPr>
              <a:t>Viola Abierto/Cerrado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840480"/>
            <a:ext cx="3749039" cy="5943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Cada vehículo obliga a modificar y volver a probar una de las clases más críticas del sistema. Más riesgo, menos innovación.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937760" y="1325880"/>
            <a:ext cx="3749039" cy="502920"/>
          </a:xfrm>
          <a:prstGeom prst="roundRect">
            <a:avLst>
              <a:gd name="adj" fmla="val 14545"/>
            </a:avLst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937760" y="1325880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FFFFFF"/>
                </a:solidFill>
                <a:latin typeface="Courier New"/>
              </a:rPr>
              <a:t>ServicioDeDespacho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12280" y="1828800"/>
            <a:ext cx="0" cy="384048"/>
          </a:xfrm>
          <a:prstGeom prst="line">
            <a:avLst/>
          </a:prstGeom>
          <a:ln w="22225">
            <a:solidFill>
              <a:srgbClr val="1B2A4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912864" y="1856231"/>
            <a:ext cx="1371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6B7A8C"/>
                </a:solidFill>
                <a:latin typeface="Calibri"/>
              </a:rPr>
              <a:t>solo conoce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349240" y="2258568"/>
            <a:ext cx="292608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 w="25400">
            <a:solidFill>
              <a:srgbClr val="F0A500"/>
            </a:solidFill>
            <a:prstDash val="dash"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349240" y="2258568"/>
            <a:ext cx="292608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6B7A8C"/>
                </a:solidFill>
                <a:latin typeface="Courier New"/>
              </a:rPr>
              <a:t>«interface»</a:t>
            </a:r>
          </a:p>
          <a:p>
            <a:pPr algn="ctr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1">
                <a:solidFill>
                  <a:srgbClr val="1B2A41"/>
                </a:solidFill>
                <a:latin typeface="Courier New"/>
              </a:rPr>
              <a:t>EstrategiaDeTransporte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919472" y="2852928"/>
            <a:ext cx="100584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implementan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937760" y="3291840"/>
            <a:ext cx="1225296" cy="438912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4937760" y="3291840"/>
            <a:ext cx="12252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ourier New"/>
              </a:rPr>
              <a:t>Moto</a:t>
            </a:r>
          </a:p>
        </p:txBody>
      </p:sp>
      <p:cxnSp>
        <p:nvCxnSpPr>
          <p:cNvPr id="19" name="Connector 18"/>
          <p:cNvCxnSpPr/>
          <p:nvPr/>
        </p:nvCxnSpPr>
        <p:spPr>
          <a:xfrm flipV="1">
            <a:off x="5550408" y="2807208"/>
            <a:ext cx="1261872" cy="484632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6199632" y="3291840"/>
            <a:ext cx="1225296" cy="438912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6199632" y="3291840"/>
            <a:ext cx="12252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ourier New"/>
              </a:rPr>
              <a:t>Bicicleta</a:t>
            </a:r>
          </a:p>
        </p:txBody>
      </p:sp>
      <p:cxnSp>
        <p:nvCxnSpPr>
          <p:cNvPr id="22" name="Connector 21"/>
          <p:cNvCxnSpPr/>
          <p:nvPr/>
        </p:nvCxnSpPr>
        <p:spPr>
          <a:xfrm flipV="1">
            <a:off x="6812280" y="2807208"/>
            <a:ext cx="0" cy="484632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7461504" y="3291840"/>
            <a:ext cx="1225296" cy="438912"/>
          </a:xfrm>
          <a:prstGeom prst="roundRect">
            <a:avLst>
              <a:gd name="adj" fmla="val 16666"/>
            </a:avLst>
          </a:prstGeom>
          <a:solidFill>
            <a:srgbClr val="F3F5F8"/>
          </a:solidFill>
          <a:ln w="12700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461504" y="3291840"/>
            <a:ext cx="1225296" cy="438912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ct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50" b="0">
                <a:solidFill>
                  <a:srgbClr val="1F2933"/>
                </a:solidFill>
                <a:latin typeface="Courier New"/>
              </a:rPr>
              <a:t>Dron</a:t>
            </a:r>
          </a:p>
        </p:txBody>
      </p:sp>
      <p:cxnSp>
        <p:nvCxnSpPr>
          <p:cNvPr id="25" name="Connector 24"/>
          <p:cNvCxnSpPr/>
          <p:nvPr/>
        </p:nvCxnSpPr>
        <p:spPr>
          <a:xfrm flipH="1" flipV="1">
            <a:off x="6812280" y="2807208"/>
            <a:ext cx="1261872" cy="484632"/>
          </a:xfrm>
          <a:prstGeom prst="line">
            <a:avLst/>
          </a:prstGeom>
          <a:ln w="22225">
            <a:solidFill>
              <a:srgbClr val="C9870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4937760" y="3886200"/>
            <a:ext cx="3749039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1">
                <a:solidFill>
                  <a:srgbClr val="1B2A41"/>
                </a:solidFill>
                <a:latin typeface="Calibri"/>
              </a:rPr>
              <a:t>Patrón Strategy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937760" y="4133087"/>
            <a:ext cx="3749039" cy="502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1F2933"/>
                </a:solidFill>
                <a:latin typeface="Calibri"/>
              </a:rPr>
              <a:t>Impacto medido: integrar un vehículo pasó de 3 semanas a 4 días y las regresiones del módulo cayeron 90 %.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4 · Despacho desacoplado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El dron entra a la flota sin tocar el servicio; el diseño rígido tiene que rechazarlo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343400" cy="1371600"/>
          </a:xfrm>
          <a:prstGeom prst="roundRect">
            <a:avLst>
              <a:gd name="adj" fmla="val 6666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4014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EstrategiaDeTransporte.java — el contrato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4014215" cy="9070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interface EstrategiaDeTransporte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double calcularTiempoEstimado(Ruta ruta);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double calcularCostoEnvio(Ruta ruta);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String medio();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788920"/>
            <a:ext cx="4343400" cy="1691640"/>
          </a:xfrm>
          <a:prstGeom prst="roundRect">
            <a:avLst>
              <a:gd name="adj" fmla="val 5405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21792" y="2862072"/>
            <a:ext cx="401421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ServicioDeDespacho.java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3154679"/>
            <a:ext cx="4014215" cy="12271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String asignarPedido(Pedido pedido,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        EstrategiaDeTransporte transporte)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double min  = transporte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.calcularTiempoEstimado(pedido.ruta());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double costo = transporte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.calcularCostoEnvio(pedido.ruta());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8A94A6"/>
                </a:solidFill>
                <a:latin typeface="Courier New"/>
              </a:rPr>
              <a:t>  ...   // ninguna clase concreta aparece aquí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029200" y="1280160"/>
            <a:ext cx="3657600" cy="3200400"/>
          </a:xfrm>
          <a:prstGeom prst="roundRect">
            <a:avLst>
              <a:gd name="adj" fmla="val 2857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193792" y="1353312"/>
            <a:ext cx="332841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&gt; ejecutar.bat 11   (sección 4, salida real)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3792" y="1645919"/>
            <a:ext cx="3328416" cy="27358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Diseño rígido: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PED-9034 · Moto        18,8 min  $3.750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PED-9034 · Bicicleta   50,0 min  $1.875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  PED-9034 · tipo de vehículo no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8A80"/>
                </a:solidFill>
                <a:latin typeface="Courier New"/>
              </a:rPr>
              <a:t>            soportado: Dron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Diseño flexible: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PED-9034 · Moto ABC12D      18,8 min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       $3.750 COP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PED-9034 · Bicicleta BIC-004 50,0 min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       $1.875 COP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PED-9034 · Dron DRN-07      12,5 min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             $11.250 COP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El dron: una clase nueva, cero cambios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en ServicioDeDespacho.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Ejemplo práctico 5 · Interfaces funcionales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Un solo método abstracto habilita las lambdas: la base de los streams y la programación reactiva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206240" cy="1920240"/>
          </a:xfrm>
          <a:prstGeom prst="roundRect">
            <a:avLst>
              <a:gd name="adj" fmla="val 4761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877055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0A500"/>
                </a:solidFill>
                <a:latin typeface="Courier New"/>
              </a:rPr>
              <a:t>Notificador.java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877055" cy="1455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FFCB6B"/>
                </a:solidFill>
                <a:latin typeface="Courier New"/>
              </a:rPr>
              <a:t>@FunctionalInterface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C792EA"/>
                </a:solidFill>
                <a:latin typeface="Courier New"/>
              </a:rPr>
              <a:t>public interface Notificador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void enviar(String destino, String mensaje);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default Notificador y(Notificador otro) {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return (d, m) -&gt; { this.enviar(d, m);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                     otro.enviar(d, m); };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  static Notificador silencioso() {...}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00" b="0">
                <a:solidFill>
                  <a:srgbClr val="E6EDF3"/>
                </a:solidFill>
                <a:latin typeface="Courier New"/>
              </a:rPr>
              <a:t>}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3337560"/>
            <a:ext cx="4206240" cy="1143000"/>
          </a:xfrm>
          <a:prstGeom prst="roundRect">
            <a:avLst>
              <a:gd name="adj" fmla="val 96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Oval 7"/>
          <p:cNvSpPr/>
          <p:nvPr/>
        </p:nvSpPr>
        <p:spPr>
          <a:xfrm>
            <a:off x="621792" y="3493008"/>
            <a:ext cx="457200" cy="45720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9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0664" y="3611879"/>
            <a:ext cx="219456" cy="219456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1188720" y="3456432"/>
            <a:ext cx="3337560" cy="960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00" b="0">
                <a:solidFill>
                  <a:srgbClr val="1F2933"/>
                </a:solidFill>
                <a:latin typeface="Calibri"/>
              </a:rPr>
              <a:t>Si alguien agrega un segundo método abstracto, @FunctionalInterface hace fallar la compilación y todas las lambdas dejan de ser válidas. Blasco (2019)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846320" y="1280160"/>
            <a:ext cx="3840480" cy="1920240"/>
          </a:xfrm>
          <a:prstGeom prst="roundRect">
            <a:avLst>
              <a:gd name="adj" fmla="val 4761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010912" y="1353312"/>
            <a:ext cx="3511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ServicioNotificaciones — cambia en ejecución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10912" y="1645919"/>
            <a:ext cx="3511296" cy="14557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Notificador email = new NotificadorEmail();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servicio.setNotificador(email);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servicio.notificarUsuario(correo, "¡Bienvenida!");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/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8A94A6"/>
                </a:solidFill>
                <a:latin typeface="Courier New"/>
              </a:rPr>
              <a:t>// la misma interfaz, escrita como lambda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Notificador push = (destino, mensaje) -&gt;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FCB6B"/>
                </a:solidFill>
                <a:latin typeface="Courier New"/>
              </a:rPr>
              <a:t>    System.out.println("[Push] " + mensaje);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E6EDF3"/>
                </a:solidFill>
                <a:latin typeface="Courier New"/>
              </a:rPr>
              <a:t>servicio.setNotificador(push.y(email));  // los dos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846320" y="3337560"/>
            <a:ext cx="3840480" cy="1143000"/>
          </a:xfrm>
          <a:prstGeom prst="roundRect">
            <a:avLst>
              <a:gd name="adj" fmla="val 8000"/>
            </a:avLst>
          </a:prstGeom>
          <a:solidFill>
            <a:srgbClr val="0F1620"/>
          </a:solidFill>
          <a:ln w="12700">
            <a:solidFill>
              <a:srgbClr val="0F162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010912" y="3410712"/>
            <a:ext cx="351129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F0A500"/>
                </a:solidFill>
                <a:latin typeface="Courier New"/>
              </a:rPr>
              <a:t>salida real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10912" y="3703320"/>
            <a:ext cx="3511296" cy="67848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[Email -&gt; laura@cun.edu.co] ¡Bienvenida!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[SMS -&gt; 300 123 4567] Su código es 123456.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[Push -&gt; app-móvil] Su pedido va en camino.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850" b="0">
                <a:solidFill>
                  <a:srgbClr val="C3E88D"/>
                </a:solidFill>
                <a:latin typeface="Courier New"/>
              </a:rPr>
              <a:t>[Email -&gt; laura@cun.edu.co] Fue entregado.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Ejecútalo tú · proyecto POO-Fundamentos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804672"/>
            <a:ext cx="8229600" cy="3200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300" b="0">
                <a:solidFill>
                  <a:srgbClr val="6B7A8C"/>
                </a:solidFill>
                <a:latin typeface="Calibri"/>
              </a:rPr>
              <a:t>Todo el código de esta presentación está en el módulo 11 y corre con JDK 17+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280160"/>
            <a:ext cx="4023360" cy="1234440"/>
          </a:xfrm>
          <a:prstGeom prst="roundRect">
            <a:avLst>
              <a:gd name="adj" fmla="val 7407"/>
            </a:avLst>
          </a:prstGeom>
          <a:solidFill>
            <a:srgbClr val="1E2430"/>
          </a:solidFill>
          <a:ln w="12700">
            <a:solidFill>
              <a:srgbClr val="1E24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621792" y="1353312"/>
            <a:ext cx="3694176" cy="25603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F0A500"/>
                </a:solidFill>
                <a:latin typeface="Courier New"/>
              </a:rPr>
              <a:t>Windows (Linux/macOS: los .sh equivalentes)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1645919"/>
            <a:ext cx="3694176" cy="769924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cd POO-Fundamentos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compilar.bat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ejecutar.bat 11      // modulo de la Tematica 2</a:t>
            </a:r>
          </a:p>
          <a:p>
            <a:pPr algn="l" marL="0" indent="0">
              <a:lnSpc>
                <a:spcPct val="108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950" b="0">
                <a:solidFill>
                  <a:srgbClr val="E6EDF3"/>
                </a:solidFill>
                <a:latin typeface="Courier New"/>
              </a:rPr>
              <a:t>ejecutar.bat         // menu con los 11 modulos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2651760"/>
            <a:ext cx="4023360" cy="1828800"/>
          </a:xfrm>
          <a:prstGeom prst="roundRect">
            <a:avLst>
              <a:gd name="adj" fmla="val 6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640080" y="274320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1">
                <a:solidFill>
                  <a:srgbClr val="1B2A41"/>
                </a:solidFill>
                <a:latin typeface="Courier New"/>
              </a:rPr>
              <a:t>src/co/edu/cun/poo/modulo11_interfaces/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063240"/>
            <a:ext cx="365760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MetodoDePago, PagoPSE, PagoNequi, PagoEfecty, Checkout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Personaje, Mago, Guerrero, Arquero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Vehiculo, Moto, Bicicleta, Dron, RastreableGPS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EstrategiaDeTransporte, ServicioDeDespacho(Rigido), Ruta, Pedido</a:t>
            </a:r>
          </a:p>
          <a:p>
            <a:pPr algn="l" marL="228600" indent="-228600">
              <a:spcBef>
                <a:spcPts val="0"/>
              </a:spcBef>
              <a:spcAft>
                <a:spcPts val="300"/>
              </a:spcAft>
              <a:buSzPct val="90000"/>
              <a:buChar char="■"/>
            </a:pPr>
            <a:r>
              <a:rPr sz="1050" b="0">
                <a:solidFill>
                  <a:srgbClr val="1F2933"/>
                </a:solidFill>
                <a:latin typeface="Calibri"/>
              </a:rPr>
              <a:t>Notificador, NotificadorEmail/Sms, ServicioNotificaciones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709160" y="1280160"/>
            <a:ext cx="3977639" cy="3200400"/>
          </a:xfrm>
          <a:prstGeom prst="roundRect">
            <a:avLst>
              <a:gd name="adj" fmla="val 3428"/>
            </a:avLst>
          </a:prstGeom>
          <a:solidFill>
            <a:srgbClr val="1B2A41"/>
          </a:solidFill>
          <a:ln w="9525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Oval 10"/>
          <p:cNvSpPr/>
          <p:nvPr/>
        </p:nvSpPr>
        <p:spPr>
          <a:xfrm>
            <a:off x="4892040" y="146304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9-1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34686" y="1605686"/>
            <a:ext cx="263347" cy="263347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5577840" y="1508760"/>
            <a:ext cx="292608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800" b="1">
                <a:solidFill>
                  <a:srgbClr val="FFFFFF"/>
                </a:solidFill>
                <a:latin typeface="Calibri"/>
              </a:rPr>
              <a:t>Taller en clase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92040" y="2103120"/>
            <a:ext cx="3611880" cy="21031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150" b="0">
                <a:solidFill>
                  <a:srgbClr val="CADCFC"/>
                </a:solidFill>
                <a:latin typeface="Calibri"/>
              </a:rPr>
              <a:t>Crear TransporteCamioneta extendiendo Vehiculo (30 km/h, 700 COP/km).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150" b="0">
                <a:solidFill>
                  <a:srgbClr val="CADCFC"/>
                </a:solidFill>
                <a:latin typeface="Calibri"/>
              </a:rPr>
              <a:t>Crear la interfaz RequiereRefrigeracion e implementarla solo en la camioneta.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150" b="0">
                <a:solidFill>
                  <a:srgbClr val="CADCFC"/>
                </a:solidFill>
                <a:latin typeface="Calibri"/>
              </a:rPr>
              <a:t>Agregar un default recargoPorClima(Ruta) al contrato y sobreescribirlo en Bicicleta.</a:t>
            </a:r>
          </a:p>
          <a:p>
            <a:pPr algn="l" marL="228600" indent="-228600">
              <a:spcBef>
                <a:spcPts val="0"/>
              </a:spcBef>
              <a:spcAft>
                <a:spcPts val="500"/>
              </a:spcAft>
              <a:buSzPct val="90000"/>
              <a:buChar char="■"/>
            </a:pPr>
            <a:r>
              <a:rPr sz="1150" b="0">
                <a:solidFill>
                  <a:srgbClr val="CADCFC"/>
                </a:solidFill>
                <a:latin typeface="Calibri"/>
              </a:rPr>
              <a:t>Demostrar que ServicioDeDespacho no se modificó en ningún punto.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4133087"/>
            <a:ext cx="36118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000" b="0">
                <a:solidFill>
                  <a:srgbClr val="F0A500"/>
                </a:solidFill>
                <a:latin typeface="Calibri"/>
              </a:rPr>
              <a:t>Entrega: código + una frase justificando cada elección.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B2A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2004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FFFFFF"/>
                </a:solidFill>
                <a:latin typeface="Calibri"/>
              </a:rPr>
              <a:t>Conclusiones y proyección profesional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143000"/>
            <a:ext cx="4023360" cy="1508760"/>
          </a:xfrm>
          <a:prstGeom prst="roundRect">
            <a:avLst>
              <a:gd name="adj" fmla="val 7272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" name="Oval 3"/>
          <p:cNvSpPr/>
          <p:nvPr/>
        </p:nvSpPr>
        <p:spPr>
          <a:xfrm>
            <a:off x="640080" y="132588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2-2_1B2A4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2726" y="1468526"/>
            <a:ext cx="263347" cy="263347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1325880" y="1344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Contratos que desacoplan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828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CADCFC"/>
                </a:solidFill>
                <a:latin typeface="Calibri"/>
              </a:rPr>
              <a:t>Las interfaces permiten extender el sistema sin modificar lo que ya funciona.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143000"/>
            <a:ext cx="4023360" cy="1508760"/>
          </a:xfrm>
          <a:prstGeom prst="roundRect">
            <a:avLst>
              <a:gd name="adj" fmla="val 7272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Oval 8"/>
          <p:cNvSpPr/>
          <p:nvPr/>
        </p:nvSpPr>
        <p:spPr>
          <a:xfrm>
            <a:off x="4846320" y="132588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2-4_1B2A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8966" y="1468526"/>
            <a:ext cx="263347" cy="263347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532120" y="134416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Moldes que reutilizan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532120" y="182880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CADCFC"/>
                </a:solidFill>
                <a:latin typeface="Calibri"/>
              </a:rPr>
              <a:t>Las clases abstractas eliminan la duplicación entre clases hermanas y fijan una base común.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2834640"/>
            <a:ext cx="4023360" cy="1508760"/>
          </a:xfrm>
          <a:prstGeom prst="roundRect">
            <a:avLst>
              <a:gd name="adj" fmla="val 7272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Oval 13"/>
          <p:cNvSpPr/>
          <p:nvPr/>
        </p:nvSpPr>
        <p:spPr>
          <a:xfrm>
            <a:off x="640080" y="301752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3-1_1B2A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2726" y="3160166"/>
            <a:ext cx="263347" cy="263347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1325880" y="30358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Criterio de diseño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520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CADCFC"/>
                </a:solidFill>
                <a:latin typeface="Calibri"/>
              </a:rPr>
              <a:t>Elegir una u otra es una decisión de arquitectura, no un detalle de sintaxis.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663440" y="2834640"/>
            <a:ext cx="4023360" cy="1508760"/>
          </a:xfrm>
          <a:prstGeom prst="roundRect">
            <a:avLst>
              <a:gd name="adj" fmla="val 7272"/>
            </a:avLst>
          </a:prstGeom>
          <a:solidFill>
            <a:srgbClr val="24354F"/>
          </a:solidFill>
          <a:ln w="9525">
            <a:solidFill>
              <a:srgbClr val="24354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Oval 18"/>
          <p:cNvSpPr/>
          <p:nvPr/>
        </p:nvSpPr>
        <p:spPr>
          <a:xfrm>
            <a:off x="4846320" y="3017520"/>
            <a:ext cx="548640" cy="548640"/>
          </a:xfrm>
          <a:prstGeom prst="ellipse">
            <a:avLst/>
          </a:prstGeom>
          <a:solidFill>
            <a:srgbClr val="F0A500"/>
          </a:solidFill>
          <a:ln w="12700">
            <a:solidFill>
              <a:srgbClr val="F0A5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0" name="Picture 19" descr="11-3_1B2A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88966" y="3160166"/>
            <a:ext cx="263347" cy="263347"/>
          </a:xfrm>
          <a:prstGeom prst="rect">
            <a:avLst/>
          </a:prstGeom>
        </p:spPr>
      </p:pic>
      <p:sp>
        <p:nvSpPr>
          <p:cNvPr id="21" name="TextBox 20"/>
          <p:cNvSpPr txBox="1"/>
          <p:nvPr/>
        </p:nvSpPr>
        <p:spPr>
          <a:xfrm>
            <a:off x="5532120" y="3035808"/>
            <a:ext cx="301752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500" b="1">
                <a:solidFill>
                  <a:srgbClr val="FFFFFF"/>
                </a:solidFill>
                <a:latin typeface="Calibri"/>
              </a:rPr>
              <a:t>Estándar de la industria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532120" y="3520440"/>
            <a:ext cx="301752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150" b="0">
                <a:solidFill>
                  <a:srgbClr val="CADCFC"/>
                </a:solidFill>
                <a:latin typeface="Calibri"/>
              </a:rPr>
              <a:t>Spring vive de interfaces (JpaRepository) y JavaFX de clases abstractas (Application).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A9B4C4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A9B4C4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2800" b="1">
                <a:solidFill>
                  <a:srgbClr val="1B2A41"/>
                </a:solidFill>
                <a:latin typeface="Calibri"/>
              </a:rPr>
              <a:t>Referencias (APA 7)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43000"/>
            <a:ext cx="5120640" cy="3291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Barnes, D. J., &amp; Kölling, M. (2017). Programación orientada a objetos con Java usando BlueJ. Pearson Educación.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Blasco, F. (2019). Programación Orientada a Objetos en JAVA. RA-MA Editorial.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Flórez Fernández, H. A. (2012). Programación orientada a objetos usando java. Ecoe Ediciones.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Joyanes Aguilar, L. (2020). Fundamentos de programación: algoritmos, estructura de datos y objetos. McGraw-Hill.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López Goytia, J. L. (2015). Programación orientada a objetos C++ y Java. Grupo Editorial Patria.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Moreno Pérez, J. C. (2015). Programación orientada a objetos. RA-MA Editorial.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Vegas, J. (2022). Java 17 Programación Avanzada. RA-MA Editorial.</a:t>
            </a:r>
          </a:p>
          <a:p>
            <a:pPr algn="l" marL="0" indent="0">
              <a:spcBef>
                <a:spcPts val="0"/>
              </a:spcBef>
              <a:spcAft>
                <a:spcPts val="700"/>
              </a:spcAft>
              <a:buNone/>
            </a:pPr>
            <a:r>
              <a:rPr sz="1050" b="0">
                <a:solidFill>
                  <a:srgbClr val="1F2933"/>
                </a:solidFill>
                <a:latin typeface="Calibri"/>
              </a:rPr>
              <a:t>Vélez Serrano, J. F., Sánchez, A., &amp; Pimentel, E. (2011). Diseñar y programar, todo es empezar. Dykinson.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943600" y="1143000"/>
            <a:ext cx="2743200" cy="3291840"/>
          </a:xfrm>
          <a:prstGeom prst="roundRect">
            <a:avLst>
              <a:gd name="adj" fmla="val 4000"/>
            </a:avLst>
          </a:prstGeom>
          <a:solidFill>
            <a:srgbClr val="F3F5F8"/>
          </a:solidFill>
          <a:ln w="9525">
            <a:solidFill>
              <a:srgbClr val="D9DE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Oval 4"/>
          <p:cNvSpPr/>
          <p:nvPr/>
        </p:nvSpPr>
        <p:spPr>
          <a:xfrm>
            <a:off x="6126480" y="1325880"/>
            <a:ext cx="548640" cy="548640"/>
          </a:xfrm>
          <a:prstGeom prst="ellipse">
            <a:avLst/>
          </a:prstGeom>
          <a:solidFill>
            <a:srgbClr val="1B2A41"/>
          </a:solidFill>
          <a:ln w="12700">
            <a:solidFill>
              <a:srgbClr val="1B2A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15-1_F0A5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9126" y="1468526"/>
            <a:ext cx="263347" cy="263347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766560" y="1371600"/>
            <a:ext cx="1828800" cy="4572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1400" b="1">
                <a:solidFill>
                  <a:srgbClr val="1B2A41"/>
                </a:solidFill>
                <a:latin typeface="Calibri"/>
              </a:rPr>
              <a:t>Material del curso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2057400"/>
            <a:ext cx="237744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228600" indent="-228600">
              <a:spcBef>
                <a:spcPts val="0"/>
              </a:spcBef>
              <a:spcAft>
                <a:spcPts val="6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Documento maestro G2: Interfaces y Clases Abstractas (INGS0806, temática 2).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Proyecto POO-Fundamentos, módulo 11 y README del módulo.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Módulo 5 (abstracción): repaso previo.</a:t>
            </a:r>
          </a:p>
          <a:p>
            <a:pPr algn="l" marL="228600" indent="-228600">
              <a:spcBef>
                <a:spcPts val="0"/>
              </a:spcBef>
              <a:spcAft>
                <a:spcPts val="600"/>
              </a:spcAft>
              <a:buSzPct val="90000"/>
              <a:buChar char="■"/>
            </a:pPr>
            <a:r>
              <a:rPr sz="1100" b="0">
                <a:solidFill>
                  <a:srgbClr val="1F2933"/>
                </a:solidFill>
                <a:latin typeface="Calibri"/>
              </a:rPr>
              <a:t>Módulo 10 (G1): cohesión, acoplamiento y SOLID.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4800600"/>
            <a:ext cx="54864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POO II · Temática 2 · Interfaces y clases abstractas · CUN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0" y="4800600"/>
            <a:ext cx="457200" cy="228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 marL="0" indent="0">
              <a:spcBef>
                <a:spcPts val="0"/>
              </a:spcBef>
              <a:spcAft>
                <a:spcPts val="600"/>
              </a:spcAft>
              <a:buNone/>
            </a:pPr>
            <a:r>
              <a:rPr sz="900" b="0">
                <a:solidFill>
                  <a:srgbClr val="6B7A8C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