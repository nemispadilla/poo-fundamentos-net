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F0A500"/>
                </a:solidFill>
                <a:latin typeface="Calibri"/>
              </a:rPr>
              <a:t>TEMÁTICA 3 · G3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Calibri"/>
              </a:rPr>
              <a:t>Estructuras de Datos Avanzadas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ADCFC"/>
                </a:solidFill>
                <a:latin typeface="Calibri"/>
              </a:rPr>
              <a:t>Colecciones · Genéricos · Big O · Grafos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60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A9B4C4"/>
                </a:solidFill>
                <a:latin typeface="Calibri"/>
              </a:rPr>
              <a:t>Programación Orientada a Objetos II (INGS0806) · Ingeniería de Sistemas · CUN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0A500"/>
                </a:solidFill>
                <a:latin typeface="Calibri"/>
              </a:rPr>
              <a:t>Desde esta temática el curso pasa a C# / .NET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817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A9B4C4"/>
                </a:solidFill>
                <a:latin typeface="Calibri"/>
              </a:rPr>
              <a:t>Con ejemplos ejecutables del proyecto POO-Fundamentos-NET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914400"/>
            <a:ext cx="3154680" cy="3291840"/>
          </a:xfrm>
          <a:prstGeom prst="roundRect">
            <a:avLst>
              <a:gd name="adj" fmla="val 289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788152" y="1078992"/>
            <a:ext cx="2825496" cy="3028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La clave lleva directo al valor: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O(1) con 100 o con 1.000.000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var directorio =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    new Dictionary&lt;string, Estudiante&gt;();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directorio["1020304050"] = laura;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if (directorio.TryGetValue(doc, out var e))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Console.WriteLine(e.Nombre);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Con una List seria O(n): recorrerla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entera hasta encontrarlo.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Ruta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Cinco ideas, tres ejemplos ejecutables y un caso real de Bogotá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7824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3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" y="1881835"/>
            <a:ext cx="351129" cy="3511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Nuevo lenguaje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De Java a C#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542032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-4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1881835"/>
            <a:ext cx="351129" cy="3511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58568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Lineales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List · Stack ·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6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3-1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435" y="1881835"/>
            <a:ext cx="351129" cy="3511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22776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Búsqueda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HashSet · Dictionary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9824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870448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11-1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643" y="1881835"/>
            <a:ext cx="351129" cy="3511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86984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Genéricos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9552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Seguridad de tipo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14032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534656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2-1_1B2A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851" y="1881835"/>
            <a:ext cx="351129" cy="3511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51192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Entregas Andinas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Grafo + Dijkstra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B7A8C"/>
                </a:solidFill>
                <a:latin typeface="Calibri"/>
              </a:rPr>
              <a:t>Cierre: Big O medido en vivo + taller en clase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Cambiamos de lenguaje: de Java a C#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Las ideas de POO no cambian; cambia la sintaxis y el nombre de las clases de la biblioteca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0" y="117043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6B7A8C"/>
                </a:solidFill>
                <a:latin typeface="Calibri"/>
              </a:rPr>
              <a:t>JAVA (JCF)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7043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6B7A8C"/>
                </a:solidFill>
                <a:latin typeface="Calibri"/>
              </a:rPr>
              <a:t>C# (System.Collections.Generic)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Lista ordenada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3533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ourier New"/>
              </a:rPr>
              <a:t>ArrayList /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5331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List&lt;T&gt;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60804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6080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Mapa clave-valor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86080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ourier New"/>
              </a:rPr>
              <a:t>HashMap /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86080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Dictionary&lt;K,V&gt;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68296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6829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Conjunto sin duplicados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36829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ourier New"/>
              </a:rPr>
              <a:t>HashSet /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68296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HashSet&lt;T&gt;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75788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757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Cola FIFO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87578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ourier New"/>
              </a:rPr>
              <a:t>Queue (vía LinkedList)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87578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Queue&lt;T&gt;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8328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832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Cola de prioridad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383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ourier New"/>
              </a:rPr>
              <a:t>PriorityQueue&lt;T&gt;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383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PriorityQueue&lt;T,TPrioridad&gt;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9077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89077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1B2A41"/>
                </a:solidFill>
                <a:latin typeface="Calibri"/>
              </a:rPr>
              <a:t>Consultas sobre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8907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ourier New"/>
              </a:rPr>
              <a:t>Streams (.stream())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89077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ourier New"/>
              </a:rPr>
              <a:t>LINQ (.Where, .GroupBy)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alibri"/>
              </a:rPr>
              <a:t>Lo demás también se traduce: interfaces con I inicial (ILogger), propiedades en vez de get/set, override en vez de @Override.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Colecciones lineales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Organizan los elementos uno tras otro, como perlas en un collar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65376" cy="2743200"/>
          </a:xfrm>
          <a:prstGeom prst="roundRect">
            <a:avLst>
              <a:gd name="adj" fmla="val 5882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15568" y="146304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-4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214" y="1605686"/>
            <a:ext cx="263347" cy="263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1214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List&lt;T&gt;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50592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Ordenada, admite duplicados, acceso por índice.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8700"/>
                </a:solidFill>
                <a:latin typeface="Calibri"/>
              </a:rPr>
              <a:t>Los contactos del celular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78608" y="1280160"/>
            <a:ext cx="1865376" cy="2743200"/>
          </a:xfrm>
          <a:prstGeom prst="roundRect">
            <a:avLst>
              <a:gd name="adj" fmla="val 5882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236976" y="146304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-4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622" y="1605686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88336" y="21214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LinkedList&lt;T&gt;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2450592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Nodos enlazados: rápida al insertar por los extremos.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8700"/>
                </a:solidFill>
                <a:latin typeface="Calibri"/>
              </a:rPr>
              <a:t>Vagones de un tren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16" y="1280160"/>
            <a:ext cx="1865376" cy="2743200"/>
          </a:xfrm>
          <a:prstGeom prst="roundRect">
            <a:avLst>
              <a:gd name="adj" fmla="val 5882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358383" y="146304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2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030" y="1605686"/>
            <a:ext cx="263347" cy="2633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09744" y="21214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Stack&lt;T&gt;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2450592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LIFO: lo último que entra es lo primero que sale.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8700"/>
                </a:solidFill>
                <a:latin typeface="Calibri"/>
              </a:rPr>
              <a:t>Una pila de platos · Ctrl+Z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21424" y="1280160"/>
            <a:ext cx="1865376" cy="2743200"/>
          </a:xfrm>
          <a:prstGeom prst="roundRect">
            <a:avLst>
              <a:gd name="adj" fmla="val 5882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79792" y="146304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2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438" y="1605686"/>
            <a:ext cx="263347" cy="2633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31152" y="21214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Queue&lt;T&gt;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450592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FIFO: el primero que llega es el primero en salir.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C98700"/>
                </a:solidFill>
                <a:latin typeface="Calibri"/>
              </a:rPr>
              <a:t>La fila de la caja en D1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16052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Decisión didáctica: para una lista de compras se elige List&lt;T&gt; y no LinkedList&lt;T&gt;, porque lo frecuente es agregar al final y recorrer, y ahí List&lt;T&gt; gana.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1 · Lista de compras y Ctrl+Z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List&lt;T&gt; conserva el orden y los duplicados; Stack&lt;T&gt; es el motor de Deshacer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251960" cy="1691640"/>
          </a:xfrm>
          <a:prstGeom prst="roundRect">
            <a:avLst>
              <a:gd name="adj" fmla="val 5405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922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ListaDeCompras.cs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922776" cy="122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private readonly List&lt;string&gt; _productos = [];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public void Agregar(string p)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=&gt; _productos.Add(p);              // O(1)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public string EnPosicion(int i)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=&gt; _productos[i];                  // O(1)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63240"/>
            <a:ext cx="4251960" cy="1417320"/>
          </a:xfrm>
          <a:prstGeom prst="roundRect">
            <a:avLst>
              <a:gd name="adj" fmla="val 6451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3136392"/>
            <a:ext cx="3922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EditorDeTexto.cs — LIFO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29000"/>
            <a:ext cx="3922776" cy="952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private readonly Stack&lt;string&gt; _historial = new();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public void Escribir(string t)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_historial.Push(Contenido);   // apila el estado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Contenido += 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public bool Deshacer() =&gt; ... _historial.Pop();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280160"/>
            <a:ext cx="3794760" cy="3200400"/>
          </a:xfrm>
          <a:prstGeom prst="roundRect">
            <a:avLst>
              <a:gd name="adj" fmla="val 2857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56631" y="1353312"/>
            <a:ext cx="3465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3   (secciones 1 y 2, salida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1" y="1645919"/>
            <a:ext cx="3465576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Lista inicial: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[Pan, Leche, Huevos,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Cafe de origen (Quindio), Leche]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Tras quitar una leche: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[Pan, Huevos,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Cafe de origen (Quindio), Leche]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Tercer producto (indice 2):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Cafe de origen (Quindio)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Texto actual: "Hola mundo, POO II"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(3 estados guardados)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Tras un Ctrl+Z:   "Hola mundo"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Tras otro Ctrl+Z: "Hola"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Colecciones para búsquedas eficientes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Cuando lo que importa no es el orden sino encontrar rápido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" y="1492300"/>
            <a:ext cx="307238" cy="30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325880"/>
            <a:ext cx="33832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1F2933"/>
                </a:solidFill>
                <a:latin typeface="Calibri"/>
              </a:rPr>
              <a:t>Un HashSet no admite duplicados y responde al instante si un elemento ya existe. Un Dictionary guarda pares clave-valor y recupera el objeto casi sin buscar.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6B7A8C"/>
                </a:solidFill>
                <a:latin typeface="Calibri"/>
              </a:rPr>
              <a:t>Capacho &amp; Nieto Bernal (2017)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4251960" cy="150876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alibri"/>
              </a:rPr>
              <a:t>¿Cómo lo logra? 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La clave pasa por una función hash que calcula una posición.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No recorre la colección: va directo al lugar calculado.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Por eso el costo no crece con el tamaño: O(1) promedio.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258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0" y="13258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FFFFF"/>
                </a:solidFill>
                <a:latin typeface="Courier New"/>
              </a:rPr>
              <a:t>"1020304050"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1828800"/>
            <a:ext cx="0" cy="365760"/>
          </a:xfrm>
          <a:prstGeom prst="line">
            <a:avLst/>
          </a:prstGeom>
          <a:ln w="22225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67728" y="185623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6B7A8C"/>
                </a:solidFill>
                <a:latin typeface="Calibri"/>
              </a:rPr>
              <a:t>función hash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24028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5400">
            <a:solidFill>
              <a:srgbClr val="F0A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40680" y="22402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1B2A41"/>
                </a:solidFill>
                <a:latin typeface="Courier New"/>
              </a:rPr>
              <a:t>posición 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2743200"/>
            <a:ext cx="0" cy="365760"/>
          </a:xfrm>
          <a:prstGeom prst="line">
            <a:avLst/>
          </a:prstGeom>
          <a:ln w="22225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15468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0" y="315468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ourier New"/>
              </a:rPr>
              <a:t>Estudiante(Laura Mesa)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4048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1B2A41"/>
                </a:solidFill>
                <a:latin typeface="Calibri"/>
              </a:rPr>
              <a:t>Una List tendría que comparar elemento por elemento hasta encontrarlo. Con 200.000 registros eso se nota.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2 · Mesa de ayuda y directorio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Queue&lt;T&gt; atiende en orden de llegada; Dictionary&lt;K,V&gt; encuentra por documento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251960" cy="1600200"/>
          </a:xfrm>
          <a:prstGeom prst="roundRect">
            <a:avLst>
              <a:gd name="adj" fmla="val 5714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922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MesaDeAyuda.cs — FIFO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922776" cy="1135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private readonly Queue&lt;TicketSoporte&gt; _tickets = new();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public void Recibir(TicketSoporte t)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=&gt; _tickets.Enqueue(t);              // O(1)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public TicketSoporte? Atender()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=&gt; _tickets.TryDequeue(out var t) ? t : null;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71800"/>
            <a:ext cx="4251960" cy="1508760"/>
          </a:xfrm>
          <a:prstGeom prst="roundRect">
            <a:avLst>
              <a:gd name="adj" fmla="val 6060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3044952"/>
            <a:ext cx="3922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DirectorioEstudiantes.cs — 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37560"/>
            <a:ext cx="3922776" cy="1044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private readonly Dictionary&lt;string, Estudiante&gt;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        _porDocumento = [];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public Estudiante? Buscar(string documento)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=&gt; _porDocumento.TryGetValue(documento, out var e)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   ? e : null;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280160"/>
            <a:ext cx="3794760" cy="3200400"/>
          </a:xfrm>
          <a:prstGeom prst="roundRect">
            <a:avLst>
              <a:gd name="adj" fmla="val 2857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56631" y="1353312"/>
            <a:ext cx="3465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3   (secciones 3 a 5, salida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1" y="1645919"/>
            <a:ext cx="3465576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Tickets en espera: 3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Atendiendo -&gt; TK-001: Usuario sin internet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Atendiendo -&gt; TK-002: Problema con la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                facturacion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Quedan: [TK-003: Senal de TV intermitente]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Registrar 1020304050: aceptada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Registrar 1030405060: aceptada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Registrar 1020304050: RECHAZADA (duplicada)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Cedulas unicas: 3 de 4 intentos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Buscar 1030405060 -&gt; Andres Gil,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Ing. de Sistemas, semestre 5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Buscar 9999999999 -&gt; no existe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Big O: no es teoría, son milisegundos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 misma demo mide el costo real en tu máquina (sección 5 del módulo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5214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1521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List&lt;T&gt;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5214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LinkedList&lt;T&gt;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15214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HashSet&lt;T&gt;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15214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1">
                <a:solidFill>
                  <a:srgbClr val="6B7A8C"/>
                </a:solidFill>
                <a:latin typeface="Calibri"/>
              </a:rPr>
              <a:t>Dictionary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8229600" cy="411480"/>
          </a:xfrm>
          <a:prstGeom prst="roundRect">
            <a:avLst>
              <a:gd name="adj" fmla="val 2666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Acceso por índice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716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8700"/>
                </a:solidFill>
                <a:latin typeface="Courier New"/>
              </a:rPr>
              <a:t>O(1)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ourier New"/>
              </a:rP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3716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6B7A8C"/>
                </a:solidFill>
                <a:latin typeface="Courier New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3716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6B7A8C"/>
                </a:solidFill>
                <a:latin typeface="Courier New"/>
              </a:rP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8229600" cy="41148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Buscar un valor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18288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ourier New"/>
              </a:rPr>
              <a:t>O(n)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8288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ourier New"/>
              </a:rPr>
              <a:t>O(n)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8288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8700"/>
                </a:solidFill>
                <a:latin typeface="Courier New"/>
              </a:rPr>
              <a:t>O(1)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8288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8700"/>
                </a:solidFill>
                <a:latin typeface="Courier New"/>
              </a:rPr>
              <a:t>O(1) por clave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286000"/>
            <a:ext cx="8229600" cy="411480"/>
          </a:xfrm>
          <a:prstGeom prst="roundRect">
            <a:avLst>
              <a:gd name="adj" fmla="val 2666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22860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Insertar al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2860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8700"/>
                </a:solidFill>
                <a:latin typeface="Courier New"/>
              </a:rPr>
              <a:t>O(1)*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860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8700"/>
                </a:solidFill>
                <a:latin typeface="Courier New"/>
              </a:rPr>
              <a:t>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2860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8700"/>
                </a:solidFill>
                <a:latin typeface="Courier New"/>
              </a:rPr>
              <a:t>O(1)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2860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8700"/>
                </a:solidFill>
                <a:latin typeface="Courier New"/>
              </a:rPr>
              <a:t>O(1)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743200"/>
            <a:ext cx="8229600" cy="41148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274320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1">
                <a:solidFill>
                  <a:srgbClr val="1B2A41"/>
                </a:solidFill>
                <a:latin typeface="Calibri"/>
              </a:rPr>
              <a:t>Insertar al inicio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7432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ourier New"/>
              </a:rPr>
              <a:t>O(n)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7432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C98700"/>
                </a:solidFill>
                <a:latin typeface="Courier New"/>
              </a:rPr>
              <a:t>O(1)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7432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6B7A8C"/>
                </a:solidFill>
                <a:latin typeface="Courier New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7432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6B7A8C"/>
                </a:solidFill>
                <a:latin typeface="Courier New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2278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0">
                <a:solidFill>
                  <a:srgbClr val="6B7A8C"/>
                </a:solidFill>
                <a:latin typeface="Calibri"/>
              </a:rPr>
              <a:t>* amortizado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29000"/>
            <a:ext cx="4251960" cy="1051560"/>
          </a:xfrm>
          <a:prstGeom prst="roundRect">
            <a:avLst>
              <a:gd name="adj" fmla="val 8695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3502152"/>
            <a:ext cx="3922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200.000 elementos · 200 búsquedas del peor caso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794760"/>
            <a:ext cx="3922776" cy="587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8A80"/>
                </a:solidFill>
                <a:latin typeface="Courier New"/>
              </a:rPr>
              <a:t>List.Contains       O(n)  -&gt;   260,99 ms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3E88D"/>
                </a:solidFill>
                <a:latin typeface="Courier New"/>
              </a:rPr>
              <a:t>Dictionary.Contains O(1)  -&gt;    0,045 ms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El diccionario fue ~5.800x mas rapido.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3429000"/>
            <a:ext cx="3794760" cy="1051560"/>
          </a:xfrm>
          <a:prstGeom prst="roundRect">
            <a:avLst>
              <a:gd name="adj" fmla="val 8695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056631" y="3502152"/>
            <a:ext cx="3465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50.000 inserciones al inicio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6631" y="3794760"/>
            <a:ext cx="3465576" cy="5870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8A80"/>
                </a:solidFill>
                <a:latin typeface="Courier New"/>
              </a:rPr>
              <a:t>List.Insert(0, x)      O(n) -&gt; 112,39 ms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3E88D"/>
                </a:solidFill>
                <a:latin typeface="Courier New"/>
              </a:rPr>
              <a:t>LinkedList.AddFirst(x) O(1) -&gt;  21,02 ms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Misma tarea, estructura distinta.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Genéricos: seguridad de tipo al compilar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Antes de los genéricos, meter un int en una lista de strings solo fallaba en ejecución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" y="1492300"/>
            <a:ext cx="307238" cy="30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32588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1F2933"/>
                </a:solidFill>
                <a:latin typeface="Calibri"/>
              </a:rPr>
              <a:t>Los corchetes angulares declaran qué tipo admite la colección. El error deja de aparecer en producción y aparece en el IDE, mientras escribes.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603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6B7A8C"/>
                </a:solidFill>
                <a:latin typeface="Calibri"/>
              </a:rPr>
              <a:t>Joyanes Aguilar (2020)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4251960" cy="1554480"/>
          </a:xfrm>
          <a:prstGeom prst="roundRect">
            <a:avLst>
              <a:gd name="adj" fmla="val 705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alibri"/>
              </a:rPr>
              <a:t>Dos reglas que vienen del recurso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Programar hacia la interfaz: declara IList&lt;T&gt;, no List&lt;T&gt;.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Encapsular la estructura: el Dictionary interno no sale de la clase.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Así se cambia la implementación sin romper a nadie.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325880"/>
            <a:ext cx="3794760" cy="3154680"/>
          </a:xfrm>
          <a:prstGeom prst="roundRect">
            <a:avLst>
              <a:gd name="adj" fmla="val 289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56631" y="1399032"/>
            <a:ext cx="3465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Inventario.cs — genérico con restricción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1691640"/>
            <a:ext cx="3465576" cy="2690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class Inventario&lt;T&gt;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        where T : IIdentificable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  // estructura ENCAPSULADA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private readonly Dictionary&lt;string, T&gt;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    _stock = [];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public void Agregar(T e)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=&gt; _stock[e.Codigo] = e;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public T? Buscar(string codigo) =&gt; ...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8A80"/>
                </a:solidFill>
                <a:latin typeface="Courier New"/>
              </a:rPr>
              <a:t>inventario.Agregar("un string");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8A80"/>
                </a:solidFill>
                <a:latin typeface="Courier New"/>
              </a:rPr>
              <a:t>//   -&gt; NO COMPILA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Caso de estudio · Entregas Andinas S.A.S.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50 vehículos en Bogotá; las rutas se planean a ojo y la última milla cuesta 25 % más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C0392B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Tiempos de entrega 25 % por encima de la competencia.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Exceso de combustible por rutas redundantes.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Si hay un imprevisto, nadie sabe recalcular.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5555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290779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La ciudad modelada como grafo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00400"/>
            <a:ext cx="3694176" cy="11814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// lista de adyacencia: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// dos estructuras forman una tercera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Dictionary&lt;string, List&lt;Arista&gt;&gt;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// vertice -&gt; intersecciones y entregas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// arista  -&gt; calle, con peso en minutos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record Arista(string Destino, double Minutos);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303520" y="1655063"/>
            <a:ext cx="1188720" cy="822961"/>
          </a:xfrm>
          <a:prstGeom prst="line">
            <a:avLst/>
          </a:prstGeom>
          <a:ln w="19050">
            <a:solidFill>
              <a:srgbClr val="C98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60720" y="193852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C98700"/>
                </a:solidFill>
                <a:latin typeface="Calibri"/>
              </a:rP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92240" y="1655063"/>
            <a:ext cx="1280160" cy="548641"/>
          </a:xfrm>
          <a:prstGeom prst="line">
            <a:avLst/>
          </a:prstGeom>
          <a:ln w="19050">
            <a:solidFill>
              <a:srgbClr val="C98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95160" y="18013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C98700"/>
                </a:solidFill>
                <a:latin typeface="Calibri"/>
              </a:rPr>
              <a:t>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2203704"/>
            <a:ext cx="91440" cy="960120"/>
          </a:xfrm>
          <a:prstGeom prst="line">
            <a:avLst/>
          </a:prstGeom>
          <a:ln w="19050">
            <a:solidFill>
              <a:srgbClr val="C98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80960" y="255574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C98700"/>
                </a:solidFill>
                <a:latin typeface="Calibri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583680" y="3163824"/>
            <a:ext cx="1280160" cy="320040"/>
          </a:xfrm>
          <a:prstGeom prst="line">
            <a:avLst/>
          </a:prstGeom>
          <a:ln w="19050">
            <a:solidFill>
              <a:srgbClr val="C98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086600" y="319582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C98700"/>
                </a:solidFill>
                <a:latin typeface="Calibri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303520" y="3483864"/>
            <a:ext cx="1280160" cy="457200"/>
          </a:xfrm>
          <a:prstGeom prst="line">
            <a:avLst/>
          </a:prstGeom>
          <a:ln w="19050">
            <a:solidFill>
              <a:srgbClr val="C98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06440" y="358444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C98700"/>
                </a:solidFill>
                <a:latin typeface="Calibri"/>
              </a:rPr>
              <a:t>22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2478024"/>
            <a:ext cx="0" cy="146304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66359" y="30815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50" b="1">
                <a:solidFill>
                  <a:srgbClr val="C0392B"/>
                </a:solidFill>
                <a:latin typeface="Calibri"/>
              </a:rPr>
              <a:t>62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33172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92040" y="233172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FFFFFF"/>
                </a:solidFill>
                <a:latin typeface="Calibri"/>
              </a:rPr>
              <a:t>Centro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5087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80760" y="150876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1F2933"/>
                </a:solidFill>
                <a:latin typeface="Calibri"/>
              </a:rPr>
              <a:t>Calle 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205740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60920" y="20574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1F2933"/>
                </a:solidFill>
                <a:latin typeface="Calibri"/>
              </a:rPr>
              <a:t>Chapinero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301752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52360" y="301752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1F2933"/>
                </a:solidFill>
                <a:latin typeface="Calibri"/>
              </a:rPr>
              <a:t>Zona 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3375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72200" y="333756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1F2933"/>
                </a:solidFill>
                <a:latin typeface="Calibri"/>
              </a:rPr>
              <a:t>Calle 85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3794760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92040" y="379476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800" b="1">
                <a:solidFill>
                  <a:srgbClr val="FFFFFF"/>
                </a:solidFill>
                <a:latin typeface="Calibri"/>
              </a:rPr>
              <a:t>Suba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22452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alibri"/>
              </a:rPr>
              <a:t>La avenida directa (62 min, en rojo) parece lo obvio. Dijkstra encuentra 47 min por cinco tramos.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3 · Dijkstra con PriorityQueue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 cola de prioridad entrega siempre el vértice más cercano aún no visitado: O(log 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343400" cy="320040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014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CalculadoraDeRutas.cs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014215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var cola = new PriorityQueue&lt;string, double&gt;();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cola.Enqueue(origen, 0);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while (cola.TryDequeue(out var actual,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                 out var acumulado))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if (!visitados.Add(actual)) continue;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foreach (Arista calle in grafo.Vecinos(actual))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double candidata = acumulado + calle.Minutos;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if (candidata &lt; distancia[calle.Destino])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distancia[calle.Destino] = candidata;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anterior[calle.Destino]  = actual;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  cola.Enqueue(calle.Destino, candidata);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280160"/>
            <a:ext cx="3657600" cy="2331720"/>
          </a:xfrm>
          <a:prstGeom prst="roundRect">
            <a:avLst>
              <a:gd name="adj" fmla="val 3921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93792" y="1353312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3   (sección 7, salida real)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1645919"/>
            <a:ext cx="3328416" cy="18672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Mapa: 8 puntos, 12 calles de doble sentido.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Rutas optimas desde el centro: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Suba       47 min  Centro -&gt; Calle 26 -&gt;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       Chapinero -&gt; Zona T -&gt;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       Calle 85 -&gt; Suba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Usaquen    34 min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Zona T     21 min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Cedritos   37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703320"/>
            <a:ext cx="3657600" cy="777240"/>
          </a:xfrm>
          <a:prstGeom prst="roundRect">
            <a:avLst>
              <a:gd name="adj" fmla="val 14117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166360" y="384048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2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395935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0" y="37947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62 min por la avenida frente a 47 min por la ruta calculada: 24 % menos en cada entrega.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Cómo elegir la estructura correcta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No existe la mejor estructura: existe la más adecuada para el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07008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21792" y="1417320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-4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83" y="1555211"/>
            <a:ext cx="254568" cy="254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13167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List&lt;T&gt;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Necesito orden de inserción y acceso por índice.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207008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828031" y="1417320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923" y="1555211"/>
            <a:ext cx="254568" cy="254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1316736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Stack&lt;T&gt; / Queue&lt;T&gt;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45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El orden de salida importa: LIFO o FIFO.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9424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21792" y="2459736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-1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83" y="2597627"/>
            <a:ext cx="254568" cy="254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0160" y="235915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HashSet&lt;T&gt;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8833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Sin duplicados y preguntar «¿ya existe?» muy seguido.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249424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828031" y="2459736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1-1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23" y="2597627"/>
            <a:ext cx="254568" cy="2545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0" y="235915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Dictionary&lt;K,V&gt;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68833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Buscar por una clave única, sin importar el tamaño.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39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21792" y="3502151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2-3_1B2A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683" y="3640043"/>
            <a:ext cx="254568" cy="2545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80160" y="340156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PriorityQueue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7307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Sacar siempre el elemento de menor costo.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291839"/>
            <a:ext cx="4023360" cy="950976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828031" y="3502151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2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923" y="3640043"/>
            <a:ext cx="254568" cy="2545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0" y="340156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ourier New"/>
              </a:rPr>
              <a:t>Grafo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73075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Una red de nodos y conexiones con peso.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315968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315968"/>
            <a:ext cx="7863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Antes de escribir código: ¿necesito orden? ¿permito duplicados? ¿la operación más frecuente es buscar?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Ejecútalo tú · proyecto POO-Fundamentos-NET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El proyecto nuevo trae las tres temáticas (G1, G2 y G3) en C# sobre .NET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6666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0A500"/>
                </a:solidFill>
                <a:latin typeface="Courier New"/>
              </a:rPr>
              <a:t>Windows (Linux/macOS: los .sh equivalentes)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694176" cy="907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cd POO-Fundamentos-NET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compilar.bat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ejecutar.bat 3        // Tematica 3 (G3)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ejecutar.bat todos    // G1 + G2 + G3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dotnet run -- 3       // sin scripts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B2A41"/>
                </a:solidFill>
                <a:latin typeface="Courier New"/>
              </a:rPr>
              <a:t>Modulo03_Colecciones/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657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ListaDeCompras, EditorDeTexto, MesaDeAyuda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DirectorioEstudiantes, Estudiante, TicketSoporte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Inventario&lt;T&gt;, IIdentificable, Producto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Grafo, Arista, MapaBogota, CalculadoraDeRutas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00" b="0">
                <a:solidFill>
                  <a:srgbClr val="1F2933"/>
                </a:solidFill>
                <a:latin typeface="Calibri"/>
              </a:rPr>
              <a:t>ComparadorDeRendimiento (mide el Big 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280160"/>
            <a:ext cx="3977639" cy="3200400"/>
          </a:xfrm>
          <a:prstGeom prst="roundRect">
            <a:avLst>
              <a:gd name="adj" fmla="val 342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605686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77840" y="1508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Taller en clase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03120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Agregar Grafo.Cerrar(origen, destino) para simular una vía bloqueada.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Recalcular la ruta a Suba y mostrar cómo cambia el tiempo.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Listar las entregas con SortedDictionary en vez de ordenar a mano.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00" b="0">
                <a:solidFill>
                  <a:srgbClr val="CADCFC"/>
                </a:solidFill>
                <a:latin typeface="Calibri"/>
              </a:rPr>
              <a:t>Medir Dijkstra con Stopwatch y compararlo con los 15 min que ahorra.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16052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F0A500"/>
                </a:solidFill>
                <a:latin typeface="Calibri"/>
              </a:rPr>
              <a:t>Entrega: código + justificación de cada estructura elegida.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Conclusiones y proyección profesional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2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468526"/>
            <a:ext cx="263347" cy="263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344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Elegir es diseñar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CADCFC"/>
                </a:solidFill>
                <a:latin typeface="Calibri"/>
              </a:rPr>
              <a:t>La estructura de datos no es un detalle técnico: es una decisión de arquitectura.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2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-1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66" y="1468526"/>
            <a:ext cx="263347" cy="2633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20" y="1344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Genéricos = menos errores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828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CADCFC"/>
                </a:solidFill>
                <a:latin typeface="Calibri"/>
              </a:rPr>
              <a:t>La seguridad de tipo mueve los fallos de producción al momento de compilar.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2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-1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160166"/>
            <a:ext cx="263347" cy="2633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5880" y="30358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Composición de estructuras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20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CADCFC"/>
                </a:solidFill>
                <a:latin typeface="Calibri"/>
              </a:rPr>
              <a:t>Un grafo es un Dictionary con Lists dentro; Dijkstra necesita una PriorityQueue.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2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846320" y="301752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1-3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6" y="3160166"/>
            <a:ext cx="263347" cy="2633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32120" y="30358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El lenguaje cambia, las ideas 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520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CADCFC"/>
                </a:solidFill>
                <a:latin typeface="Calibri"/>
              </a:rPr>
              <a:t>Pasar de Java a C# es traducir nombres: List, Dictionary, LINQ y delegados.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A9B4C4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A9B4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Referencias (APA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Arangurí García, M. Y., &amp; Bravo Jaico, J. L. (2021). Metodología integral de casos de prueba sustentado en un modelo de verificación de requisitos. Universidad Señor de Sipán.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Campos, G. E. C., &amp; Campos, C. A. C. (2023). Fundamentos de programación y las bases de la construcción de aplicaciones informáticas. Ediciones de la U.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Capacho, J., &amp; Nieto Bernal, W. (2017). Lógica y algoritmia. Ediciones de la U.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Joyanes Aguilar, L. (2020). Java a fondo: programación orientada a objetos, interfaces gráficas y aplicaciones web. Alfaomega.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Pressman, R. S., &amp; Maxim, B. R. (2021). Ingeniería de software: un enfoque práctico (9.ª ed.). McGraw-Hill.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Sommerville, I. (2011). Ingeniería de software (9.ª ed.). Pearson Educación.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1430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126480" y="13258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5-1_F0A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26" y="1468526"/>
            <a:ext cx="263347" cy="263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Material del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57400"/>
            <a:ext cx="2377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Documento maestro G3: Estructuras de Datos Avanzadas (INGS0806).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Proyecto POO-Fundamentos-NET, módulo 3 y README del módulo.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Módulo 1 (G1) y módulo 2 (G2) en el mismo proyecto.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Tabla de equivalencias Java → C# en el README raíz.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3 · Estructuras de datos avanzadas · C# / .NET · CUN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