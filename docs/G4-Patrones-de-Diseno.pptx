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F0A500"/>
                </a:solidFill>
                <a:latin typeface="Calibri"/>
              </a:rPr>
              <a:t>TEMÁTICA 4 · G4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3400" b="1">
                <a:solidFill>
                  <a:srgbClr val="FFFFFF"/>
                </a:solidFill>
                <a:latin typeface="Calibri"/>
              </a:rPr>
              <a:t>Patrones de Diseño Orientados a Objetos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ADCFC"/>
                </a:solidFill>
                <a:latin typeface="Calibri"/>
              </a:rPr>
              <a:t>Creacionales · Estructurales · De comportamiento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605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A9B4C4"/>
                </a:solidFill>
                <a:latin typeface="Calibri"/>
              </a:rPr>
              <a:t>Programación Orientada a Objetos II (INGS0806) · Ingeniería de Sistemas · CUN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F0A500"/>
                </a:solidFill>
                <a:latin typeface="Calibri"/>
              </a:rPr>
              <a:t>Ocho patrones GoF, tres casos colombianos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8172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A9B4C4"/>
                </a:solidFill>
                <a:latin typeface="Calibri"/>
              </a:rPr>
              <a:t>Con ejemplos ejecutables del proyecto POO-Fundamentos-NET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914400"/>
            <a:ext cx="3154680" cy="3291840"/>
          </a:xfrm>
          <a:prstGeom prst="roundRect">
            <a:avLst>
              <a:gd name="adj" fmla="val 2898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788152" y="1078992"/>
            <a:ext cx="2825496" cy="3028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8A94A6"/>
                </a:solidFill>
                <a:latin typeface="Courier New"/>
              </a:rPr>
              <a:t>// Un patron no es codigo para copiar: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8A94A6"/>
                </a:solidFill>
                <a:latin typeface="Courier New"/>
              </a:rPr>
              <a:t>// es una solucion probada.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792EA"/>
                </a:solidFill>
                <a:latin typeface="Courier New"/>
              </a:rPr>
              <a:t>IEstrategiaDescuento promo =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792EA"/>
                </a:solidFill>
                <a:latin typeface="Courier New"/>
              </a:rPr>
              <a:t>    new DescuentoPorcentual(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      "Lacteos", 20);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caja.UsarPromocion(promo);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8A94A6"/>
                </a:solidFill>
                <a:latin typeface="Courier New"/>
              </a:rPr>
              <a:t>// La caja no cambia. Cambia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8A94A6"/>
                </a:solidFill>
                <a:latin typeface="Courier New"/>
              </a:rPr>
              <a:t>// la estrategia: Strategy.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Ruta de la sesión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Cinco paradas: de la idea de patrón a tres casos reales en Colombia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572768" cy="265176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77824" y="16916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9-1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" y="1881835"/>
            <a:ext cx="351129" cy="3511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1527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6B7A8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606040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175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Qué es un patrón · GoF · SOLID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21408" y="1417320"/>
            <a:ext cx="1572768" cy="265176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2542032" y="16916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-1_1B2A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227" y="1881835"/>
            <a:ext cx="351129" cy="3511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58568" y="1527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6B7A8C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2606040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Creacionales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1136" y="30175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Singleton · Factory · Builder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5616" y="1417320"/>
            <a:ext cx="1572768" cy="265176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206240" y="16916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2-4_1B2A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435" y="1881835"/>
            <a:ext cx="351129" cy="35112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922776" y="1527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6B7A8C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5344" y="2606040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Estructurales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5344" y="30175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Adapter · Composite · Decorator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49824" y="1417320"/>
            <a:ext cx="1572768" cy="265176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5870448" y="16916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2-3_1B2A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0643" y="1881835"/>
            <a:ext cx="351129" cy="35112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86984" y="1527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6B7A8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9552" y="2606040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Comportamiento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9552" y="30175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Observer · Strategy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14032" y="1417320"/>
            <a:ext cx="1572768" cy="265176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534656" y="16916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11-3_1B2A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4851" y="1881835"/>
            <a:ext cx="351129" cy="35112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251192" y="1527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6B7A8C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606040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Criterio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0175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Cuándo sí y cuándo 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6B7A8C"/>
                </a:solidFill>
                <a:latin typeface="Calibri"/>
              </a:rPr>
              <a:t>Casos: fintech de microcréditos · e-commerce con PayU y Wompi · promociones de supermercado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4 · Patrones de diseño · C# / .NET · CUN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¿Qué es un patrón de diseño?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Una solución general y reutilizable a un problema recurrente, en un contexto dado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560320" cy="1874519"/>
          </a:xfrm>
          <a:prstGeom prst="roundRect">
            <a:avLst>
              <a:gd name="adj" fmla="val 5853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C98700"/>
                </a:solidFill>
                <a:latin typeface="Calibri"/>
              </a:rPr>
              <a:t>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alibri"/>
              </a:rPr>
              <a:t>La situación que se repite.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12848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1F2933"/>
                </a:solidFill>
                <a:latin typeface="Calibri"/>
              </a:rPr>
              <a:t>Una clase debe tener una única instancia en todo el sistema.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4952" y="2240280"/>
            <a:ext cx="219456" cy="0"/>
          </a:xfrm>
          <a:prstGeom prst="line">
            <a:avLst/>
          </a:prstGeom>
          <a:ln w="22225">
            <a:solidFill>
              <a:srgbClr val="C98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91840" y="1298448"/>
            <a:ext cx="2560320" cy="1874519"/>
          </a:xfrm>
          <a:prstGeom prst="roundRect">
            <a:avLst>
              <a:gd name="adj" fmla="val 5853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74720" y="1417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C98700"/>
                </a:solidFill>
                <a:latin typeface="Calibri"/>
              </a:rPr>
              <a:t>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1907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alibri"/>
              </a:rPr>
              <a:t>Las fuerzas en tensión.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12848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1F2933"/>
                </a:solidFill>
                <a:latin typeface="Calibri"/>
              </a:rPr>
              <a:t>Acceso global, sin que nadie la cree por accidente.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79592" y="2240280"/>
            <a:ext cx="219456" cy="0"/>
          </a:xfrm>
          <a:prstGeom prst="line">
            <a:avLst/>
          </a:prstGeom>
          <a:ln w="22225">
            <a:solidFill>
              <a:srgbClr val="C98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26480" y="1298448"/>
            <a:ext cx="2560320" cy="1874519"/>
          </a:xfrm>
          <a:prstGeom prst="roundRect">
            <a:avLst>
              <a:gd name="adj" fmla="val 5853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9360" y="1417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C98700"/>
                </a:solidFill>
                <a:latin typeface="Calibri"/>
              </a:rPr>
              <a:t>SOLUCIÓN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1907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alibri"/>
              </a:rPr>
              <a:t>Clases, objetos y relaciones.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12848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1F2933"/>
                </a:solidFill>
                <a:latin typeface="Calibri"/>
              </a:rPr>
              <a:t>La clase controla su propia creación: Singleton.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37560"/>
            <a:ext cx="4023360" cy="1188720"/>
          </a:xfrm>
          <a:prstGeom prst="roundRect">
            <a:avLst>
              <a:gd name="adj" fmla="val 9230"/>
            </a:avLst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290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F0A500"/>
                </a:solidFill>
                <a:latin typeface="Calibri"/>
              </a:rPr>
              <a:t>No es…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730752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100" b="0">
                <a:solidFill>
                  <a:srgbClr val="CADCFC"/>
                </a:solidFill>
                <a:latin typeface="Calibri"/>
              </a:rPr>
              <a:t>código terminado para copiar y pegar,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100" b="0">
                <a:solidFill>
                  <a:srgbClr val="CADCFC"/>
                </a:solidFill>
                <a:latin typeface="Calibri"/>
              </a:rPr>
              <a:t>un algoritmo con pasos fijos, ni una librería.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3337560"/>
            <a:ext cx="4023360" cy="1188720"/>
          </a:xfrm>
          <a:prstGeom prst="roundRect">
            <a:avLst>
              <a:gd name="adj" fmla="val 923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828032" y="352044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15-1_F0A5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678" y="3663086"/>
            <a:ext cx="263347" cy="26334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532120" y="342900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Gang of Four (1994): Gamma, Helm, Johnson y Vlissides documentaron 23 patrones y les dieron nombre. Su gran aporte: un vocabulario común.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4 · Patrones de diseño · C# / .NET · CUN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Las tres familias de patrones GoF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La clasificación responde a una pregunta: ¿qué parte del diseño estoy resolviendo?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15184" cy="3246120"/>
          </a:xfrm>
          <a:prstGeom prst="roundRect">
            <a:avLst>
              <a:gd name="adj" fmla="val 4195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444752"/>
            <a:ext cx="566928" cy="5669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-1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1592153"/>
            <a:ext cx="272125" cy="272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25880" y="1444752"/>
            <a:ext cx="1645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1B2A41"/>
                </a:solidFill>
                <a:latin typeface="Calibri"/>
              </a:rPr>
              <a:t>Creacionales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1">
                <a:solidFill>
                  <a:srgbClr val="C98700"/>
                </a:solidFill>
                <a:latin typeface="Calibri"/>
              </a:rPr>
              <a:t>¿Cómo se CREAN los objetos?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Abstraen la instanciación: el sistema no depende de cómo se crean sus objetos.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22494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>
                <a:solidFill>
                  <a:srgbClr val="1B2A41"/>
                </a:solidFill>
                <a:latin typeface="Courier New"/>
              </a:rPr>
              <a:t>Singleton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40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3749040"/>
            <a:ext cx="22494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>
                <a:solidFill>
                  <a:srgbClr val="1B2A41"/>
                </a:solidFill>
                <a:latin typeface="Courier New"/>
              </a:rPr>
              <a:t>Factory Method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22494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>
                <a:solidFill>
                  <a:srgbClr val="1B2A41"/>
                </a:solidFill>
                <a:latin typeface="Courier New"/>
              </a:rPr>
              <a:t>Builder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64408" y="1280160"/>
            <a:ext cx="2615184" cy="3246120"/>
          </a:xfrm>
          <a:prstGeom prst="roundRect">
            <a:avLst>
              <a:gd name="adj" fmla="val 4195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3447288" y="1444752"/>
            <a:ext cx="566928" cy="5669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2-4_1B2A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689" y="1592153"/>
            <a:ext cx="272125" cy="2721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33087" y="1444752"/>
            <a:ext cx="1645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1B2A41"/>
                </a:solidFill>
                <a:latin typeface="Calibri"/>
              </a:rPr>
              <a:t>Estructurales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2148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1">
                <a:solidFill>
                  <a:srgbClr val="C98700"/>
                </a:solidFill>
                <a:latin typeface="Calibri"/>
              </a:rPr>
              <a:t>¿Cómo se COMPONEN?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8" y="246888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Combinan clases y objetos en estructuras más grandes y flexibles.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47288" y="3383280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447288" y="3383280"/>
            <a:ext cx="22494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>
                <a:solidFill>
                  <a:srgbClr val="1B2A41"/>
                </a:solidFill>
                <a:latin typeface="Courier New"/>
              </a:rPr>
              <a:t>Adapter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47288" y="3749040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447288" y="3749040"/>
            <a:ext cx="22494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>
                <a:solidFill>
                  <a:srgbClr val="1B2A41"/>
                </a:solidFill>
                <a:latin typeface="Courier New"/>
              </a:rPr>
              <a:t>Composite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47288" y="4114800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447288" y="4114800"/>
            <a:ext cx="22494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>
                <a:solidFill>
                  <a:srgbClr val="1B2A41"/>
                </a:solidFill>
                <a:latin typeface="Courier New"/>
              </a:rPr>
              <a:t>Decorator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71616" y="1280160"/>
            <a:ext cx="2615184" cy="3246120"/>
          </a:xfrm>
          <a:prstGeom prst="roundRect">
            <a:avLst>
              <a:gd name="adj" fmla="val 4195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254496" y="1444752"/>
            <a:ext cx="566928" cy="5669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2-3_1B2A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897" y="1592153"/>
            <a:ext cx="272125" cy="2721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40296" y="1444752"/>
            <a:ext cx="1645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1B2A41"/>
                </a:solidFill>
                <a:latin typeface="Calibri"/>
              </a:rPr>
              <a:t>Comportamiento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6" y="2148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1">
                <a:solidFill>
                  <a:srgbClr val="C98700"/>
                </a:solidFill>
                <a:latin typeface="Calibri"/>
              </a:rPr>
              <a:t>¿Cómo COLABORAN?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6" y="246888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Reparten responsabilidades y definen cómo se comunican los objetos.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4496" y="3383280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54496" y="3383280"/>
            <a:ext cx="22494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>
                <a:solidFill>
                  <a:srgbClr val="1B2A41"/>
                </a:solidFill>
                <a:latin typeface="Courier New"/>
              </a:rPr>
              <a:t>Observer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54496" y="3749040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54496" y="3749040"/>
            <a:ext cx="22494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>
                <a:solidFill>
                  <a:srgbClr val="1B2A41"/>
                </a:solidFill>
                <a:latin typeface="Courier New"/>
              </a:rPr>
              <a:t>Strategy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4 · Patrones de diseño · C# / .NET · CUN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SOLID: los principios detrás de cada patrón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Un patrón es, casi siempre, una forma probada de cumplir uno o varios principios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6B7A8C"/>
                </a:solidFill>
                <a:latin typeface="Calibri"/>
              </a:rPr>
              <a:t>PRINCIPIO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17043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6B7A8C"/>
                </a:solidFill>
                <a:latin typeface="Calibri"/>
              </a:rPr>
              <a:t>EN UNA FRASE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17043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6B7A8C"/>
                </a:solidFill>
                <a:latin typeface="Calibri"/>
              </a:rPr>
              <a:t>LO CUMPLE…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8229600" cy="484632"/>
          </a:xfrm>
          <a:prstGeom prst="roundRect">
            <a:avLst>
              <a:gd name="adj" fmla="val 22641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1371600"/>
            <a:ext cx="2560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1">
                <a:solidFill>
                  <a:srgbClr val="1B2A41"/>
                </a:solidFill>
                <a:latin typeface="Calibri"/>
              </a:rPr>
              <a:t>S · Responsabilidad única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371600"/>
            <a:ext cx="32004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1F2933"/>
                </a:solidFill>
                <a:latin typeface="Calibri"/>
              </a:rPr>
              <a:t>Una clase, una razón para cambiar.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371600"/>
            <a:ext cx="21031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C98700"/>
                </a:solidFill>
                <a:latin typeface="Courier New"/>
              </a:rPr>
              <a:t>Strategy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8229600" cy="484632"/>
          </a:xfrm>
          <a:prstGeom prst="roundRect">
            <a:avLst>
              <a:gd name="adj" fmla="val 22641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8368" y="1920240"/>
            <a:ext cx="2560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1">
                <a:solidFill>
                  <a:srgbClr val="1B2A41"/>
                </a:solidFill>
                <a:latin typeface="Calibri"/>
              </a:rPr>
              <a:t>O · Abierto / Cerrado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920240"/>
            <a:ext cx="32004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1F2933"/>
                </a:solidFill>
                <a:latin typeface="Calibri"/>
              </a:rPr>
              <a:t>Extender sin modificar lo que funciona.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21031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C98700"/>
                </a:solidFill>
                <a:latin typeface="Courier New"/>
              </a:rPr>
              <a:t>Factory · Decorator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68880"/>
            <a:ext cx="8229600" cy="484632"/>
          </a:xfrm>
          <a:prstGeom prst="roundRect">
            <a:avLst>
              <a:gd name="adj" fmla="val 22641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" y="2468880"/>
            <a:ext cx="2560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1">
                <a:solidFill>
                  <a:srgbClr val="1B2A41"/>
                </a:solidFill>
                <a:latin typeface="Calibri"/>
              </a:rPr>
              <a:t>L · Sustitución de Liskov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468880"/>
            <a:ext cx="32004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1F2933"/>
                </a:solidFill>
                <a:latin typeface="Calibri"/>
              </a:rPr>
              <a:t>Un hijo sirve donde se espera el padre.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468880"/>
            <a:ext cx="21031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C98700"/>
                </a:solidFill>
                <a:latin typeface="Courier New"/>
              </a:rPr>
              <a:t>Composite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17520"/>
            <a:ext cx="8229600" cy="484632"/>
          </a:xfrm>
          <a:prstGeom prst="roundRect">
            <a:avLst>
              <a:gd name="adj" fmla="val 22641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017520"/>
            <a:ext cx="2560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1">
                <a:solidFill>
                  <a:srgbClr val="1B2A41"/>
                </a:solidFill>
                <a:latin typeface="Calibri"/>
              </a:rPr>
              <a:t>I · Segregación de interfaces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017520"/>
            <a:ext cx="32004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1F2933"/>
                </a:solidFill>
                <a:latin typeface="Calibri"/>
              </a:rPr>
              <a:t>Interfaces pequeñas y específicas.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017520"/>
            <a:ext cx="21031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C98700"/>
                </a:solidFill>
                <a:latin typeface="Courier New"/>
              </a:rPr>
              <a:t>Observer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566160"/>
            <a:ext cx="8229600" cy="484632"/>
          </a:xfrm>
          <a:prstGeom prst="roundRect">
            <a:avLst>
              <a:gd name="adj" fmla="val 22641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8368" y="3566160"/>
            <a:ext cx="2560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1">
                <a:solidFill>
                  <a:srgbClr val="1B2A41"/>
                </a:solidFill>
                <a:latin typeface="Calibri"/>
              </a:rPr>
              <a:t>D · Inversión de dependencias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566160"/>
            <a:ext cx="32004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1F2933"/>
                </a:solidFill>
                <a:latin typeface="Calibri"/>
              </a:rPr>
              <a:t>Depender de abstracciones, no de clases.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566160"/>
            <a:ext cx="21031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C98700"/>
                </a:solidFill>
                <a:latin typeface="Courier New"/>
              </a:rPr>
              <a:t>Adapter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1B2A41"/>
                </a:solidFill>
                <a:latin typeface="Calibri"/>
              </a:rPr>
              <a:t>Lo viste en G1 con SOLID y en G2 con interfaces: en G4 esas ideas reciben nombre propio.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4 · Patrones de diseño · C# / .NET · CUN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Los patrones ya están en tu vida diaria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Analogías colombianas del documento maestro, una por patrón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07008"/>
            <a:ext cx="4023360" cy="950976"/>
          </a:xfrm>
          <a:prstGeom prst="roundRect">
            <a:avLst>
              <a:gd name="adj" fmla="val 11538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21792" y="1417320"/>
            <a:ext cx="530352" cy="53035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-1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83" y="1555211"/>
            <a:ext cx="254568" cy="2545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0160" y="12984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ourier New"/>
              </a:rPr>
              <a:t>Singleton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91056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El Gerente del Banco de la República: hay uno solo y todos acuden a él.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207008"/>
            <a:ext cx="4023360" cy="950976"/>
          </a:xfrm>
          <a:prstGeom prst="roundRect">
            <a:avLst>
              <a:gd name="adj" fmla="val 11538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828031" y="1417320"/>
            <a:ext cx="530352" cy="53035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-1_1B2A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923" y="1555211"/>
            <a:ext cx="254568" cy="254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0" y="12984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ourier New"/>
              </a:rPr>
              <a:t>Factory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591056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El corrientazo: pides «el menú del día» y la cocina decide el plato.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49424"/>
            <a:ext cx="4023360" cy="950976"/>
          </a:xfrm>
          <a:prstGeom prst="roundRect">
            <a:avLst>
              <a:gd name="adj" fmla="val 11538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21792" y="2459736"/>
            <a:ext cx="530352" cy="53035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2-2_1B2A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683" y="2597627"/>
            <a:ext cx="254568" cy="2545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234086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ourier New"/>
              </a:rPr>
              <a:t>Adapter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633472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El enchufe para viajar a España: traduce clavijas planas a redondas.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2249424"/>
            <a:ext cx="4023360" cy="950976"/>
          </a:xfrm>
          <a:prstGeom prst="roundRect">
            <a:avLst>
              <a:gd name="adj" fmla="val 11538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828031" y="2459736"/>
            <a:ext cx="530352" cy="53035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1-1_1B2A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923" y="2597627"/>
            <a:ext cx="254568" cy="2545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0" y="234086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ourier New"/>
              </a:rPr>
              <a:t>Decorator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633472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Un café en Juan Valdez: crema, arequipe, canela… cada uno envuelve al anterior.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91839"/>
            <a:ext cx="4023360" cy="950976"/>
          </a:xfrm>
          <a:prstGeom prst="roundRect">
            <a:avLst>
              <a:gd name="adj" fmla="val 11538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21792" y="3502151"/>
            <a:ext cx="530352" cy="53035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2-5_1B2A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683" y="3640043"/>
            <a:ext cx="254568" cy="2545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80160" y="338327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ourier New"/>
              </a:rPr>
              <a:t>Observer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675887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La suscripción a El Tiempo: te avisan sin que preguntes.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3291839"/>
            <a:ext cx="4023360" cy="950976"/>
          </a:xfrm>
          <a:prstGeom prst="roundRect">
            <a:avLst>
              <a:gd name="adj" fmla="val 11538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4828031" y="3502151"/>
            <a:ext cx="530352" cy="53035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2-3_1B2A4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923" y="3640043"/>
            <a:ext cx="254568" cy="25456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486400" y="338327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ourier New"/>
              </a:rPr>
              <a:t>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675887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Las promociones del Éxito: cambian cada día, la caja es la misma.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315968"/>
            <a:ext cx="8229600" cy="384048"/>
          </a:xfrm>
          <a:prstGeom prst="roundRect">
            <a:avLst>
              <a:gd name="adj" fmla="val 28571"/>
            </a:avLst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8368" y="4315968"/>
            <a:ext cx="7863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>
                <a:solidFill>
                  <a:srgbClr val="FFFFFF"/>
                </a:solidFill>
                <a:latin typeface="Calibri"/>
              </a:rPr>
              <a:t>En el software: Observer en las notificaciones de Instagram, Factory en Angular, Decorator en los streams de .NET.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4 · Patrones de diseño · C# / .NET · CUN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Caso 1 · Fintech de microcréditos: Singleton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Las claves de la central de riesgo se cargan una vez y todo el sistema lee el mismo objeto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434840" cy="3200400"/>
          </a:xfrm>
          <a:prstGeom prst="roundRect">
            <a:avLst>
              <a:gd name="adj" fmla="val 2857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41056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Creacionales/AppConfig.cs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4105655" cy="2735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public sealed class AppConfig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private static readonly Lazy&lt;AppConfig&gt;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_instancia = new(() =&gt; new AppConfig());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8A94A6"/>
                </a:solidFill>
                <a:latin typeface="Courier New"/>
              </a:rPr>
              <a:t>  // el getInstance() de Java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CB6B"/>
                </a:solidFill>
                <a:latin typeface="Courier New"/>
              </a:rPr>
              <a:t>  public static AppConfig Instancia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CB6B"/>
                </a:solidFill>
                <a:latin typeface="Courier New"/>
              </a:rPr>
              <a:t>      =&gt; _instancia.Value;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  private AppConfig()   // nadie mas hace new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VecesCargada++;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_valores = Leer("microcreditos.json");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28016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0F1620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239512" y="1353312"/>
            <a:ext cx="3282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&gt; ejecutar.bat 4   (sección 1, salida real)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9512" y="1645919"/>
            <a:ext cx="3282696" cy="1547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Aplicacion: MicroCredito Ya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API central de riesgo: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 demo-c**********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Tasa mensual: 1.9 %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a y b son el mismo objeto? True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Veces que se leyo el archivo: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3429000"/>
            <a:ext cx="3611880" cy="1051560"/>
          </a:xfrm>
          <a:prstGeom prst="roundRect">
            <a:avLst>
              <a:gd name="adj" fmla="val 10434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257800" y="350215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Impacto en la fintech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3794760"/>
            <a:ext cx="32918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Consistencia: una sola configuración vigente.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Seguridad: un único punto auditable para los secretos.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4 · Patrones de diseño · C# / .NET · CUN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Caso 1 · Reportes de cartera: Factory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Gerencia pide PDF, Excel y CSV; mañana pedirá XML y nada existente debe cambiar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434840" cy="2057400"/>
          </a:xfrm>
          <a:prstGeom prst="roundRect">
            <a:avLst>
              <a:gd name="adj" fmla="val 4444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41056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Creacionales/GeneradorReporte.cs — el creador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4105655" cy="1592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public abstract class GeneradorReporte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CB6B"/>
                </a:solidFill>
                <a:latin typeface="Courier New"/>
              </a:rPr>
              <a:t>  protected abstract IReporte CrearReporte();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public string Exportar(cartera)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  =&gt; CrearReporte().Generar(cartera);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29000"/>
            <a:ext cx="4434840" cy="1051560"/>
          </a:xfrm>
          <a:prstGeom prst="roundRect">
            <a:avLst>
              <a:gd name="adj" fmla="val 8695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792" y="3502152"/>
            <a:ext cx="41056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GeneradorReportePdf.cs — la subclase decide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794760"/>
            <a:ext cx="4105655" cy="587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protected override IReporte CrearReporte()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CB6B"/>
                </a:solidFill>
                <a:latin typeface="Courier New"/>
              </a:rPr>
              <a:t>    =&gt; new ReportePdf();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28016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0F1620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239512" y="1353312"/>
            <a:ext cx="3282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&gt; ejecutar.bat 4   (sección 2, salida real)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1645919"/>
            <a:ext cx="3282696" cy="1592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Formato configurado: PDF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[PDF]  3 creditos, saldo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     $4.350.000 COP, 1 en mora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[XLSX] Hoja 'Cartera': 3 filas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[CSV]  Ana Rojas;1200000;0 |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3429000"/>
            <a:ext cx="3611880" cy="1051560"/>
          </a:xfrm>
          <a:prstGeom prst="roundRect">
            <a:avLst>
              <a:gd name="adj" fmla="val 10434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212080" y="3639312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2-1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726" y="3781958"/>
            <a:ext cx="263347" cy="26334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97880" y="3474720"/>
            <a:ext cx="26974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Nuevo formato = 2 clases nuevas. El cliente nunca escribe new ReportePdf(): Abierto/Cerrado.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4 · Patrones de diseño · C# / .NET · CUN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Ejercicio práctico 1 · Constructor de pizzas: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Un objeto complejo, paso a paso, sin un constructor de ocho parámetros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37490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C0392B"/>
                </a:solidFill>
                <a:latin typeface="Courier New"/>
              </a:rPr>
              <a:t>Sin Builder: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1F2933"/>
                </a:solidFill>
                <a:latin typeface="Courier New"/>
              </a:rPr>
              <a:t>new Pizza("gruesa", "tomate", "mozzarella", true, true, false…)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38528"/>
            <a:ext cx="4023360" cy="2542032"/>
          </a:xfrm>
          <a:prstGeom prst="roundRect">
            <a:avLst>
              <a:gd name="adj" fmla="val 3597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2011680"/>
            <a:ext cx="3694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Program — con 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04288"/>
            <a:ext cx="3694176" cy="2077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Pizza hawaiana = new Pizza.Builder()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.ConMasa("delgada")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.ConSalsa("tomate")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.ConQueso("mozzarella")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.ConIngrediente("jamon")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.ConIngrediente("pina")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CB6B"/>
                </a:solidFill>
                <a:latin typeface="Courier New"/>
              </a:rPr>
              <a:t>    .Build();   // valida y crea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8A94A6"/>
                </a:solidFill>
                <a:latin typeface="Courier New"/>
              </a:rPr>
              <a:t>// Pizza tiene constructor PRIVADO: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8A94A6"/>
                </a:solidFill>
                <a:latin typeface="Courier New"/>
              </a:rPr>
              <a:t>// solo el Builder puede crearla.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28016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0F1620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28031" y="1353312"/>
            <a:ext cx="3694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&gt; ejecutar.bat 4   (sección 3, salida real)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1" y="1645919"/>
            <a:ext cx="3694176" cy="11356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Pizza creada: masa delgada,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salsa tomate, queso mozzarella,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con jamon y pina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8A80"/>
                </a:solidFill>
                <a:latin typeface="Courier New"/>
              </a:rPr>
              <a:t>Pizza rechazada: Maximo 5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8A80"/>
                </a:solidFill>
                <a:latin typeface="Courier New"/>
              </a:rPr>
              <a:t>  ingredientes; se pidieron 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846320" y="3108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Cómo se arma en C#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401568"/>
            <a:ext cx="3657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50" b="0">
                <a:solidFill>
                  <a:srgbClr val="1F2933"/>
                </a:solidFill>
                <a:latin typeface="Calibri"/>
              </a:rPr>
              <a:t>Clase anidada Pizza.Builder (en Java: static class).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50" b="0">
                <a:solidFill>
                  <a:srgbClr val="1F2933"/>
                </a:solidFill>
                <a:latin typeface="Calibri"/>
              </a:rPr>
              <a:t>Cada ConX() devuelve this: interfaz fluida.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50" b="0">
                <a:solidFill>
                  <a:srgbClr val="1F2933"/>
                </a:solidFill>
                <a:latin typeface="Calibri"/>
              </a:rPr>
              <a:t>Build() valida antes de crear; la pizza es inmutable.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4 · Patrones de diseño · C# / .NET · CUN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Caso 2 · E-commerce de moda: PayU + Wompi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Dos APIs incompatibles; el carrito no debería enterarse de cuál cobra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291840" cy="1508760"/>
          </a:xfrm>
          <a:prstGeom prst="roundRect">
            <a:avLst>
              <a:gd name="adj" fmla="val 7272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C0392B"/>
                </a:solidFill>
                <a:latin typeface="Calibri"/>
              </a:rP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PayU: pesos, ids de texto, estados en inglés.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Wompi: centavos, Guid y correo obligatorio.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Integrar con if (esPayU)… vuelve frágil el carrito.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3291840" cy="1554480"/>
          </a:xfrm>
          <a:prstGeom prst="roundRect">
            <a:avLst>
              <a:gd name="adj" fmla="val 7058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2E8B57"/>
                </a:solidFill>
                <a:latin typeface="Calibri"/>
              </a:rPr>
              <a:t>La solución: Adapter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Una interfaz común: IPasarelaPago.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Un adaptador por proveedor que traduce.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MercadoPago mañana = un adaptador más.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28016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1B2A41"/>
          </a:solidFill>
          <a:ln w="12700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20640" y="12801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1">
                <a:solidFill>
                  <a:srgbClr val="FFFFFF"/>
                </a:solidFill>
                <a:latin typeface="Courier New"/>
              </a:rPr>
              <a:t>CarritoDeCompras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09360" y="1691640"/>
            <a:ext cx="0" cy="274320"/>
          </a:xfrm>
          <a:prstGeom prst="line">
            <a:avLst/>
          </a:prstGeom>
          <a:ln w="22225">
            <a:solidFill>
              <a:srgbClr val="1B2A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0640" y="198424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F0A5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120640" y="202082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750" b="0">
                <a:solidFill>
                  <a:srgbClr val="6B7A8C"/>
                </a:solidFill>
                <a:latin typeface="Courier New"/>
              </a:rPr>
              <a:t>«interfaz»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167128"/>
            <a:ext cx="23774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1">
                <a:solidFill>
                  <a:srgbClr val="1B2A41"/>
                </a:solidFill>
                <a:latin typeface="Courier New"/>
              </a:rPr>
              <a:t>IPasarelaPago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257800" y="2505456"/>
            <a:ext cx="502920" cy="374904"/>
          </a:xfrm>
          <a:prstGeom prst="line">
            <a:avLst/>
          </a:prstGeom>
          <a:ln w="22225">
            <a:solidFill>
              <a:srgbClr val="C98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6858000" y="2505456"/>
            <a:ext cx="502920" cy="374904"/>
          </a:xfrm>
          <a:prstGeom prst="line">
            <a:avLst/>
          </a:prstGeom>
          <a:ln w="22225">
            <a:solidFill>
              <a:srgbClr val="C98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023360" y="2898648"/>
            <a:ext cx="2148840" cy="411480"/>
          </a:xfrm>
          <a:prstGeom prst="roundRect">
            <a:avLst>
              <a:gd name="adj" fmla="val 13333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023360" y="289864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1">
                <a:solidFill>
                  <a:srgbClr val="1B2A41"/>
                </a:solidFill>
                <a:latin typeface="Courier New"/>
              </a:rPr>
              <a:t>PayUAdapter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898648"/>
            <a:ext cx="2240280" cy="411480"/>
          </a:xfrm>
          <a:prstGeom prst="roundRect">
            <a:avLst>
              <a:gd name="adj" fmla="val 13333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46520" y="2898648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1">
                <a:solidFill>
                  <a:srgbClr val="1B2A41"/>
                </a:solidFill>
                <a:latin typeface="Courier New"/>
              </a:rPr>
              <a:t>WompiAdapter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97780" y="3310128"/>
            <a:ext cx="0" cy="347472"/>
          </a:xfrm>
          <a:prstGeom prst="line">
            <a:avLst/>
          </a:prstGeom>
          <a:ln w="22225">
            <a:solidFill>
              <a:srgbClr val="6B7A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566660" y="3310128"/>
            <a:ext cx="0" cy="347472"/>
          </a:xfrm>
          <a:prstGeom prst="line">
            <a:avLst/>
          </a:prstGeom>
          <a:ln w="22225">
            <a:solidFill>
              <a:srgbClr val="6B7A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023360" y="3675887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023360" y="3712463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750" b="0">
                <a:solidFill>
                  <a:srgbClr val="6B7A8C"/>
                </a:solidFill>
                <a:latin typeface="Courier New"/>
              </a:rPr>
              <a:t>SDK externo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38587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1">
                <a:solidFill>
                  <a:srgbClr val="1F2933"/>
                </a:solidFill>
                <a:latin typeface="Courier New"/>
              </a:rPr>
              <a:t>PayUApi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3675887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3712463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750" b="0">
                <a:solidFill>
                  <a:srgbClr val="6B7A8C"/>
                </a:solidFill>
                <a:latin typeface="Courier New"/>
              </a:rPr>
              <a:t>SDK externo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858768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1">
                <a:solidFill>
                  <a:srgbClr val="1F2933"/>
                </a:solidFill>
                <a:latin typeface="Courier New"/>
              </a:rPr>
              <a:t>WompiApi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422452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Flecha punteada: implementa. Flecha gris: usa por dentro y traduce.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4 · Patrones de diseño · C# / .NET · CUN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Ejemplo práctico 2 · El adaptador de Wompi por dentro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Tres traducciones: unidades, tipo del id y estados. El carrito no ve ninguna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572000" cy="3200400"/>
          </a:xfrm>
          <a:prstGeom prst="roundRect">
            <a:avLst>
              <a:gd name="adj" fmla="val 2857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42428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Estructurales/WompiAdapter.cs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4242816" cy="2735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792EA"/>
                </a:solidFill>
                <a:latin typeface="Courier New"/>
              </a:rPr>
              <a:t>public class WompiAdapter : IPasarelaPago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public string IniciarPago(decimal monto,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                          string descripcion)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  long centavos = (long)(monto * 100);  // 1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  var t = _wompi.CrearTransaccion(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      centavos, descripcion, _correo);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  return t.Id.ToString();               // 2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public EstadoPago VerificarEstado(string id)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  =&gt; ... Estado switch {                // 3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       "APPROVED" =&gt; EstadoPago.Aprobado,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       _          =&gt; EstadoPago.Rechazado };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28016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0F1620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76672" y="1353312"/>
            <a:ext cx="31455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&gt; ejecutar.bat 4   (sección 4, salida real)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76672" y="1645919"/>
            <a:ext cx="3145536" cy="998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PayU  cobra $429.800 COP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    -&gt; Aprobado (id PAYU-1001)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Wompi cobra $429.800 COP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    -&gt; Aprobado (id b6791980-...)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88036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376672" y="3035808"/>
            <a:ext cx="548640" cy="5486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1-2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318" y="3178454"/>
            <a:ext cx="263347" cy="2633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53328" y="301752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Mismo carrito, dos pasarelas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672" y="370332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CarritoDeCompras solo conoce IPasarelaPago: no tiene ni un if por proveedor.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4 · Patrones de diseño · C# / .NET · CUN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Ejercicio práctico 3 · Sistema de archivos: Composite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Tratar igual a la parte y al todo: un archivo y una carpeta responden lo mismo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38770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Estructurales/Carpeta.cs — el compuesto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3877055" cy="1547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public class Carpeta : IComponenteFs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private readonly List&lt;IComponenteFs&gt;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      _hijos = [];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8A94A6"/>
                </a:solidFill>
                <a:latin typeface="Courier New"/>
              </a:rPr>
              <a:t>  // recursivo: no pregunta si es hoja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public long Tamano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CB6B"/>
                </a:solidFill>
                <a:latin typeface="Courier New"/>
              </a:rPr>
              <a:t>      =&gt; _hijos.Sum(h =&gt; h.Tamano);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328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F1620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792" y="3456432"/>
            <a:ext cx="38770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&gt; ejecutar.bat 4   (sección 5, salida real)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749040"/>
            <a:ext cx="3877055" cy="632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C:/ (3584 KB)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 Documentos/ (1536 KB)  ...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Tamano total del disco: 3584 KB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5669280" y="1673352"/>
            <a:ext cx="960120" cy="475488"/>
          </a:xfrm>
          <a:prstGeom prst="line">
            <a:avLst/>
          </a:prstGeom>
          <a:ln w="15875">
            <a:solidFill>
              <a:srgbClr val="6B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629400" y="1673352"/>
            <a:ext cx="1005840" cy="475488"/>
          </a:xfrm>
          <a:prstGeom prst="line">
            <a:avLst/>
          </a:prstGeom>
          <a:ln w="15875">
            <a:solidFill>
              <a:srgbClr val="6B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212080" y="2496312"/>
            <a:ext cx="457200" cy="521208"/>
          </a:xfrm>
          <a:prstGeom prst="line">
            <a:avLst/>
          </a:prstGeom>
          <a:ln w="15875">
            <a:solidFill>
              <a:srgbClr val="6B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669280" y="2496312"/>
            <a:ext cx="1005840" cy="521208"/>
          </a:xfrm>
          <a:prstGeom prst="line">
            <a:avLst/>
          </a:prstGeom>
          <a:ln w="15875">
            <a:solidFill>
              <a:srgbClr val="6B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3364991"/>
            <a:ext cx="0" cy="475489"/>
          </a:xfrm>
          <a:prstGeom prst="line">
            <a:avLst/>
          </a:prstGeom>
          <a:ln w="15875">
            <a:solidFill>
              <a:srgbClr val="6B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89320" y="132588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1B2A41"/>
          </a:solidFill>
          <a:ln w="12700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89320" y="1325880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FFFFFF"/>
                </a:solidFill>
                <a:latin typeface="Courier New"/>
              </a:rPr>
              <a:t>C:/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14884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1B2A41"/>
          </a:solidFill>
          <a:ln w="12700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0" y="2148840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FFFFFF"/>
                </a:solidFill>
                <a:latin typeface="Courier New"/>
              </a:rPr>
              <a:t>Documentos/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214884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995160" y="2148840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1F2933"/>
                </a:solidFill>
                <a:latin typeface="Courier New"/>
              </a:rPr>
              <a:t>vacaciones.jpg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01752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72000" y="3017520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1F2933"/>
                </a:solidFill>
                <a:latin typeface="Courier New"/>
              </a:rPr>
              <a:t>reporte.docx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301752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1B2A41"/>
          </a:solidFill>
          <a:ln w="12700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035040" y="3017520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FFFFFF"/>
                </a:solidFill>
                <a:latin typeface="Courier New"/>
              </a:rPr>
              <a:t>Universidad/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384048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035040" y="3840480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1F2933"/>
                </a:solidFill>
                <a:latin typeface="Courier New"/>
              </a:rPr>
              <a:t>taller-poo.pdf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306324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B2A41"/>
          </a:solidFill>
          <a:ln w="12700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18120" y="3017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1F2933"/>
                </a:solidFill>
                <a:latin typeface="Calibri"/>
              </a:rPr>
              <a:t>Compuesto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0" y="342900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818120" y="33832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1F2933"/>
                </a:solidFill>
                <a:latin typeface="Calibri"/>
              </a:rPr>
              <a:t>Hoja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4 · Patrones de diseño · C# / .NET · CUN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Decorator · Un café a tu medida en Juan Valdez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Cada adición envuelve a la anterior y le suma lo suyo, sin tocar el café 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023360" cy="2331720"/>
          </a:xfrm>
          <a:prstGeom prst="roundRect">
            <a:avLst>
              <a:gd name="adj" fmla="val 4705"/>
            </a:avLst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3749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FFFFFF"/>
                </a:solidFill>
                <a:latin typeface="Courier New"/>
              </a:rPr>
              <a:t>ConCanela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24354F"/>
          </a:solidFill>
          <a:ln w="9525">
            <a:solidFill>
              <a:srgbClr val="24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FFFFFF"/>
                </a:solidFill>
                <a:latin typeface="Courier New"/>
              </a:rPr>
              <a:t>ConCremaBatida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011680"/>
            <a:ext cx="2926080" cy="1051560"/>
          </a:xfrm>
          <a:prstGeom prst="roundRect">
            <a:avLst>
              <a:gd name="adj" fmla="val 10434"/>
            </a:avLst>
          </a:prstGeom>
          <a:solidFill>
            <a:srgbClr val="F0A500"/>
          </a:solidFill>
          <a:ln w="9525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1B2A41"/>
                </a:solidFill>
                <a:latin typeface="Courier New"/>
              </a:rPr>
              <a:t>Tinto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1B2A41"/>
                </a:solidFill>
                <a:latin typeface="Calibri"/>
              </a:rPr>
              <a:t>$3.500  →  +$2.000  →  +$800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03320"/>
            <a:ext cx="4023360" cy="777240"/>
          </a:xfrm>
          <a:prstGeom prst="roundRect">
            <a:avLst>
              <a:gd name="adj" fmla="val 11764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792" y="3867911"/>
            <a:ext cx="3694176" cy="513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IBebida pedido = new ConCanela(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    new ConCremaBatida(new Tinto()));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280160"/>
            <a:ext cx="4023360" cy="1325880"/>
          </a:xfrm>
          <a:prstGeom prst="roundRect">
            <a:avLst>
              <a:gd name="adj" fmla="val 6896"/>
            </a:avLst>
          </a:prstGeom>
          <a:solidFill>
            <a:srgbClr val="0F1620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28031" y="1353312"/>
            <a:ext cx="3694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&gt; ejecutar.bat 4   (sección 6, salida real)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1" y="1645919"/>
            <a:ext cx="3694176" cy="861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Tinto + crema batida + canela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                     $6.300 COP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Latte + crema batida + arequipe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                    $12.400 COP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743200"/>
            <a:ext cx="1920240" cy="1737360"/>
          </a:xfrm>
          <a:prstGeom prst="roundRect">
            <a:avLst>
              <a:gd name="adj" fmla="val 6315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800600" y="2816352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4000" b="1">
                <a:solidFill>
                  <a:srgbClr val="C0392B"/>
                </a:solidFill>
                <a:latin typeface="Calibri"/>
              </a:rP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52044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1F2933"/>
                </a:solidFill>
                <a:latin typeface="Calibri"/>
              </a:rPr>
              <a:t>clases si cada combinación fuera una subclase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2743200"/>
            <a:ext cx="1920240" cy="1737360"/>
          </a:xfrm>
          <a:prstGeom prst="roundRect">
            <a:avLst>
              <a:gd name="adj" fmla="val 6315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903720" y="2816352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4000" b="1">
                <a:solidFill>
                  <a:srgbClr val="2E8B57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52044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1F2933"/>
                </a:solidFill>
                <a:latin typeface="Calibri"/>
              </a:rPr>
              <a:t>clases con Decorator: 2 bases + 3 adiciones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4 · Patrones de diseño · C# / .NET · CUN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Ejercicio práctico 4 · Estación meteorológica: Observer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Uno a muchos: cuando el clima cambia, todos los dispositivos se actualizan solos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389120" cy="2194560"/>
          </a:xfrm>
          <a:prstGeom prst="roundRect">
            <a:avLst>
              <a:gd name="adj" fmla="val 4166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40599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Comportamiento/EstacionMeteorologica.cs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4059935" cy="1730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public void SetMediciones(double t, double h)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Temperatura = t; Humedad = h;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NotificarObservadores();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public void NotificarObservadores()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foreach (IObservador o in _observadores)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    o.Actualizar(Temperatura, Humedad);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6616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792" y="3639312"/>
            <a:ext cx="40599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Lo mismo, con la sintaxis propia de C#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931920"/>
            <a:ext cx="4059935" cy="449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792EA"/>
                </a:solidFill>
                <a:latin typeface="Courier New"/>
              </a:rPr>
              <a:t>estacion.MedicionCambio += (t, h) =&gt;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  { if (t &gt;= 30) Alertar(t); };     // event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28016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0F1620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93792" y="1353312"/>
            <a:ext cx="3328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&gt; ejecutar.bat 4   (sección 7, salida real)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3792" y="1645919"/>
            <a:ext cx="3328416" cy="1912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[Pantalla] 25.5 C | humedad 90%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[Celular]  Push: ahora hace 25.5 C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[Web]      Registro #1 guardado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8A94A6"/>
                </a:solidFill>
                <a:latin typeface="Courier New"/>
              </a:rPr>
              <a:t>...cambia el clima...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[Pantalla] 31.2 C | humedad 40%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[Celular]  Push: ahora hace 31.2 C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[Web]      Registro #2 guardado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8A80"/>
                </a:solidFill>
                <a:latin typeface="Courier New"/>
              </a:rPr>
              <a:t>[Alerta]   Calor extremo: 31.2 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3749039"/>
            <a:ext cx="3657600" cy="731520"/>
          </a:xfrm>
          <a:prstGeom prst="roundRect">
            <a:avLst>
              <a:gd name="adj" fmla="val 15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166360" y="384048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2-5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006" y="3983126"/>
            <a:ext cx="263347" cy="26334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52160" y="3749039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La estación solo conoce IObservador: nadie pregunta «¿hay algo nuevo?».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4 · Patrones de diseño · C# / .NET · CUN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Caso 3 · Promociones del supermercado: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Las promociones cambian cada día; la caja registradora no se vuelve a tocar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297680" cy="182880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3968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Comportamiento/CajaRegistradora.cs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3968496" cy="136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792EA"/>
                </a:solidFill>
                <a:latin typeface="Courier New"/>
              </a:rPr>
              <a:t>private IEstrategiaDescuento _estrategia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792EA"/>
                </a:solidFill>
                <a:latin typeface="Courier New"/>
              </a:rPr>
              <a:t>        = new SinDescuento();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public void UsarPromocion(IEstrategiaDescuento e)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  =&gt; _estrategia = e;      // en caliente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public decimal Descuento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  =&gt; _estrategia.CalcularDescuento(_compra);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4297680" cy="1280160"/>
          </a:xfrm>
          <a:prstGeom prst="roundRect">
            <a:avLst>
              <a:gd name="adj" fmla="val 8571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327355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Una clase por promoción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393192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DescuentoPorcentual · DescuentoPagueLleve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DescuentoTarjetaFidelidad · DescuentoCombinado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Ni un if ni un switch en la caja: Abierto/Cerrado.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2070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>
                <a:solidFill>
                  <a:srgbClr val="6B7A8C"/>
                </a:solidFill>
                <a:latin typeface="Calibri"/>
              </a:rPr>
              <a:t>Misma compra de $63.800, cuatro promociones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5727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1F2933"/>
                </a:solidFill>
                <a:latin typeface="Calibri"/>
              </a:rPr>
              <a:t>Precio normal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1819656"/>
            <a:ext cx="2011680" cy="237744"/>
          </a:xfrm>
          <a:prstGeom prst="roundRect">
            <a:avLst>
              <a:gd name="adj" fmla="val 15384"/>
            </a:avLst>
          </a:prstGeom>
          <a:solidFill>
            <a:srgbClr val="6B7A8C"/>
          </a:solidFill>
          <a:ln w="6350">
            <a:solidFill>
              <a:srgbClr val="6B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86600" y="178308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>
                <a:solidFill>
                  <a:srgbClr val="6B7A8C"/>
                </a:solidFill>
                <a:latin typeface="Courier New"/>
              </a:rPr>
              <a:t>$63.800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1762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1F2933"/>
                </a:solidFill>
                <a:latin typeface="Calibri"/>
              </a:rPr>
              <a:t>20 % en lácteos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2423160"/>
            <a:ext cx="1807989" cy="237744"/>
          </a:xfrm>
          <a:prstGeom prst="roundRect">
            <a:avLst>
              <a:gd name="adj" fmla="val 15384"/>
            </a:avLst>
          </a:prstGeom>
          <a:solidFill>
            <a:srgbClr val="C98700"/>
          </a:solidFill>
          <a:ln w="6350">
            <a:solidFill>
              <a:srgbClr val="C98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82909" y="238658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>
                <a:solidFill>
                  <a:srgbClr val="C98700"/>
                </a:solidFill>
                <a:latin typeface="Courier New"/>
              </a:rPr>
              <a:t>$57.340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77977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1F2933"/>
                </a:solidFill>
                <a:latin typeface="Calibri"/>
              </a:rPr>
              <a:t>Pague 2 lleve 3 galletas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3026664"/>
            <a:ext cx="1879249" cy="237744"/>
          </a:xfrm>
          <a:prstGeom prst="roundRect">
            <a:avLst>
              <a:gd name="adj" fmla="val 15384"/>
            </a:avLst>
          </a:prstGeom>
          <a:solidFill>
            <a:srgbClr val="C98700"/>
          </a:solidFill>
          <a:ln w="6350">
            <a:solidFill>
              <a:srgbClr val="C98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954169" y="2990088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>
                <a:solidFill>
                  <a:srgbClr val="C98700"/>
                </a:solidFill>
                <a:latin typeface="Courier New"/>
              </a:rPr>
              <a:t>$59.600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3832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1F2933"/>
                </a:solidFill>
                <a:latin typeface="Calibri"/>
              </a:rPr>
              <a:t>Lácteos + 10 % tarjeta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80" y="3630168"/>
            <a:ext cx="1606821" cy="237744"/>
          </a:xfrm>
          <a:prstGeom prst="roundRect">
            <a:avLst>
              <a:gd name="adj" fmla="val 15384"/>
            </a:avLst>
          </a:prstGeom>
          <a:solidFill>
            <a:srgbClr val="2E8B57"/>
          </a:solidFill>
          <a:ln w="63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681741" y="359359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>
                <a:solidFill>
                  <a:srgbClr val="2E8B57"/>
                </a:solidFill>
                <a:latin typeface="Courier New"/>
              </a:rPr>
              <a:t>$50.960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069080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>
                <a:solidFill>
                  <a:srgbClr val="1B2A41"/>
                </a:solidFill>
                <a:latin typeface="Calibri"/>
              </a:rPr>
              <a:t>Mercadeo inventa la promoción; desarrollo solo escribe una clase nueva.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4 · Patrones de diseño · C# / .NET · CUN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Usar patrones con criterio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Un patrón mal aplicado puede ser peor que no usar ninguno (Pressman &amp; Maxim, 2021)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1-2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1548079"/>
            <a:ext cx="241401" cy="2414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0160" y="14173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2E8B57"/>
                </a:solidFill>
                <a:latin typeface="Calibri"/>
              </a:rPr>
              <a:t>Beneficios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36576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Soluciones probadas en miles de sistemas.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Vocabulario común: «usemos un Adapter».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Diseños modulares y reutilizables.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Código más fácil de entender y mantener.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28016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846320" y="141732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-5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079" y="1548079"/>
            <a:ext cx="241401" cy="24140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0" y="14173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C0392B"/>
                </a:solidFill>
                <a:latin typeface="Calibri"/>
              </a:rPr>
              <a:t>Riesgos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057400"/>
            <a:ext cx="36576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Sobre-diseño: un patrón para un problema simple.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Curva de aprendizaje: saber cuándo aplicar cada uno.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Malinterpretación: un patrón mal hecho confunde.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Singleton abusado = una variable global disfrazada.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84448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0080" y="3767328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9-1_1B2A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3909974"/>
            <a:ext cx="263347" cy="26334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71600" y="3584448"/>
            <a:ext cx="7178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1">
                <a:solidFill>
                  <a:srgbClr val="FFFFFF"/>
                </a:solidFill>
                <a:latin typeface="Calibri"/>
              </a:rPr>
              <a:t>Antes de escribir la primera línea, pregúntate: ¿qué cambia con frecuencia? ¿quién crea los objetos? ¿quién necesita enterarse? ¿existe ya una solución probada para esto?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4 · Patrones de diseño · C# / .NET · CUN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Ejecútalo tú · proyecto POO-Fundamentos-NET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El módulo 4 se suma a G1, G2 y G3, organizado en un paquete por categoría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023360" cy="1371600"/>
          </a:xfrm>
          <a:prstGeom prst="roundRect">
            <a:avLst>
              <a:gd name="adj" fmla="val 6666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3694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F0A500"/>
                </a:solidFill>
                <a:latin typeface="Courier New"/>
              </a:rPr>
              <a:t>Windows (Linux/macOS: los .sh equivalentes)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3694176" cy="907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cd POO-Fundamentos-NET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compilar.bat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ejecutar.bat 4        // Tematica 4 (G4)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ejecutar.bat todos    // G1 a G4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dotnet run -- 4       // sin scripts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8892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1B2A41"/>
                </a:solidFill>
                <a:latin typeface="Courier New"/>
              </a:rPr>
              <a:t>Modulo04_Patrones/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Creacionales/  AppConfig, GeneradorReporte, Pizza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Estructurales/ WompiAdapter, Carpeta, ConCanela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Comportamiento/ EstacionMeteorologica, CajaRegistradora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microcreditos.json: la configuración del Singleton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280160"/>
            <a:ext cx="3977639" cy="3200400"/>
          </a:xfrm>
          <a:prstGeom prst="roundRect">
            <a:avLst>
              <a:gd name="adj" fmla="val 3428"/>
            </a:avLst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892040" y="146304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9-1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686" y="1605686"/>
            <a:ext cx="263347" cy="2633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77840" y="15087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Taller en clase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103120"/>
            <a:ext cx="36118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00" b="0">
                <a:solidFill>
                  <a:srgbClr val="CADCFC"/>
                </a:solidFill>
                <a:latin typeface="Calibri"/>
              </a:rPr>
              <a:t>Adapter: integrar MercadoPago sin tocar el carrito.</a:t>
            </a:r>
          </a:p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00" b="0">
                <a:solidFill>
                  <a:srgbClr val="CADCFC"/>
                </a:solidFill>
                <a:latin typeface="Calibri"/>
              </a:rPr>
              <a:t>Factory: agregar el formato XML desde la configuración.</a:t>
            </a:r>
          </a:p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00" b="0">
                <a:solidFill>
                  <a:srgbClr val="CADCFC"/>
                </a:solidFill>
                <a:latin typeface="Calibri"/>
              </a:rPr>
              <a:t>Strategy: «martes de frutas y verduras: 15 %».</a:t>
            </a:r>
          </a:p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00" b="0">
                <a:solidFill>
                  <a:srgbClr val="CADCFC"/>
                </a:solidFill>
                <a:latin typeface="Calibri"/>
              </a:rPr>
              <a:t>Observer: alerta SMS si la humedad pasa del 85 %.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114800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F0A500"/>
                </a:solidFill>
                <a:latin typeface="Calibri"/>
              </a:rPr>
              <a:t>Entrega: código + justificación del patrón elegido.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4 · Patrones de diseño · C# / .NET · CUN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FFFFFF"/>
                </a:solidFill>
                <a:latin typeface="Calibri"/>
              </a:rPr>
              <a:t>Conclusiones y proyección profesional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24354F"/>
          </a:solidFill>
          <a:ln w="9525">
            <a:solidFill>
              <a:srgbClr val="24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9-1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1422806"/>
            <a:ext cx="263347" cy="2633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5880" y="12801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FFFF"/>
                </a:solidFill>
                <a:latin typeface="Calibri"/>
              </a:rPr>
              <a:t>Pensar como arquitecto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55648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ADCFC"/>
                </a:solidFill>
                <a:latin typeface="Calibri"/>
              </a:rPr>
              <a:t>Un patrón no es código para copiar: es una forma probada de pensar el diseño.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09728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24354F"/>
          </a:solidFill>
          <a:ln w="9525">
            <a:solidFill>
              <a:srgbClr val="24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846320" y="128016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-4_1B2A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966" y="1422806"/>
            <a:ext cx="263347" cy="2633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32120" y="12801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FFFF"/>
                </a:solidFill>
                <a:latin typeface="Calibri"/>
              </a:rPr>
              <a:t>Composición sobre herencia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755648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ADCFC"/>
                </a:solidFill>
                <a:latin typeface="Calibri"/>
              </a:rPr>
              <a:t>Decorator, Composite y Strategy ganan flexibilidad combinando objetos.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24354F"/>
          </a:solidFill>
          <a:ln w="9525">
            <a:solidFill>
              <a:srgbClr val="24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0080" y="288036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2-2_1B2A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3023006"/>
            <a:ext cx="263347" cy="26334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25880" y="28803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FFFF"/>
                </a:solidFill>
                <a:latin typeface="Calibri"/>
              </a:rPr>
              <a:t>Bajo acoplamiento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355848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ADCFC"/>
                </a:solidFill>
                <a:latin typeface="Calibri"/>
              </a:rPr>
              <a:t>El carrito no conoce a PayU; la caja no conoce las promociones; la estación no conoce pantallas.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269748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24354F"/>
          </a:solidFill>
          <a:ln w="9525">
            <a:solidFill>
              <a:srgbClr val="24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4846320" y="288036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15-1_1B2A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966" y="3023006"/>
            <a:ext cx="263347" cy="26334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32120" y="28803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FFFF"/>
                </a:solidFill>
                <a:latin typeface="Calibri"/>
              </a:rPr>
              <a:t>Un vocabulario compartido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355848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ADCFC"/>
                </a:solidFill>
                <a:latin typeface="Calibri"/>
              </a:rPr>
              <a:t>Decir «aquí va un Observer» resume toda una solución para tu equipo.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7939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F0A500"/>
                </a:solidFill>
                <a:latin typeface="Calibri"/>
              </a:rPr>
              <a:t>Para reflexionar: ¿en qué proyecto anterior te habría ahorrado trabajo un patrón? ¿Cuál será el más útil en tu sector?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A9B4C4"/>
                </a:solidFill>
                <a:latin typeface="Calibri"/>
              </a:rPr>
              <a:t>POO II · Temática 4 · Patrones de diseño · C# / .NET · CUN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A9B4C4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Referencias (APA 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512064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1F2933"/>
                </a:solidFill>
                <a:latin typeface="Calibri"/>
              </a:rPr>
              <a:t>Aedo, I., Montero, S., &amp; Díaz, P. (2011). Patrones de diseño aplicados al desarrollo de Objetos Digitales Educativos (ODE). Ministerio de Educación, Cultura y Deporte de España.</a:t>
            </a:r>
          </a:p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1F2933"/>
                </a:solidFill>
                <a:latin typeface="Calibri"/>
              </a:rPr>
              <a:t>Gamma, E., Helm, R., Johnson, R., &amp; Vlissides, J. (1994). Design patterns: Elements of reusable object-oriented software. Addison-Wesley.</a:t>
            </a:r>
          </a:p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1F2933"/>
                </a:solidFill>
                <a:latin typeface="Calibri"/>
              </a:rPr>
              <a:t>Montalvo Fránquiz, M. (2010). Determinación de patrones que contribuyan a la formación de un equipo de proyecto de software. CUJAE.</a:t>
            </a:r>
          </a:p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1F2933"/>
                </a:solidFill>
                <a:latin typeface="Calibri"/>
              </a:rPr>
              <a:t>Montero, S. (2012). Patrones de diseño aplicados al desarrollo de Objetos Digitales Educativos (ODE). Ministerio de Educación y Formación Profesional de España.</a:t>
            </a:r>
          </a:p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1F2933"/>
                </a:solidFill>
                <a:latin typeface="Calibri"/>
              </a:rPr>
              <a:t>Pressman, R. S., &amp; Maxim, B. R. (2021). Ingeniería de software (9.ª ed.). McGraw-Hill.</a:t>
            </a:r>
          </a:p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1F2933"/>
                </a:solidFill>
                <a:latin typeface="Calibri"/>
              </a:rPr>
              <a:t>Sommerville, I. (2011). Ingeniería de software (9.ª ed.). Pearson Educación.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14300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126480" y="13258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5-1_F0A5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126" y="1468526"/>
            <a:ext cx="263347" cy="2633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13716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Material del curso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057400"/>
            <a:ext cx="23774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500"/>
              </a:spcAft>
              <a:buSzPct val="90000"/>
              <a:buChar char="■"/>
            </a:pPr>
            <a:r>
              <a:rPr sz="1050" b="0">
                <a:solidFill>
                  <a:srgbClr val="1F2933"/>
                </a:solidFill>
                <a:latin typeface="Calibri"/>
              </a:rPr>
              <a:t>Documento maestro G4: Patrones de Diseño Orientados a Objetos (INGS0806).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SzPct val="90000"/>
              <a:buChar char="■"/>
            </a:pPr>
            <a:r>
              <a:rPr sz="1050" b="0">
                <a:solidFill>
                  <a:srgbClr val="1F2933"/>
                </a:solidFill>
                <a:latin typeface="Calibri"/>
              </a:rPr>
              <a:t>Proyecto POO-Fundamentos-NET, módulo 4 y su README.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SzPct val="90000"/>
              <a:buChar char="■"/>
            </a:pPr>
            <a:r>
              <a:rPr sz="1050" b="0">
                <a:solidFill>
                  <a:srgbClr val="1F2933"/>
                </a:solidFill>
                <a:latin typeface="Calibri"/>
              </a:rPr>
              <a:t>Strategy ya aparece en el módulo 2 (EntregaYa).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SzPct val="90000"/>
              <a:buChar char="■"/>
            </a:pPr>
            <a:r>
              <a:rPr sz="1050" b="0">
                <a:solidFill>
                  <a:srgbClr val="1F2933"/>
                </a:solidFill>
                <a:latin typeface="Calibri"/>
              </a:rPr>
              <a:t>Equivalencias Java → C# en el README raíz.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4 · Patrones de diseño · C# / .NET · CUN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